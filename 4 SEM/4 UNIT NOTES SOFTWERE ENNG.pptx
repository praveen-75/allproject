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321" r:id="rId2"/>
    <p:sldId id="322" r:id="rId3"/>
    <p:sldId id="324" r:id="rId4"/>
    <p:sldId id="256" r:id="rId5"/>
    <p:sldId id="262" r:id="rId6"/>
    <p:sldId id="259" r:id="rId7"/>
    <p:sldId id="260" r:id="rId8"/>
    <p:sldId id="264" r:id="rId9"/>
    <p:sldId id="265" r:id="rId10"/>
    <p:sldId id="268" r:id="rId11"/>
    <p:sldId id="269" r:id="rId12"/>
    <p:sldId id="272" r:id="rId13"/>
    <p:sldId id="273" r:id="rId14"/>
    <p:sldId id="274" r:id="rId15"/>
    <p:sldId id="276" r:id="rId16"/>
    <p:sldId id="277" r:id="rId17"/>
    <p:sldId id="323" r:id="rId18"/>
    <p:sldId id="279" r:id="rId19"/>
    <p:sldId id="281" r:id="rId20"/>
    <p:sldId id="325" r:id="rId21"/>
    <p:sldId id="282" r:id="rId22"/>
    <p:sldId id="283" r:id="rId23"/>
    <p:sldId id="288" r:id="rId24"/>
    <p:sldId id="284" r:id="rId25"/>
    <p:sldId id="285" r:id="rId26"/>
    <p:sldId id="286" r:id="rId27"/>
    <p:sldId id="287" r:id="rId28"/>
    <p:sldId id="289" r:id="rId29"/>
    <p:sldId id="290" r:id="rId30"/>
    <p:sldId id="291" r:id="rId31"/>
    <p:sldId id="292" r:id="rId32"/>
    <p:sldId id="293" r:id="rId33"/>
    <p:sldId id="294" r:id="rId34"/>
    <p:sldId id="295" r:id="rId35"/>
    <p:sldId id="297" r:id="rId36"/>
    <p:sldId id="299" r:id="rId37"/>
    <p:sldId id="300" r:id="rId38"/>
    <p:sldId id="301" r:id="rId39"/>
    <p:sldId id="302" r:id="rId40"/>
    <p:sldId id="303" r:id="rId41"/>
    <p:sldId id="304" r:id="rId42"/>
    <p:sldId id="305" r:id="rId43"/>
    <p:sldId id="306" r:id="rId44"/>
    <p:sldId id="307" r:id="rId45"/>
    <p:sldId id="308" r:id="rId46"/>
    <p:sldId id="326" r:id="rId47"/>
    <p:sldId id="315" r:id="rId48"/>
    <p:sldId id="316" r:id="rId49"/>
    <p:sldId id="317" r:id="rId50"/>
    <p:sldId id="318" r:id="rId51"/>
    <p:sldId id="327" r:id="rId52"/>
    <p:sldId id="319"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542"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D0E736-777E-4934-8FF7-9F735747D58C}" type="datetimeFigureOut">
              <a:rPr lang="en-US" smtClean="0"/>
              <a:pPr/>
              <a:t>4/26/2022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5A7B3C-1969-4D4E-A7F9-B3731A02FF03}" type="slidenum">
              <a:rPr lang="en-IN" smtClean="0"/>
              <a:pPr/>
              <a:t>‹#›</a:t>
            </a:fld>
            <a:endParaRPr lang="en-IN"/>
          </a:p>
        </p:txBody>
      </p:sp>
    </p:spTree>
    <p:extLst>
      <p:ext uri="{BB962C8B-B14F-4D97-AF65-F5344CB8AC3E}">
        <p14:creationId xmlns:p14="http://schemas.microsoft.com/office/powerpoint/2010/main" val="2065744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35A7B3C-1969-4D4E-A7F9-B3731A02FF03}" type="slidenum">
              <a:rPr lang="en-IN" smtClean="0"/>
              <a:pPr/>
              <a:t>4</a:t>
            </a:fld>
            <a:endParaRPr lang="en-IN"/>
          </a:p>
        </p:txBody>
      </p:sp>
    </p:spTree>
    <p:extLst>
      <p:ext uri="{BB962C8B-B14F-4D97-AF65-F5344CB8AC3E}">
        <p14:creationId xmlns:p14="http://schemas.microsoft.com/office/powerpoint/2010/main" val="483884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66DC0192-1D79-439C-9286-9398293C7090}" type="slidenum">
              <a:rPr lang="en-US" smtClean="0"/>
              <a:pPr/>
              <a:t>16</a:t>
            </a:fld>
            <a:endParaRPr lang="en-US" smtClean="0"/>
          </a:p>
        </p:txBody>
      </p:sp>
      <p:sp>
        <p:nvSpPr>
          <p:cNvPr id="62467" name="Rectangle 2"/>
          <p:cNvSpPr>
            <a:spLocks noGrp="1" noRot="1" noChangeAspect="1" noChangeArrowheads="1" noTextEdit="1"/>
          </p:cNvSpPr>
          <p:nvPr>
            <p:ph type="sldImg"/>
          </p:nvPr>
        </p:nvSpPr>
        <p:spPr>
          <a:xfrm>
            <a:off x="1100138" y="677863"/>
            <a:ext cx="4608512" cy="3455987"/>
          </a:xfrm>
          <a:ln/>
        </p:spPr>
      </p:sp>
      <p:sp>
        <p:nvSpPr>
          <p:cNvPr id="62468" name="Rectangle 3"/>
          <p:cNvSpPr>
            <a:spLocks noGrp="1" noChangeArrowheads="1"/>
          </p:cNvSpPr>
          <p:nvPr>
            <p:ph type="body" idx="1"/>
          </p:nvPr>
        </p:nvSpPr>
        <p:spPr>
          <a:xfrm>
            <a:off x="896938" y="4357688"/>
            <a:ext cx="5013325" cy="4133850"/>
          </a:xfrm>
          <a:noFill/>
          <a:ln/>
        </p:spPr>
        <p:txBody>
          <a:bodyPr/>
          <a:lstStyle/>
          <a:p>
            <a:pPr eaLnBrk="1" hangingPunct="1">
              <a:spcBef>
                <a:spcPct val="0"/>
              </a:spcBef>
            </a:pPr>
            <a:r>
              <a:rPr lang="en-AU" sz="900" b="1" smtClean="0"/>
              <a:t>Important – learn these!</a:t>
            </a:r>
          </a:p>
          <a:p>
            <a:pPr eaLnBrk="1" hangingPunct="1">
              <a:spcBef>
                <a:spcPct val="0"/>
              </a:spcBef>
            </a:pPr>
            <a:endParaRPr lang="en-AU" sz="900" b="1" smtClean="0"/>
          </a:p>
          <a:p>
            <a:pPr eaLnBrk="1" hangingPunct="1">
              <a:spcBef>
                <a:spcPct val="0"/>
              </a:spcBef>
            </a:pPr>
            <a:endParaRPr lang="en-AU" sz="900" smtClean="0"/>
          </a:p>
          <a:p>
            <a:pPr eaLnBrk="1" hangingPunct="1">
              <a:spcBef>
                <a:spcPct val="0"/>
              </a:spcBef>
            </a:pPr>
            <a:r>
              <a:rPr lang="en-AU" sz="900" smtClean="0"/>
              <a:t>Testing is an activity performed in parallel with software development and one that consists of its own phases of planning, specifying, executing, recording and ongoing maintenance of tests.</a:t>
            </a:r>
          </a:p>
          <a:p>
            <a:pPr eaLnBrk="1" hangingPunct="1">
              <a:spcBef>
                <a:spcPct val="0"/>
              </a:spcBef>
            </a:pPr>
            <a:r>
              <a:rPr lang="en-AU" sz="900" smtClean="0"/>
              <a:t>We have to build or acquire tests before we can run them and careful planning and analysis of the test objectives and requirements must be done before we design and build  tests.  The timing emphasis is on getting most of the test planning and specification work completed before the software is designed and coded.  The starting trigger to begin test specification and design is the availability of a specification for the software under test.</a:t>
            </a:r>
          </a:p>
          <a:p>
            <a:pPr eaLnBrk="1" hangingPunct="1">
              <a:spcBef>
                <a:spcPct val="0"/>
              </a:spcBef>
            </a:pPr>
            <a:r>
              <a:rPr lang="en-AU" sz="900" smtClean="0"/>
              <a:t>For example, the customer or the customer’s test agent should begin planning and specifying requirements-based acceptance tests as soon as the system’s requirements have been documented.  As the system is being functionally designed at the high level the test team should begin planning and specifying design-based tests for execution during system testing.  As the system is being internally designed at the low level the test team should begin planning and specifying design-based tests for execution during integration testing.</a:t>
            </a:r>
          </a:p>
          <a:p>
            <a:pPr eaLnBrk="1" hangingPunct="1">
              <a:spcBef>
                <a:spcPct val="0"/>
              </a:spcBef>
            </a:pPr>
            <a:r>
              <a:rPr lang="en-AU" sz="900" smtClean="0"/>
              <a:t>Test plans and objectives for each level of testing come first, then test design, then test implementation, and, finally, we can execute and evaluate. </a:t>
            </a:r>
          </a:p>
          <a:p>
            <a:pPr eaLnBrk="1" hangingPunct="1">
              <a:spcBef>
                <a:spcPct val="0"/>
              </a:spcBef>
            </a:pPr>
            <a:r>
              <a:rPr lang="en-AU" sz="900" b="1" smtClean="0"/>
              <a:t>Reference:</a:t>
            </a:r>
            <a:r>
              <a:rPr lang="en-AU" sz="900" smtClean="0"/>
              <a:t> William C. Hetzel, The Complete Guide to Software Testing, Collins, 1985, p 31, 39</a:t>
            </a:r>
          </a:p>
          <a:p>
            <a:pPr eaLnBrk="1" hangingPunct="1">
              <a:spcBef>
                <a:spcPct val="0"/>
              </a:spcBef>
            </a:pPr>
            <a:endParaRPr lang="en-US" sz="900" smtClean="0"/>
          </a:p>
        </p:txBody>
      </p:sp>
    </p:spTree>
    <p:extLst>
      <p:ext uri="{BB962C8B-B14F-4D97-AF65-F5344CB8AC3E}">
        <p14:creationId xmlns:p14="http://schemas.microsoft.com/office/powerpoint/2010/main" val="454791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C3B20CC-62F2-4017-BA67-EBBEF571645E}" type="datetime1">
              <a:rPr lang="en-US" smtClean="0"/>
              <a:pPr/>
              <a:t>4/26/2022</a:t>
            </a:fld>
            <a:endParaRPr lang="en-IN"/>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39B74DA-E003-4FA7-822A-2624122BE68D}" type="datetime1">
              <a:rPr lang="en-US" smtClean="0"/>
              <a:pPr/>
              <a:t>4/26/2022</a:t>
            </a:fld>
            <a:endParaRPr lang="en-IN"/>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F2EFC2-43F7-49E2-B28A-B31F475D392D}" type="datetime1">
              <a:rPr lang="en-US" smtClean="0"/>
              <a:pPr/>
              <a:t>4/26/2022</a:t>
            </a:fld>
            <a:endParaRPr lang="en-IN"/>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EA13E56-F4D2-43E7-BAC9-A54BD4C3E5CE}" type="datetime1">
              <a:rPr lang="en-US" smtClean="0"/>
              <a:pPr/>
              <a:t>4/26/2022</a:t>
            </a:fld>
            <a:endParaRPr lang="en-IN"/>
          </a:p>
        </p:txBody>
      </p:sp>
      <p:sp>
        <p:nvSpPr>
          <p:cNvPr id="6" name="Footer Placeholder 5"/>
          <p:cNvSpPr>
            <a:spLocks noGrp="1"/>
          </p:cNvSpPr>
          <p:nvPr>
            <p:ph type="ftr" sz="quarter" idx="11"/>
          </p:nvPr>
        </p:nvSpPr>
        <p:spPr/>
        <p:txBody>
          <a:bodyPr/>
          <a:lstStyle/>
          <a:p>
            <a:r>
              <a:rPr lang="en-IN" smtClean="0"/>
              <a:t>Prof. Anjana Verma</a:t>
            </a:r>
            <a:endParaRPr lang="en-IN"/>
          </a:p>
        </p:txBody>
      </p:sp>
      <p:sp>
        <p:nvSpPr>
          <p:cNvPr id="7" name="Slide Number Placeholder 6"/>
          <p:cNvSpPr>
            <a:spLocks noGrp="1"/>
          </p:cNvSpPr>
          <p:nvPr>
            <p:ph type="sldNum" sz="quarter" idx="12"/>
          </p:nvPr>
        </p:nvSpPr>
        <p:spPr/>
        <p:txBody>
          <a:bodyPr/>
          <a:lstStyle/>
          <a:p>
            <a:fld id="{49549E9F-9F6E-4CAF-8BBD-34C43FD5C9E9}"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E90F7DE-4E1A-4804-9009-7050515DBD69}" type="datetime1">
              <a:rPr lang="en-US" smtClean="0"/>
              <a:pPr/>
              <a:t>4/26/2022</a:t>
            </a:fld>
            <a:endParaRPr lang="en-IN"/>
          </a:p>
        </p:txBody>
      </p:sp>
      <p:sp>
        <p:nvSpPr>
          <p:cNvPr id="8" name="Footer Placeholder 7"/>
          <p:cNvSpPr>
            <a:spLocks noGrp="1"/>
          </p:cNvSpPr>
          <p:nvPr>
            <p:ph type="ftr" sz="quarter" idx="11"/>
          </p:nvPr>
        </p:nvSpPr>
        <p:spPr/>
        <p:txBody>
          <a:bodyPr/>
          <a:lstStyle/>
          <a:p>
            <a:r>
              <a:rPr lang="en-IN" smtClean="0"/>
              <a:t>Prof. Anjana Verma</a:t>
            </a:r>
            <a:endParaRPr lang="en-IN"/>
          </a:p>
        </p:txBody>
      </p:sp>
      <p:sp>
        <p:nvSpPr>
          <p:cNvPr id="9" name="Slide Number Placeholder 8"/>
          <p:cNvSpPr>
            <a:spLocks noGrp="1"/>
          </p:cNvSpPr>
          <p:nvPr>
            <p:ph type="sldNum" sz="quarter" idx="12"/>
          </p:nvPr>
        </p:nvSpPr>
        <p:spPr/>
        <p:txBody>
          <a:bodyPr/>
          <a:lstStyle/>
          <a:p>
            <a:fld id="{49549E9F-9F6E-4CAF-8BBD-34C43FD5C9E9}"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6B67B26-B849-4509-8820-AEC298E9C789}" type="datetime1">
              <a:rPr lang="en-US" smtClean="0"/>
              <a:pPr/>
              <a:t>4/26/2022</a:t>
            </a:fld>
            <a:endParaRPr lang="en-IN"/>
          </a:p>
        </p:txBody>
      </p:sp>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E6AC59-2EC3-46A5-8906-2BB12F54254F}" type="datetime1">
              <a:rPr lang="en-US" smtClean="0"/>
              <a:pPr/>
              <a:t>4/26/2022</a:t>
            </a:fld>
            <a:endParaRPr lang="en-IN"/>
          </a:p>
        </p:txBody>
      </p:sp>
      <p:sp>
        <p:nvSpPr>
          <p:cNvPr id="3" name="Footer Placeholder 2"/>
          <p:cNvSpPr>
            <a:spLocks noGrp="1"/>
          </p:cNvSpPr>
          <p:nvPr>
            <p:ph type="ftr" sz="quarter" idx="11"/>
          </p:nvPr>
        </p:nvSpPr>
        <p:spPr/>
        <p:txBody>
          <a:bodyPr/>
          <a:lstStyle/>
          <a:p>
            <a:r>
              <a:rPr lang="en-IN" smtClean="0"/>
              <a:t>Prof. Anjana Verma</a:t>
            </a:r>
            <a:endParaRPr lang="en-IN"/>
          </a:p>
        </p:txBody>
      </p:sp>
      <p:sp>
        <p:nvSpPr>
          <p:cNvPr id="4" name="Slide Number Placeholder 3"/>
          <p:cNvSpPr>
            <a:spLocks noGrp="1"/>
          </p:cNvSpPr>
          <p:nvPr>
            <p:ph type="sldNum" sz="quarter" idx="12"/>
          </p:nvPr>
        </p:nvSpPr>
        <p:spPr/>
        <p:txBody>
          <a:bodyPr/>
          <a:lstStyle/>
          <a:p>
            <a:fld id="{49549E9F-9F6E-4CAF-8BBD-34C43FD5C9E9}"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997598-2893-41B9-878C-9298EBF4BD3C}" type="datetime1">
              <a:rPr lang="en-US" smtClean="0"/>
              <a:pPr/>
              <a:t>4/26/2022</a:t>
            </a:fld>
            <a:endParaRPr lang="en-IN"/>
          </a:p>
        </p:txBody>
      </p:sp>
      <p:sp>
        <p:nvSpPr>
          <p:cNvPr id="6" name="Footer Placeholder 5"/>
          <p:cNvSpPr>
            <a:spLocks noGrp="1"/>
          </p:cNvSpPr>
          <p:nvPr>
            <p:ph type="ftr" sz="quarter" idx="11"/>
          </p:nvPr>
        </p:nvSpPr>
        <p:spPr/>
        <p:txBody>
          <a:bodyPr/>
          <a:lstStyle/>
          <a:p>
            <a:r>
              <a:rPr lang="en-IN" smtClean="0"/>
              <a:t>Prof. Anjana Verma</a:t>
            </a:r>
            <a:endParaRPr lang="en-IN"/>
          </a:p>
        </p:txBody>
      </p:sp>
      <p:sp>
        <p:nvSpPr>
          <p:cNvPr id="7" name="Slide Number Placeholder 6"/>
          <p:cNvSpPr>
            <a:spLocks noGrp="1"/>
          </p:cNvSpPr>
          <p:nvPr>
            <p:ph type="sldNum" sz="quarter" idx="12"/>
          </p:nvPr>
        </p:nvSpPr>
        <p:spPr/>
        <p:txBody>
          <a:bodyPr/>
          <a:lstStyle/>
          <a:p>
            <a:fld id="{49549E9F-9F6E-4CAF-8BBD-34C43FD5C9E9}"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997384-82BF-4802-9BAB-961E8B921FCB}" type="datetime1">
              <a:rPr lang="en-US" smtClean="0"/>
              <a:pPr/>
              <a:t>4/26/2022</a:t>
            </a:fld>
            <a:endParaRPr lang="en-IN"/>
          </a:p>
        </p:txBody>
      </p:sp>
      <p:sp>
        <p:nvSpPr>
          <p:cNvPr id="6" name="Footer Placeholder 5"/>
          <p:cNvSpPr>
            <a:spLocks noGrp="1"/>
          </p:cNvSpPr>
          <p:nvPr>
            <p:ph type="ftr" sz="quarter" idx="11"/>
          </p:nvPr>
        </p:nvSpPr>
        <p:spPr/>
        <p:txBody>
          <a:bodyPr/>
          <a:lstStyle/>
          <a:p>
            <a:r>
              <a:rPr lang="en-IN" smtClean="0"/>
              <a:t>Prof. Anjana Verma</a:t>
            </a:r>
            <a:endParaRPr lang="en-IN"/>
          </a:p>
        </p:txBody>
      </p:sp>
      <p:sp>
        <p:nvSpPr>
          <p:cNvPr id="7" name="Slide Number Placeholder 6"/>
          <p:cNvSpPr>
            <a:spLocks noGrp="1"/>
          </p:cNvSpPr>
          <p:nvPr>
            <p:ph type="sldNum" sz="quarter" idx="12"/>
          </p:nvPr>
        </p:nvSpPr>
        <p:spPr/>
        <p:txBody>
          <a:bodyPr/>
          <a:lstStyle/>
          <a:p>
            <a:fld id="{49549E9F-9F6E-4CAF-8BBD-34C43FD5C9E9}"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1CEC8B4-EB61-48FD-80B7-A26669FA0651}" type="datetime1">
              <a:rPr lang="en-US" smtClean="0"/>
              <a:pPr/>
              <a:t>4/26/2022</a:t>
            </a:fld>
            <a:endParaRPr lang="en-IN"/>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CC034E3-0827-4A79-9737-84F1BB266A79}" type="datetime1">
              <a:rPr lang="en-US" smtClean="0"/>
              <a:pPr/>
              <a:t>4/26/2022</a:t>
            </a:fld>
            <a:endParaRPr lang="en-IN"/>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3FE969-2B61-4E2A-A74C-9DE4F47764AE}" type="datetime1">
              <a:rPr lang="en-US" smtClean="0"/>
              <a:pPr/>
              <a:t>4/26/2022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Prof. Anjana Verma</a:t>
            </a:r>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549E9F-9F6E-4CAF-8BBD-34C43FD5C9E9}"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cdn.guru99.com/images/6-2015/052615_0637_SoftwareTes3.png" TargetMode="Externa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hyperlink" Target="https://www.guru99.com/test-case.html"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57166"/>
            <a:ext cx="9144000" cy="1470025"/>
          </a:xfrm>
        </p:spPr>
        <p:txBody>
          <a:bodyPr>
            <a:noAutofit/>
          </a:bodyPr>
          <a:lstStyle/>
          <a:p>
            <a:r>
              <a:rPr lang="en-US" sz="3200" dirty="0" smtClean="0"/>
              <a:t>SAGAR INSTITUTE OF RESEARCH &amp; TECHNOLOGY-EXCELLENCE</a:t>
            </a:r>
            <a:br>
              <a:rPr lang="en-US" sz="3200" dirty="0" smtClean="0"/>
            </a:br>
            <a:r>
              <a:rPr lang="en-US" sz="3200" dirty="0" smtClean="0"/>
              <a:t> Department of Computer Science &amp; Engineering</a:t>
            </a:r>
            <a:endParaRPr lang="en-US" sz="3200" dirty="0"/>
          </a:p>
        </p:txBody>
      </p:sp>
      <p:sp>
        <p:nvSpPr>
          <p:cNvPr id="3" name="Subtitle 2"/>
          <p:cNvSpPr>
            <a:spLocks noGrp="1"/>
          </p:cNvSpPr>
          <p:nvPr>
            <p:ph type="subTitle" idx="1"/>
          </p:nvPr>
        </p:nvSpPr>
        <p:spPr>
          <a:xfrm>
            <a:off x="1428728" y="3143248"/>
            <a:ext cx="6400800" cy="1752600"/>
          </a:xfrm>
        </p:spPr>
        <p:txBody>
          <a:bodyPr>
            <a:normAutofit/>
          </a:bodyPr>
          <a:lstStyle/>
          <a:p>
            <a:r>
              <a:rPr lang="en-US" sz="3600" dirty="0" smtClean="0"/>
              <a:t>Software Engineering</a:t>
            </a:r>
          </a:p>
          <a:p>
            <a:r>
              <a:rPr lang="en-US" sz="3600" dirty="0" smtClean="0"/>
              <a:t>CS - 403</a:t>
            </a:r>
            <a:endParaRPr lang="en-US" sz="3600" dirty="0"/>
          </a:p>
        </p:txBody>
      </p:sp>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1</a:t>
            </a:fld>
            <a:endParaRPr lang="en-I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0"/>
            <a:ext cx="8229600" cy="1143000"/>
          </a:xfrm>
        </p:spPr>
        <p:txBody>
          <a:bodyPr>
            <a:normAutofit fontScale="90000"/>
          </a:bodyPr>
          <a:lstStyle/>
          <a:p>
            <a:r>
              <a:rPr lang="en-IN" dirty="0" smtClean="0">
                <a:latin typeface="Times New Roman" pitchFamily="18" charset="0"/>
                <a:cs typeface="Times New Roman" pitchFamily="18" charset="0"/>
              </a:rPr>
              <a:t>UNIT IV</a:t>
            </a:r>
            <a:br>
              <a:rPr lang="en-IN" dirty="0" smtClean="0">
                <a:latin typeface="Times New Roman" pitchFamily="18" charset="0"/>
                <a:cs typeface="Times New Roman" pitchFamily="18" charset="0"/>
              </a:rPr>
            </a:br>
            <a:r>
              <a:rPr lang="en-IN" b="1" dirty="0" smtClean="0">
                <a:latin typeface="Times New Roman" pitchFamily="18" charset="0"/>
                <a:cs typeface="Times New Roman" pitchFamily="18" charset="0"/>
              </a:rPr>
              <a:t> Software Analysis and Testing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71406" y="1214422"/>
            <a:ext cx="9072594" cy="5072098"/>
          </a:xfrm>
        </p:spPr>
        <p:txBody>
          <a:bodyPr>
            <a:noAutofit/>
          </a:bodyPr>
          <a:lstStyle/>
          <a:p>
            <a:r>
              <a:rPr lang="en-IN" sz="2400" dirty="0" smtClean="0">
                <a:latin typeface="Times New Roman" pitchFamily="18" charset="0"/>
                <a:cs typeface="Times New Roman" pitchFamily="18" charset="0"/>
              </a:rPr>
              <a:t>Software Static and Dynamic analysis, Code inspections,</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Software Testing Fundamentals , Software Test Process,</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Testing Levels, Test Criteria,  Test Case Design</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Test Techniques, White -Box Testing</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Black -Box  Testing</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Unit Testing Frameworks</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Integration Testing, System Testing and other Specialized Testing</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Test Plan, Test Metrics, </a:t>
            </a:r>
            <a:endParaRPr lang="en-US"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Introduction to Object-oriented analysis, design and comparison with structured software engineering.</a:t>
            </a:r>
            <a:endParaRPr lang="en-US" sz="2400" dirty="0" smtClean="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2</a:t>
            </a:fld>
            <a:endParaRPr lang="en-I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Software Testing</a:t>
            </a:r>
            <a:endParaRPr lang="en-US" dirty="0"/>
          </a:p>
        </p:txBody>
      </p:sp>
      <p:sp>
        <p:nvSpPr>
          <p:cNvPr id="3" name="Content Placeholder 2"/>
          <p:cNvSpPr>
            <a:spLocks noGrp="1"/>
          </p:cNvSpPr>
          <p:nvPr>
            <p:ph idx="1"/>
          </p:nvPr>
        </p:nvSpPr>
        <p:spPr/>
        <p:txBody>
          <a:bodyPr>
            <a:normAutofit lnSpcReduction="10000"/>
          </a:bodyPr>
          <a:lstStyle/>
          <a:p>
            <a:pPr algn="just"/>
            <a:r>
              <a:rPr lang="en-IN" dirty="0" smtClean="0">
                <a:latin typeface="Times New Roman" pitchFamily="18" charset="0"/>
                <a:cs typeface="Times New Roman" pitchFamily="18" charset="0"/>
              </a:rPr>
              <a:t>Software testing is an activity performed to Uncover Errors.  </a:t>
            </a:r>
          </a:p>
          <a:p>
            <a:pPr algn="just"/>
            <a:r>
              <a:rPr lang="en-IN" dirty="0" smtClean="0">
                <a:latin typeface="Times New Roman" pitchFamily="18" charset="0"/>
                <a:cs typeface="Times New Roman" pitchFamily="18" charset="0"/>
              </a:rPr>
              <a:t>It is a critical element of software quality assurance and represents the ultimate review  of specification design and coding.</a:t>
            </a:r>
          </a:p>
          <a:p>
            <a:pPr algn="just"/>
            <a:r>
              <a:rPr lang="en-IN" dirty="0" smtClean="0">
                <a:latin typeface="Times New Roman" pitchFamily="18" charset="0"/>
                <a:cs typeface="Times New Roman" pitchFamily="18" charset="0"/>
              </a:rPr>
              <a:t>The purpose testing is to ensure whether the software functions appear to be working according to specification and performance requirements. </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3</a:t>
            </a:fld>
            <a:endParaRPr lang="en-IN"/>
          </a:p>
        </p:txBody>
      </p:sp>
      <p:sp>
        <p:nvSpPr>
          <p:cNvPr id="6" name="Rectangle 5"/>
          <p:cNvSpPr/>
          <p:nvPr/>
        </p:nvSpPr>
        <p:spPr>
          <a:xfrm>
            <a:off x="3428992" y="0"/>
            <a:ext cx="2161169" cy="461665"/>
          </a:xfrm>
          <a:prstGeom prst="rect">
            <a:avLst/>
          </a:prstGeom>
        </p:spPr>
        <p:txBody>
          <a:bodyPr wrap="none">
            <a:spAutoFit/>
          </a:bodyPr>
          <a:lstStyle/>
          <a:p>
            <a:pPr algn="ctr"/>
            <a:r>
              <a:rPr lang="en-US" sz="2400" b="1" dirty="0" smtClean="0">
                <a:latin typeface="Times New Roman" pitchFamily="18" charset="0"/>
                <a:cs typeface="Times New Roman" pitchFamily="18" charset="0"/>
              </a:rPr>
              <a:t>LECTURE  - 1</a:t>
            </a:r>
            <a:endParaRPr lang="en-IN" sz="24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500042"/>
            <a:ext cx="9144000" cy="624786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pPr>
            <a:endParaRPr lang="en-IN" sz="2800" b="1" u="sng" dirty="0" smtClean="0">
              <a:latin typeface="Times New Roman" pitchFamily="18" charset="0"/>
              <a:cs typeface="Times New Roman" pitchFamily="18" charset="0"/>
            </a:endParaRPr>
          </a:p>
          <a:p>
            <a:pPr lvl="0" algn="ctr" fontAlgn="base">
              <a:spcBef>
                <a:spcPct val="0"/>
              </a:spcBef>
              <a:spcAft>
                <a:spcPct val="0"/>
              </a:spcAft>
            </a:pPr>
            <a:r>
              <a:rPr lang="en-IN" sz="3200" b="1" u="sng" dirty="0" smtClean="0">
                <a:latin typeface="Times New Roman" pitchFamily="18" charset="0"/>
                <a:cs typeface="Times New Roman" pitchFamily="18" charset="0"/>
              </a:rPr>
              <a:t>Software Static and Dynamic analysis and testing </a:t>
            </a:r>
          </a:p>
          <a:p>
            <a:pPr lvl="0" algn="ctr" fontAlgn="base">
              <a:spcBef>
                <a:spcPct val="0"/>
              </a:spcBef>
              <a:spcAft>
                <a:spcPct val="0"/>
              </a:spcAft>
            </a:pPr>
            <a:endParaRPr lang="en-US" sz="3200" b="1" u="sng" dirty="0" smtClean="0">
              <a:latin typeface="Times New Roman" pitchFamily="18" charset="0"/>
              <a:cs typeface="Times New Roman" pitchFamily="18" charset="0"/>
            </a:endParaRPr>
          </a:p>
          <a:p>
            <a:pPr algn="just"/>
            <a:r>
              <a:rPr lang="en-IN" sz="2800" b="1" u="sng" dirty="0" smtClean="0">
                <a:latin typeface="Times New Roman" pitchFamily="18" charset="0"/>
                <a:cs typeface="Times New Roman" pitchFamily="18" charset="0"/>
              </a:rPr>
              <a:t>Static</a:t>
            </a:r>
            <a:r>
              <a:rPr lang="en-IN" sz="2800" b="1" dirty="0" smtClean="0">
                <a:latin typeface="Times New Roman" pitchFamily="18" charset="0"/>
                <a:cs typeface="Times New Roman" pitchFamily="18" charset="0"/>
              </a:rPr>
              <a:t> testing is software testing technique where testing is carried out without executing the code. This type of testing comes under Verification. ... </a:t>
            </a:r>
          </a:p>
          <a:p>
            <a:pPr algn="just"/>
            <a:r>
              <a:rPr lang="en-IN" sz="2800" b="1" dirty="0" smtClean="0">
                <a:latin typeface="Times New Roman" pitchFamily="18" charset="0"/>
                <a:cs typeface="Times New Roman" pitchFamily="18" charset="0"/>
              </a:rPr>
              <a:t>It has 2 parts as listed below:</a:t>
            </a:r>
          </a:p>
          <a:p>
            <a:pPr algn="just"/>
            <a:r>
              <a:rPr lang="en-IN" sz="2800" b="1" u="sng" dirty="0" smtClean="0">
                <a:latin typeface="Times New Roman" pitchFamily="18" charset="0"/>
                <a:cs typeface="Times New Roman" pitchFamily="18" charset="0"/>
              </a:rPr>
              <a:t>Review</a:t>
            </a:r>
            <a:r>
              <a:rPr lang="en-IN" sz="2800" b="1" dirty="0" smtClean="0">
                <a:latin typeface="Times New Roman" pitchFamily="18" charset="0"/>
                <a:cs typeface="Times New Roman" pitchFamily="18" charset="0"/>
              </a:rPr>
              <a:t> - Typically used to find and eliminate errors or ambiguities in documents such as requirements, design, test cases, etc.</a:t>
            </a:r>
          </a:p>
          <a:p>
            <a:pPr algn="just"/>
            <a:r>
              <a:rPr lang="en-IN" sz="2800" b="1" u="sng" dirty="0" smtClean="0">
                <a:latin typeface="Times New Roman" pitchFamily="18" charset="0"/>
                <a:cs typeface="Times New Roman" pitchFamily="18" charset="0"/>
              </a:rPr>
              <a:t>Static analysis </a:t>
            </a:r>
            <a:r>
              <a:rPr lang="en-IN" sz="2800" b="1" dirty="0" smtClean="0">
                <a:latin typeface="Times New Roman" pitchFamily="18" charset="0"/>
                <a:cs typeface="Times New Roman" pitchFamily="18" charset="0"/>
              </a:rPr>
              <a:t>- The code written by developers are analysed (usually by tools) for structural defects that may lead to defects.</a:t>
            </a:r>
          </a:p>
          <a:p>
            <a:endParaRPr lang="en-IN" sz="2800" b="1" u="sng" dirty="0" smtClean="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4</a:t>
            </a:fld>
            <a:endParaRPr lang="en-I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267"/>
            <a:ext cx="9144000" cy="7417415"/>
          </a:xfrm>
          <a:prstGeom prst="rect">
            <a:avLst/>
          </a:prstGeom>
        </p:spPr>
        <p:txBody>
          <a:bodyPr wrap="square">
            <a:spAutoFit/>
          </a:bodyPr>
          <a:lstStyle/>
          <a:p>
            <a:pPr lvl="0" algn="just" eaLnBrk="0" fontAlgn="base" hangingPunct="0">
              <a:spcBef>
                <a:spcPct val="0"/>
              </a:spcBef>
              <a:spcAft>
                <a:spcPct val="0"/>
              </a:spcAft>
              <a:buFont typeface="Arial" pitchFamily="34" charset="0"/>
              <a:buChar char="•"/>
            </a:pPr>
            <a:r>
              <a:rPr lang="en-US" sz="2800" b="1" dirty="0" smtClean="0">
                <a:solidFill>
                  <a:srgbClr val="000000"/>
                </a:solidFill>
                <a:latin typeface="Times New Roman" pitchFamily="18" charset="0"/>
                <a:ea typeface="Times New Roman" pitchFamily="18" charset="0"/>
                <a:cs typeface="Times New Roman" pitchFamily="18" charset="0"/>
              </a:rPr>
              <a:t>Static analysis involves test and can detect possible defects in an early stage, before running the program.</a:t>
            </a:r>
            <a:endParaRPr lang="en-US" sz="2800" b="1" dirty="0" smtClean="0">
              <a:latin typeface="Times New Roman" pitchFamily="18" charset="0"/>
              <a:cs typeface="Times New Roman" pitchFamily="18" charset="0"/>
            </a:endParaRPr>
          </a:p>
          <a:p>
            <a:pPr lvl="0" algn="just" eaLnBrk="0" fontAlgn="base" hangingPunct="0">
              <a:spcBef>
                <a:spcPct val="0"/>
              </a:spcBef>
              <a:spcAft>
                <a:spcPct val="0"/>
              </a:spcAft>
              <a:buFont typeface="Arial" pitchFamily="34" charset="0"/>
              <a:buChar char="•"/>
            </a:pPr>
            <a:r>
              <a:rPr lang="en-US" sz="2800" b="1" dirty="0" smtClean="0">
                <a:solidFill>
                  <a:srgbClr val="000000"/>
                </a:solidFill>
                <a:latin typeface="Times New Roman" pitchFamily="18" charset="0"/>
                <a:ea typeface="Times New Roman" pitchFamily="18" charset="0"/>
                <a:cs typeface="Times New Roman" pitchFamily="18" charset="0"/>
              </a:rPr>
              <a:t>Static analysis is done after coding and before executing unit tests.</a:t>
            </a:r>
            <a:endParaRPr lang="en-US" sz="2800" b="1" dirty="0" smtClean="0">
              <a:latin typeface="Times New Roman" pitchFamily="18" charset="0"/>
              <a:cs typeface="Times New Roman" pitchFamily="18" charset="0"/>
            </a:endParaRPr>
          </a:p>
          <a:p>
            <a:pPr lvl="0" algn="just" eaLnBrk="0" fontAlgn="base" hangingPunct="0">
              <a:spcBef>
                <a:spcPct val="0"/>
              </a:spcBef>
              <a:spcAft>
                <a:spcPct val="0"/>
              </a:spcAft>
              <a:buFont typeface="Arial" pitchFamily="34" charset="0"/>
              <a:buChar char="•"/>
            </a:pPr>
            <a:r>
              <a:rPr lang="en-US" sz="2800" b="1" dirty="0" smtClean="0">
                <a:solidFill>
                  <a:srgbClr val="000000"/>
                </a:solidFill>
                <a:latin typeface="Times New Roman" pitchFamily="18" charset="0"/>
                <a:ea typeface="Times New Roman" pitchFamily="18" charset="0"/>
                <a:cs typeface="Times New Roman" pitchFamily="18" charset="0"/>
              </a:rPr>
              <a:t>Static analysis can be done by a machine to automatically “walk  through” the source code and detect non complying rules. The </a:t>
            </a:r>
            <a:r>
              <a:rPr lang="en-US" sz="2800" b="1" u="sng" dirty="0" smtClean="0">
                <a:solidFill>
                  <a:srgbClr val="000000"/>
                </a:solidFill>
                <a:latin typeface="Times New Roman" pitchFamily="18" charset="0"/>
                <a:ea typeface="Times New Roman" pitchFamily="18" charset="0"/>
                <a:cs typeface="Times New Roman" pitchFamily="18" charset="0"/>
              </a:rPr>
              <a:t>classic example is a compiler </a:t>
            </a:r>
            <a:r>
              <a:rPr lang="en-US" sz="2800" b="1" dirty="0" smtClean="0">
                <a:solidFill>
                  <a:srgbClr val="000000"/>
                </a:solidFill>
                <a:latin typeface="Times New Roman" pitchFamily="18" charset="0"/>
                <a:ea typeface="Times New Roman" pitchFamily="18" charset="0"/>
                <a:cs typeface="Times New Roman" pitchFamily="18" charset="0"/>
              </a:rPr>
              <a:t>which finds lexical, syntactic and even some semantic mistakes.</a:t>
            </a:r>
          </a:p>
          <a:p>
            <a:pPr lvl="0" eaLnBrk="0" fontAlgn="base" hangingPunct="0">
              <a:spcBef>
                <a:spcPct val="0"/>
              </a:spcBef>
              <a:spcAft>
                <a:spcPct val="0"/>
              </a:spcAft>
              <a:tabLst>
                <a:tab pos="457200" algn="l"/>
              </a:tabLst>
            </a:pPr>
            <a:r>
              <a:rPr lang="en-US" sz="2800" b="1" u="sng" dirty="0" smtClean="0">
                <a:solidFill>
                  <a:srgbClr val="000000"/>
                </a:solidFill>
                <a:latin typeface="Times New Roman" pitchFamily="18" charset="0"/>
                <a:ea typeface="Times New Roman" pitchFamily="18" charset="0"/>
                <a:cs typeface="Times New Roman" pitchFamily="18" charset="0"/>
              </a:rPr>
              <a:t>Quality attributes </a:t>
            </a:r>
            <a:r>
              <a:rPr lang="en-US" sz="2800" b="1" dirty="0" smtClean="0">
                <a:solidFill>
                  <a:srgbClr val="000000"/>
                </a:solidFill>
                <a:latin typeface="Times New Roman" pitchFamily="18" charset="0"/>
                <a:ea typeface="Times New Roman" pitchFamily="18" charset="0"/>
                <a:cs typeface="Times New Roman" pitchFamily="18" charset="0"/>
              </a:rPr>
              <a:t>that can be the focus of static analysis:</a:t>
            </a:r>
            <a:endParaRPr lang="en-US" sz="2800" b="1" dirty="0" smtClean="0">
              <a:latin typeface="Times New Roman" pitchFamily="18" charset="0"/>
              <a:cs typeface="Times New Roman" pitchFamily="18" charset="0"/>
            </a:endParaRPr>
          </a:p>
          <a:p>
            <a:pPr lvl="0" eaLnBrk="0" fontAlgn="base" hangingPunct="0">
              <a:spcBef>
                <a:spcPct val="0"/>
              </a:spcBef>
              <a:spcAft>
                <a:spcPct val="0"/>
              </a:spcAft>
              <a:buFont typeface="Arial" pitchFamily="34" charset="0"/>
              <a:buChar char="•"/>
              <a:tabLst>
                <a:tab pos="457200" algn="l"/>
              </a:tabLst>
            </a:pPr>
            <a:r>
              <a:rPr lang="en-US" sz="2800" b="1" dirty="0" smtClean="0">
                <a:solidFill>
                  <a:srgbClr val="000000"/>
                </a:solidFill>
                <a:latin typeface="Times New Roman" pitchFamily="18" charset="0"/>
                <a:ea typeface="Times New Roman" pitchFamily="18" charset="0"/>
                <a:cs typeface="Times New Roman" pitchFamily="18" charset="0"/>
              </a:rPr>
              <a:t>Reliability  			</a:t>
            </a:r>
          </a:p>
          <a:p>
            <a:pPr lvl="0" eaLnBrk="0" fontAlgn="base" hangingPunct="0">
              <a:spcBef>
                <a:spcPct val="0"/>
              </a:spcBef>
              <a:spcAft>
                <a:spcPct val="0"/>
              </a:spcAft>
              <a:buFont typeface="Arial" pitchFamily="34" charset="0"/>
              <a:buChar char="•"/>
              <a:tabLst>
                <a:tab pos="457200" algn="l"/>
              </a:tabLst>
            </a:pPr>
            <a:r>
              <a:rPr lang="en-US" sz="2800" b="1" dirty="0" smtClean="0">
                <a:solidFill>
                  <a:srgbClr val="000000"/>
                </a:solidFill>
                <a:latin typeface="Times New Roman" pitchFamily="18" charset="0"/>
                <a:ea typeface="Times New Roman" pitchFamily="18" charset="0"/>
                <a:cs typeface="Times New Roman" pitchFamily="18" charset="0"/>
              </a:rPr>
              <a:t>Maintainability</a:t>
            </a:r>
            <a:endParaRPr lang="en-US" sz="2800" b="1" dirty="0" smtClean="0">
              <a:latin typeface="Times New Roman" pitchFamily="18" charset="0"/>
              <a:cs typeface="Times New Roman" pitchFamily="18" charset="0"/>
            </a:endParaRPr>
          </a:p>
          <a:p>
            <a:pPr lvl="0" eaLnBrk="0" fontAlgn="base" hangingPunct="0">
              <a:spcBef>
                <a:spcPct val="0"/>
              </a:spcBef>
              <a:spcAft>
                <a:spcPct val="0"/>
              </a:spcAft>
              <a:buFontTx/>
              <a:buChar char="•"/>
              <a:tabLst>
                <a:tab pos="457200" algn="l"/>
              </a:tabLst>
            </a:pPr>
            <a:r>
              <a:rPr lang="en-US" sz="2800" b="1" dirty="0" smtClean="0">
                <a:solidFill>
                  <a:srgbClr val="000000"/>
                </a:solidFill>
                <a:latin typeface="Times New Roman" pitchFamily="18" charset="0"/>
                <a:ea typeface="Times New Roman" pitchFamily="18" charset="0"/>
                <a:cs typeface="Times New Roman" pitchFamily="18" charset="0"/>
              </a:rPr>
              <a:t>Testability			</a:t>
            </a:r>
          </a:p>
          <a:p>
            <a:pPr lvl="0" eaLnBrk="0" fontAlgn="base" hangingPunct="0">
              <a:spcBef>
                <a:spcPct val="0"/>
              </a:spcBef>
              <a:spcAft>
                <a:spcPct val="0"/>
              </a:spcAft>
              <a:buFontTx/>
              <a:buChar char="•"/>
              <a:tabLst>
                <a:tab pos="457200" algn="l"/>
              </a:tabLst>
            </a:pPr>
            <a:r>
              <a:rPr lang="en-US" sz="2800" b="1" dirty="0" smtClean="0">
                <a:solidFill>
                  <a:srgbClr val="000000"/>
                </a:solidFill>
                <a:latin typeface="Times New Roman" pitchFamily="18" charset="0"/>
                <a:ea typeface="Times New Roman" pitchFamily="18" charset="0"/>
                <a:cs typeface="Times New Roman" pitchFamily="18" charset="0"/>
              </a:rPr>
              <a:t>Re-usability</a:t>
            </a:r>
            <a:endParaRPr lang="en-US" sz="2800" b="1" dirty="0" smtClean="0">
              <a:latin typeface="Times New Roman" pitchFamily="18" charset="0"/>
              <a:cs typeface="Times New Roman" pitchFamily="18" charset="0"/>
            </a:endParaRPr>
          </a:p>
          <a:p>
            <a:pPr lvl="0" eaLnBrk="0" fontAlgn="base" hangingPunct="0">
              <a:spcBef>
                <a:spcPct val="0"/>
              </a:spcBef>
              <a:spcAft>
                <a:spcPct val="0"/>
              </a:spcAft>
              <a:buFontTx/>
              <a:buChar char="•"/>
              <a:tabLst>
                <a:tab pos="457200" algn="l"/>
              </a:tabLst>
            </a:pPr>
            <a:r>
              <a:rPr lang="en-US" sz="2800" b="1" dirty="0" smtClean="0">
                <a:solidFill>
                  <a:srgbClr val="000000"/>
                </a:solidFill>
                <a:latin typeface="Times New Roman" pitchFamily="18" charset="0"/>
                <a:ea typeface="Times New Roman" pitchFamily="18" charset="0"/>
                <a:cs typeface="Times New Roman" pitchFamily="18" charset="0"/>
              </a:rPr>
              <a:t>Portability</a:t>
            </a:r>
            <a:endParaRPr lang="en-US" sz="2800" b="1" dirty="0" smtClean="0">
              <a:latin typeface="Times New Roman" pitchFamily="18" charset="0"/>
              <a:cs typeface="Times New Roman" pitchFamily="18" charset="0"/>
            </a:endParaRPr>
          </a:p>
          <a:p>
            <a:pPr lvl="0" eaLnBrk="0" fontAlgn="base" hangingPunct="0">
              <a:spcBef>
                <a:spcPct val="0"/>
              </a:spcBef>
              <a:spcAft>
                <a:spcPct val="0"/>
              </a:spcAft>
              <a:buFontTx/>
              <a:buChar char="•"/>
              <a:tabLst>
                <a:tab pos="457200" algn="l"/>
              </a:tabLst>
            </a:pPr>
            <a:r>
              <a:rPr lang="en-US" sz="2800" b="1" dirty="0" smtClean="0">
                <a:solidFill>
                  <a:srgbClr val="000000"/>
                </a:solidFill>
                <a:latin typeface="Times New Roman" pitchFamily="18" charset="0"/>
                <a:ea typeface="Times New Roman" pitchFamily="18" charset="0"/>
                <a:cs typeface="Times New Roman" pitchFamily="18" charset="0"/>
              </a:rPr>
              <a:t>Efficiency</a:t>
            </a:r>
            <a:endParaRPr lang="en-US" sz="2800" b="1" dirty="0" smtClean="0">
              <a:latin typeface="Times New Roman" pitchFamily="18" charset="0"/>
              <a:cs typeface="Times New Roman" pitchFamily="18" charset="0"/>
            </a:endParaRPr>
          </a:p>
          <a:p>
            <a:pPr lvl="0" algn="just" eaLnBrk="0" fontAlgn="base" hangingPunct="0">
              <a:spcBef>
                <a:spcPct val="0"/>
              </a:spcBef>
              <a:spcAft>
                <a:spcPct val="0"/>
              </a:spcAft>
              <a:buFont typeface="Arial" pitchFamily="34" charset="0"/>
              <a:buChar char="•"/>
            </a:pPr>
            <a:endParaRPr lang="en-US" sz="2800" b="1" dirty="0" smtClean="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smtClean="0"/>
              <a:t>Prof. Anjana Verma</a:t>
            </a:r>
            <a:endParaRPr lang="en-IN"/>
          </a:p>
        </p:txBody>
      </p:sp>
      <p:sp>
        <p:nvSpPr>
          <p:cNvPr id="4" name="Slide Number Placeholder 3"/>
          <p:cNvSpPr>
            <a:spLocks noGrp="1"/>
          </p:cNvSpPr>
          <p:nvPr>
            <p:ph type="sldNum" sz="quarter" idx="12"/>
          </p:nvPr>
        </p:nvSpPr>
        <p:spPr/>
        <p:txBody>
          <a:bodyPr/>
          <a:lstStyle/>
          <a:p>
            <a:fld id="{49549E9F-9F6E-4CAF-8BBD-34C43FD5C9E9}" type="slidenum">
              <a:rPr lang="en-IN" smtClean="0"/>
              <a:pPr/>
              <a:t>5</a:t>
            </a:fld>
            <a:endParaRPr lang="en-I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ChangeArrowheads="1"/>
          </p:cNvSpPr>
          <p:nvPr/>
        </p:nvSpPr>
        <p:spPr bwMode="auto">
          <a:xfrm>
            <a:off x="0" y="0"/>
            <a:ext cx="9144000" cy="569386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tabLst>
                <a:tab pos="457200" algn="l"/>
              </a:tabLst>
            </a:pPr>
            <a:r>
              <a:rPr lang="en-IN" sz="2800" b="1" u="sng" dirty="0" smtClean="0">
                <a:latin typeface="Times New Roman" pitchFamily="18" charset="0"/>
                <a:cs typeface="Times New Roman" pitchFamily="18" charset="0"/>
              </a:rPr>
              <a:t>Dynamic testing and analysis</a:t>
            </a:r>
            <a:r>
              <a:rPr lang="en-IN" sz="2800" b="1" dirty="0" smtClean="0">
                <a:latin typeface="Times New Roman" pitchFamily="18" charset="0"/>
                <a:cs typeface="Times New Roman" pitchFamily="18" charset="0"/>
              </a:rPr>
              <a:t> is software testing technique where testing is carried out with executing the code. This type of testing comes under Validation.</a:t>
            </a: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Dynamic program analysis is performed with executing programs built from that software on a real or virtual processor.</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2800" b="1" i="0" u="sng"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Dynamic code analysis </a:t>
            </a: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It identifies vulnerabilities in a runtime environment.</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It allows for analysis of applications in which you do not have access to the actual code.</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It permits you to validate static code analysis findings.</a:t>
            </a:r>
          </a:p>
          <a:p>
            <a:pPr lvl="0" algn="just" fontAlgn="base">
              <a:spcBef>
                <a:spcPct val="0"/>
              </a:spcBef>
              <a:spcAft>
                <a:spcPct val="0"/>
              </a:spcAft>
              <a:tabLst>
                <a:tab pos="457200" algn="l"/>
              </a:tabLst>
            </a:pPr>
            <a:r>
              <a:rPr lang="en-US" sz="2800" b="1" dirty="0" smtClean="0">
                <a:solidFill>
                  <a:srgbClr val="000000"/>
                </a:solidFill>
                <a:latin typeface="Times New Roman" pitchFamily="18" charset="0"/>
                <a:ea typeface="Times New Roman" pitchFamily="18" charset="0"/>
                <a:cs typeface="Times New Roman" pitchFamily="18" charset="0"/>
              </a:rPr>
              <a:t>.</a:t>
            </a:r>
            <a:endParaRPr lang="en-US" sz="2800" b="1" dirty="0" smtClean="0">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endPar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endParaRPr>
          </a:p>
        </p:txBody>
      </p:sp>
      <p:sp>
        <p:nvSpPr>
          <p:cNvPr id="3" name="Footer Placeholder 2"/>
          <p:cNvSpPr>
            <a:spLocks noGrp="1"/>
          </p:cNvSpPr>
          <p:nvPr>
            <p:ph type="ftr" sz="quarter" idx="11"/>
          </p:nvPr>
        </p:nvSpPr>
        <p:spPr>
          <a:xfrm>
            <a:off x="6000760" y="6286520"/>
            <a:ext cx="2895600" cy="365125"/>
          </a:xfrm>
        </p:spPr>
        <p:txBody>
          <a:bodyPr/>
          <a:lstStyle/>
          <a:p>
            <a:r>
              <a:rPr lang="en-IN" dirty="0" smtClean="0"/>
              <a:t>Prof. </a:t>
            </a:r>
            <a:r>
              <a:rPr lang="en-IN" dirty="0" err="1" smtClean="0"/>
              <a:t>Anjana</a:t>
            </a:r>
            <a:r>
              <a:rPr lang="en-IN" dirty="0" smtClean="0"/>
              <a:t> </a:t>
            </a:r>
            <a:r>
              <a:rPr lang="en-IN" dirty="0" err="1" smtClean="0"/>
              <a:t>Verma</a:t>
            </a:r>
            <a:endParaRPr lang="en-IN" dirty="0"/>
          </a:p>
        </p:txBody>
      </p:sp>
      <p:sp>
        <p:nvSpPr>
          <p:cNvPr id="4" name="Slide Number Placeholder 3"/>
          <p:cNvSpPr>
            <a:spLocks noGrp="1"/>
          </p:cNvSpPr>
          <p:nvPr>
            <p:ph type="sldNum" sz="quarter" idx="12"/>
          </p:nvPr>
        </p:nvSpPr>
        <p:spPr/>
        <p:txBody>
          <a:bodyPr/>
          <a:lstStyle/>
          <a:p>
            <a:fld id="{49549E9F-9F6E-4CAF-8BBD-34C43FD5C9E9}" type="slidenum">
              <a:rPr lang="en-IN" smtClean="0"/>
              <a:pPr/>
              <a:t>6</a:t>
            </a:fld>
            <a:endParaRPr lang="en-I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ChangeArrowheads="1"/>
          </p:cNvSpPr>
          <p:nvPr/>
        </p:nvSpPr>
        <p:spPr bwMode="auto">
          <a:xfrm>
            <a:off x="357158" y="-142900"/>
            <a:ext cx="8572560" cy="747897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tab pos="457200" algn="l"/>
              </a:tabLst>
            </a:pPr>
            <a:r>
              <a:rPr lang="en-US" sz="3200" b="1" u="sng" dirty="0" smtClean="0">
                <a:solidFill>
                  <a:srgbClr val="121214"/>
                </a:solidFill>
                <a:latin typeface="Times New Roman" pitchFamily="18" charset="0"/>
                <a:ea typeface="Times New Roman" pitchFamily="18" charset="0"/>
                <a:cs typeface="Times New Roman" pitchFamily="18" charset="0"/>
              </a:rPr>
              <a:t>C</a:t>
            </a:r>
            <a:r>
              <a:rPr kumimoji="0" lang="en-US" sz="3200" b="1" i="0" u="sng" strike="noStrike" cap="none" normalizeH="0" baseline="0" dirty="0" smtClean="0">
                <a:ln>
                  <a:noFill/>
                </a:ln>
                <a:solidFill>
                  <a:srgbClr val="121214"/>
                </a:solidFill>
                <a:effectLst/>
                <a:latin typeface="Times New Roman" pitchFamily="18" charset="0"/>
                <a:ea typeface="Times New Roman" pitchFamily="18" charset="0"/>
                <a:cs typeface="Times New Roman" pitchFamily="18" charset="0"/>
              </a:rPr>
              <a:t>ode Inspection</a:t>
            </a:r>
            <a:r>
              <a:rPr kumimoji="0" lang="en-US" sz="3200" b="1" i="0" u="sng" strike="noStrike" cap="none" normalizeH="0" dirty="0" smtClean="0">
                <a:ln>
                  <a:noFill/>
                </a:ln>
                <a:solidFill>
                  <a:srgbClr val="121214"/>
                </a:solidFill>
                <a:effectLst/>
                <a:latin typeface="Times New Roman" pitchFamily="18" charset="0"/>
                <a:ea typeface="Times New Roman" pitchFamily="18" charset="0"/>
                <a:cs typeface="Times New Roman" pitchFamily="18" charset="0"/>
              </a:rPr>
              <a:t> </a:t>
            </a:r>
            <a:r>
              <a:rPr kumimoji="0" lang="en-US" sz="3200" b="1" i="0" u="sng" strike="noStrike" cap="none" normalizeH="0" baseline="0" dirty="0" smtClean="0">
                <a:ln>
                  <a:noFill/>
                </a:ln>
                <a:solidFill>
                  <a:srgbClr val="121214"/>
                </a:solidFill>
                <a:effectLst/>
                <a:latin typeface="Times New Roman" pitchFamily="18" charset="0"/>
                <a:ea typeface="Times New Roman" pitchFamily="18" charset="0"/>
                <a:cs typeface="Times New Roman" pitchFamily="18" charset="0"/>
              </a:rPr>
              <a:t>( Review )</a:t>
            </a:r>
            <a:endParaRPr kumimoji="0" lang="en-US" sz="2800" b="1" i="0" u="sng"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Code Inspection is the most formal type of review, which is a kind of static testing to avoid the defect multiplication at a later stage.</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The main purpose of code inspection is to find defects</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An inspection report lists the findings, </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Preparation before the meeting is essential, </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Inspections are often led by a trained moderator, who is not the author of the code.</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The inspection process is the most formal type of review based on rules and checklists and makes use of entry and exit criteria.</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It usually involves peer examination of the code and each one has a defined set of roles.</a:t>
            </a: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After</a:t>
            </a:r>
            <a:r>
              <a:rPr kumimoji="0" lang="en-US" sz="2800" b="1" i="0" u="none" strike="noStrike" cap="none" normalizeH="0" dirty="0" smtClean="0">
                <a:ln>
                  <a:noFill/>
                </a:ln>
                <a:solidFill>
                  <a:srgbClr val="000000"/>
                </a:solidFill>
                <a:effectLst/>
                <a:latin typeface="Times New Roman" pitchFamily="18" charset="0"/>
                <a:ea typeface="Times New Roman" pitchFamily="18" charset="0"/>
                <a:cs typeface="Times New Roman" pitchFamily="18" charset="0"/>
              </a:rPr>
              <a:t> </a:t>
            </a:r>
            <a:r>
              <a:rPr kumimoji="0" lang="en-US" sz="2800" b="1" i="0" u="none" strike="noStrike" cap="none" normalizeH="0" baseline="0" dirty="0" err="1" smtClean="0">
                <a:ln>
                  <a:noFill/>
                </a:ln>
                <a:solidFill>
                  <a:srgbClr val="000000"/>
                </a:solidFill>
                <a:effectLst/>
                <a:latin typeface="Times New Roman" pitchFamily="18" charset="0"/>
                <a:ea typeface="Times New Roman" pitchFamily="18" charset="0"/>
                <a:cs typeface="Times New Roman" pitchFamily="18" charset="0"/>
              </a:rPr>
              <a:t>meeting,a</a:t>
            </a:r>
            <a:r>
              <a:rPr kumimoji="0" lang="en-US" sz="2800" b="1"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 formal follow-up process is used to ensure that corrective action is completed in a timely manner.</a:t>
            </a:r>
            <a:r>
              <a:rPr kumimoji="0" lang="en-US" sz="2800" b="1" i="0" u="none" strike="noStrike" cap="none" normalizeH="0" baseline="0" dirty="0" smtClean="0">
                <a:ln>
                  <a:noFill/>
                </a:ln>
                <a:solidFill>
                  <a:schemeClr val="tx1"/>
                </a:solidFill>
                <a:effectLst/>
                <a:latin typeface="Times New Roman" pitchFamily="18" charset="0"/>
                <a:cs typeface="Times New Roman" pitchFamily="18" charset="0"/>
              </a:rPr>
              <a:t> </a:t>
            </a:r>
          </a:p>
        </p:txBody>
      </p:sp>
      <p:sp>
        <p:nvSpPr>
          <p:cNvPr id="3" name="Footer Placeholder 2"/>
          <p:cNvSpPr>
            <a:spLocks noGrp="1"/>
          </p:cNvSpPr>
          <p:nvPr>
            <p:ph type="ftr" sz="quarter" idx="11"/>
          </p:nvPr>
        </p:nvSpPr>
        <p:spPr/>
        <p:txBody>
          <a:bodyPr/>
          <a:lstStyle/>
          <a:p>
            <a:r>
              <a:rPr lang="en-IN" smtClean="0"/>
              <a:t>Prof. Anjana Verma</a:t>
            </a:r>
            <a:endParaRPr lang="en-IN"/>
          </a:p>
        </p:txBody>
      </p:sp>
      <p:sp>
        <p:nvSpPr>
          <p:cNvPr id="4" name="Slide Number Placeholder 3"/>
          <p:cNvSpPr>
            <a:spLocks noGrp="1"/>
          </p:cNvSpPr>
          <p:nvPr>
            <p:ph type="sldNum" sz="quarter" idx="12"/>
          </p:nvPr>
        </p:nvSpPr>
        <p:spPr/>
        <p:txBody>
          <a:bodyPr/>
          <a:lstStyle/>
          <a:p>
            <a:fld id="{49549E9F-9F6E-4CAF-8BBD-34C43FD5C9E9}" type="slidenum">
              <a:rPr lang="en-IN" smtClean="0"/>
              <a:pPr/>
              <a:t>7</a:t>
            </a:fld>
            <a:endParaRPr lang="en-I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1538" y="857232"/>
            <a:ext cx="6786610" cy="1938992"/>
          </a:xfrm>
          <a:prstGeom prst="rect">
            <a:avLst/>
          </a:prstGeom>
        </p:spPr>
        <p:txBody>
          <a:bodyPr wrap="square">
            <a:spAutoFit/>
          </a:bodyPr>
          <a:lstStyle/>
          <a:p>
            <a:r>
              <a:rPr lang="en-IN" sz="2400" b="1" dirty="0"/>
              <a:t>Types of Reviews:</a:t>
            </a:r>
          </a:p>
          <a:p>
            <a:r>
              <a:rPr lang="en-IN" sz="2400" b="1" dirty="0"/>
              <a:t>The types of reviews can be given by a simple diagram:</a:t>
            </a:r>
          </a:p>
          <a:p>
            <a:r>
              <a:rPr lang="en-IN" sz="2400" b="1" dirty="0" smtClean="0"/>
              <a:t/>
            </a:r>
            <a:br>
              <a:rPr lang="en-IN" sz="2400" b="1" dirty="0" smtClean="0"/>
            </a:br>
            <a:endParaRPr lang="en-IN" sz="2400" b="1" dirty="0"/>
          </a:p>
        </p:txBody>
      </p:sp>
      <p:pic>
        <p:nvPicPr>
          <p:cNvPr id="1026" name="Picture 2" descr="Static Testing in Test Life Cycle"/>
          <p:cNvPicPr>
            <a:picLocks noChangeAspect="1" noChangeArrowheads="1"/>
          </p:cNvPicPr>
          <p:nvPr/>
        </p:nvPicPr>
        <p:blipFill>
          <a:blip r:embed="rId2"/>
          <a:srcRect/>
          <a:stretch>
            <a:fillRect/>
          </a:stretch>
        </p:blipFill>
        <p:spPr bwMode="auto">
          <a:xfrm>
            <a:off x="500034" y="2428868"/>
            <a:ext cx="8139128" cy="3786192"/>
          </a:xfrm>
          <a:prstGeom prst="rect">
            <a:avLst/>
          </a:prstGeom>
          <a:noFill/>
        </p:spPr>
      </p:pic>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8</a:t>
            </a:fld>
            <a:endParaRPr lang="en-I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Dynamic Testing "/>
          <p:cNvPicPr>
            <a:picLocks noChangeAspect="1" noChangeArrowheads="1"/>
          </p:cNvPicPr>
          <p:nvPr/>
        </p:nvPicPr>
        <p:blipFill>
          <a:blip r:embed="rId2"/>
          <a:srcRect t="14754" b="47475"/>
          <a:stretch>
            <a:fillRect/>
          </a:stretch>
        </p:blipFill>
        <p:spPr bwMode="auto">
          <a:xfrm>
            <a:off x="0" y="428604"/>
            <a:ext cx="9052718" cy="4572032"/>
          </a:xfrm>
          <a:prstGeom prst="rect">
            <a:avLst/>
          </a:prstGeom>
          <a:noFill/>
        </p:spPr>
      </p:pic>
      <p:sp>
        <p:nvSpPr>
          <p:cNvPr id="3" name="Footer Placeholder 2"/>
          <p:cNvSpPr>
            <a:spLocks noGrp="1"/>
          </p:cNvSpPr>
          <p:nvPr>
            <p:ph type="ftr" sz="quarter" idx="11"/>
          </p:nvPr>
        </p:nvSpPr>
        <p:spPr/>
        <p:txBody>
          <a:bodyPr/>
          <a:lstStyle/>
          <a:p>
            <a:r>
              <a:rPr lang="en-IN" smtClean="0"/>
              <a:t>Prof. Anjana Verma</a:t>
            </a:r>
            <a:endParaRPr lang="en-IN"/>
          </a:p>
        </p:txBody>
      </p:sp>
      <p:sp>
        <p:nvSpPr>
          <p:cNvPr id="4" name="Slide Number Placeholder 3"/>
          <p:cNvSpPr>
            <a:spLocks noGrp="1"/>
          </p:cNvSpPr>
          <p:nvPr>
            <p:ph type="sldNum" sz="quarter" idx="12"/>
          </p:nvPr>
        </p:nvSpPr>
        <p:spPr/>
        <p:txBody>
          <a:bodyPr/>
          <a:lstStyle/>
          <a:p>
            <a:fld id="{49549E9F-9F6E-4CAF-8BBD-34C43FD5C9E9}" type="slidenum">
              <a:rPr lang="en-IN" smtClean="0"/>
              <a:pPr/>
              <a:t>9</a:t>
            </a:fld>
            <a:endParaRPr lang="en-I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685800" y="-285776"/>
            <a:ext cx="7772400" cy="1143000"/>
          </a:xfrm>
        </p:spPr>
        <p:txBody>
          <a:bodyPr>
            <a:normAutofit/>
          </a:bodyPr>
          <a:lstStyle/>
          <a:p>
            <a:pPr eaLnBrk="1" hangingPunct="1"/>
            <a:r>
              <a:rPr lang="en-US" sz="4000" dirty="0" smtClean="0">
                <a:latin typeface="Times New Roman" pitchFamily="18" charset="0"/>
                <a:cs typeface="Times New Roman" pitchFamily="18" charset="0"/>
              </a:rPr>
              <a:t>Formal Technical Review (FTR)</a:t>
            </a:r>
          </a:p>
        </p:txBody>
      </p:sp>
      <p:sp>
        <p:nvSpPr>
          <p:cNvPr id="18436" name="Rectangle 3"/>
          <p:cNvSpPr>
            <a:spLocks noGrp="1" noChangeArrowheads="1"/>
          </p:cNvSpPr>
          <p:nvPr>
            <p:ph type="body" idx="1"/>
          </p:nvPr>
        </p:nvSpPr>
        <p:spPr>
          <a:xfrm>
            <a:off x="428596" y="642918"/>
            <a:ext cx="8182004" cy="4114800"/>
          </a:xfrm>
        </p:spPr>
        <p:txBody>
          <a:bodyPr>
            <a:noAutofit/>
          </a:bodyPr>
          <a:lstStyle/>
          <a:p>
            <a:pPr eaLnBrk="1" hangingPunct="1">
              <a:lnSpc>
                <a:spcPct val="90000"/>
              </a:lnSpc>
              <a:spcBef>
                <a:spcPts val="0"/>
              </a:spcBef>
            </a:pPr>
            <a:r>
              <a:rPr lang="en-US" b="1" dirty="0" smtClean="0">
                <a:latin typeface="Times New Roman" pitchFamily="18" charset="0"/>
                <a:cs typeface="Times New Roman" pitchFamily="18" charset="0"/>
              </a:rPr>
              <a:t>Objectives</a:t>
            </a:r>
          </a:p>
          <a:p>
            <a:pPr lvl="1" eaLnBrk="1" hangingPunct="1">
              <a:lnSpc>
                <a:spcPct val="90000"/>
              </a:lnSpc>
              <a:spcBef>
                <a:spcPts val="0"/>
              </a:spcBef>
            </a:pPr>
            <a:r>
              <a:rPr lang="en-US" b="1" dirty="0" smtClean="0">
                <a:latin typeface="Times New Roman" pitchFamily="18" charset="0"/>
                <a:cs typeface="Times New Roman" pitchFamily="18" charset="0"/>
              </a:rPr>
              <a:t>To </a:t>
            </a:r>
            <a:r>
              <a:rPr lang="en-US" b="1" u="sng" dirty="0" smtClean="0">
                <a:latin typeface="Times New Roman" pitchFamily="18" charset="0"/>
                <a:cs typeface="Times New Roman" pitchFamily="18" charset="0"/>
              </a:rPr>
              <a:t>uncover</a:t>
            </a:r>
            <a:r>
              <a:rPr lang="en-US" b="1" dirty="0" smtClean="0">
                <a:latin typeface="Times New Roman" pitchFamily="18" charset="0"/>
                <a:cs typeface="Times New Roman" pitchFamily="18" charset="0"/>
              </a:rPr>
              <a:t> errors in function, logic</a:t>
            </a:r>
          </a:p>
          <a:p>
            <a:pPr lvl="1" eaLnBrk="1" hangingPunct="1">
              <a:lnSpc>
                <a:spcPct val="90000"/>
              </a:lnSpc>
              <a:spcBef>
                <a:spcPts val="0"/>
              </a:spcBef>
            </a:pPr>
            <a:r>
              <a:rPr lang="en-US" b="1" dirty="0" smtClean="0">
                <a:latin typeface="Times New Roman" pitchFamily="18" charset="0"/>
                <a:cs typeface="Times New Roman" pitchFamily="18" charset="0"/>
              </a:rPr>
              <a:t>To </a:t>
            </a:r>
            <a:r>
              <a:rPr lang="en-US" b="1" u="sng" dirty="0" smtClean="0">
                <a:latin typeface="Times New Roman" pitchFamily="18" charset="0"/>
                <a:cs typeface="Times New Roman" pitchFamily="18" charset="0"/>
              </a:rPr>
              <a:t>verify</a:t>
            </a:r>
            <a:r>
              <a:rPr lang="en-US" b="1" dirty="0" smtClean="0">
                <a:latin typeface="Times New Roman" pitchFamily="18" charset="0"/>
                <a:cs typeface="Times New Roman" pitchFamily="18" charset="0"/>
              </a:rPr>
              <a:t> that the software under review meets its requirements</a:t>
            </a:r>
          </a:p>
          <a:p>
            <a:pPr lvl="1" eaLnBrk="1" hangingPunct="1">
              <a:lnSpc>
                <a:spcPct val="90000"/>
              </a:lnSpc>
              <a:spcBef>
                <a:spcPts val="0"/>
              </a:spcBef>
            </a:pPr>
            <a:r>
              <a:rPr lang="en-US" b="1" dirty="0" smtClean="0">
                <a:latin typeface="Times New Roman" pitchFamily="18" charset="0"/>
                <a:cs typeface="Times New Roman" pitchFamily="18" charset="0"/>
              </a:rPr>
              <a:t>To </a:t>
            </a:r>
            <a:r>
              <a:rPr lang="en-US" b="1" u="sng" dirty="0" smtClean="0">
                <a:latin typeface="Times New Roman" pitchFamily="18" charset="0"/>
                <a:cs typeface="Times New Roman" pitchFamily="18" charset="0"/>
              </a:rPr>
              <a:t>ensure</a:t>
            </a:r>
            <a:r>
              <a:rPr lang="en-US" b="1" dirty="0" smtClean="0">
                <a:latin typeface="Times New Roman" pitchFamily="18" charset="0"/>
                <a:cs typeface="Times New Roman" pitchFamily="18" charset="0"/>
              </a:rPr>
              <a:t> that the software has been represented according to predefined standards</a:t>
            </a:r>
          </a:p>
          <a:p>
            <a:pPr lvl="1" eaLnBrk="1" hangingPunct="1">
              <a:lnSpc>
                <a:spcPct val="90000"/>
              </a:lnSpc>
              <a:spcBef>
                <a:spcPts val="0"/>
              </a:spcBef>
            </a:pPr>
            <a:r>
              <a:rPr lang="en-US" b="1" dirty="0" smtClean="0">
                <a:latin typeface="Times New Roman" pitchFamily="18" charset="0"/>
                <a:cs typeface="Times New Roman" pitchFamily="18" charset="0"/>
              </a:rPr>
              <a:t>To </a:t>
            </a:r>
            <a:r>
              <a:rPr lang="en-US" b="1" u="sng" dirty="0" smtClean="0">
                <a:latin typeface="Times New Roman" pitchFamily="18" charset="0"/>
                <a:cs typeface="Times New Roman" pitchFamily="18" charset="0"/>
              </a:rPr>
              <a:t>achieve</a:t>
            </a:r>
            <a:r>
              <a:rPr lang="en-US" b="1" dirty="0" smtClean="0">
                <a:latin typeface="Times New Roman" pitchFamily="18" charset="0"/>
                <a:cs typeface="Times New Roman" pitchFamily="18" charset="0"/>
              </a:rPr>
              <a:t> software that is developed in a uniform manner</a:t>
            </a:r>
          </a:p>
          <a:p>
            <a:pPr lvl="1" eaLnBrk="1" hangingPunct="1">
              <a:lnSpc>
                <a:spcPct val="90000"/>
              </a:lnSpc>
              <a:spcBef>
                <a:spcPts val="0"/>
              </a:spcBef>
            </a:pPr>
            <a:r>
              <a:rPr lang="en-US" b="1" dirty="0" smtClean="0">
                <a:latin typeface="Times New Roman" pitchFamily="18" charset="0"/>
                <a:cs typeface="Times New Roman" pitchFamily="18" charset="0"/>
              </a:rPr>
              <a:t>To </a:t>
            </a:r>
            <a:r>
              <a:rPr lang="en-US" b="1" u="sng" dirty="0" smtClean="0">
                <a:latin typeface="Times New Roman" pitchFamily="18" charset="0"/>
                <a:cs typeface="Times New Roman" pitchFamily="18" charset="0"/>
              </a:rPr>
              <a:t>make</a:t>
            </a:r>
            <a:r>
              <a:rPr lang="en-US" b="1" dirty="0" smtClean="0">
                <a:latin typeface="Times New Roman" pitchFamily="18" charset="0"/>
                <a:cs typeface="Times New Roman" pitchFamily="18" charset="0"/>
              </a:rPr>
              <a:t> projects more manageable</a:t>
            </a:r>
          </a:p>
          <a:p>
            <a:pPr eaLnBrk="1" hangingPunct="1">
              <a:lnSpc>
                <a:spcPct val="90000"/>
              </a:lnSpc>
              <a:spcBef>
                <a:spcPts val="0"/>
              </a:spcBef>
            </a:pPr>
            <a:r>
              <a:rPr lang="en-US" b="1" dirty="0" smtClean="0">
                <a:latin typeface="Times New Roman" pitchFamily="18" charset="0"/>
                <a:cs typeface="Times New Roman" pitchFamily="18" charset="0"/>
              </a:rPr>
              <a:t>Serves as a </a:t>
            </a:r>
            <a:r>
              <a:rPr lang="en-US" b="1" u="sng" dirty="0" smtClean="0">
                <a:latin typeface="Times New Roman" pitchFamily="18" charset="0"/>
                <a:cs typeface="Times New Roman" pitchFamily="18" charset="0"/>
              </a:rPr>
              <a:t>training ground</a:t>
            </a:r>
            <a:r>
              <a:rPr lang="en-US" b="1" dirty="0" smtClean="0">
                <a:latin typeface="Times New Roman" pitchFamily="18" charset="0"/>
                <a:cs typeface="Times New Roman" pitchFamily="18" charset="0"/>
              </a:rPr>
              <a:t> for junior software engineers to observe different approaches to software analysis, design, and construction</a:t>
            </a:r>
          </a:p>
          <a:p>
            <a:pPr eaLnBrk="1" hangingPunct="1">
              <a:lnSpc>
                <a:spcPct val="90000"/>
              </a:lnSpc>
              <a:spcBef>
                <a:spcPts val="0"/>
              </a:spcBef>
            </a:pPr>
            <a:r>
              <a:rPr lang="en-US" b="1" dirty="0" smtClean="0">
                <a:latin typeface="Times New Roman" pitchFamily="18" charset="0"/>
                <a:cs typeface="Times New Roman" pitchFamily="18" charset="0"/>
              </a:rPr>
              <a:t>Promotes </a:t>
            </a:r>
            <a:r>
              <a:rPr lang="en-US" b="1" u="sng" dirty="0" smtClean="0">
                <a:latin typeface="Times New Roman" pitchFamily="18" charset="0"/>
                <a:cs typeface="Times New Roman" pitchFamily="18" charset="0"/>
              </a:rPr>
              <a:t>backup and continuity</a:t>
            </a:r>
            <a:endParaRPr lang="en-US" b="1" dirty="0" smtClean="0">
              <a:latin typeface="Times New Roman" pitchFamily="18" charset="0"/>
              <a:cs typeface="Times New Roman" pitchFamily="18" charset="0"/>
            </a:endParaRPr>
          </a:p>
          <a:p>
            <a:pPr eaLnBrk="1" hangingPunct="1">
              <a:lnSpc>
                <a:spcPct val="90000"/>
              </a:lnSpc>
              <a:spcBef>
                <a:spcPts val="0"/>
              </a:spcBef>
            </a:pPr>
            <a:r>
              <a:rPr lang="en-US" b="1" dirty="0" smtClean="0">
                <a:latin typeface="Times New Roman" pitchFamily="18" charset="0"/>
                <a:cs typeface="Times New Roman" pitchFamily="18" charset="0"/>
              </a:rPr>
              <a:t>May sometimes be a </a:t>
            </a:r>
            <a:r>
              <a:rPr lang="en-US" b="1" u="sng" dirty="0" smtClean="0">
                <a:latin typeface="Times New Roman" pitchFamily="18" charset="0"/>
                <a:cs typeface="Times New Roman" pitchFamily="18" charset="0"/>
              </a:rPr>
              <a:t>sample-driven</a:t>
            </a:r>
            <a:r>
              <a:rPr lang="en-US" b="1" dirty="0" smtClean="0">
                <a:latin typeface="Times New Roman" pitchFamily="18" charset="0"/>
                <a:cs typeface="Times New Roman" pitchFamily="18" charset="0"/>
              </a:rPr>
              <a:t> review</a:t>
            </a: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10</a:t>
            </a:fld>
            <a:endParaRPr lang="en-IN"/>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685800" y="-285776"/>
            <a:ext cx="7772400" cy="1143000"/>
          </a:xfrm>
        </p:spPr>
        <p:txBody>
          <a:bodyPr>
            <a:normAutofit/>
          </a:bodyPr>
          <a:lstStyle/>
          <a:p>
            <a:pPr eaLnBrk="1" hangingPunct="1"/>
            <a:r>
              <a:rPr lang="en-US" sz="3200" dirty="0" smtClean="0">
                <a:latin typeface="Times New Roman" pitchFamily="18" charset="0"/>
                <a:cs typeface="Times New Roman" pitchFamily="18" charset="0"/>
              </a:rPr>
              <a:t>The FTR Meeting</a:t>
            </a:r>
          </a:p>
        </p:txBody>
      </p:sp>
      <p:sp>
        <p:nvSpPr>
          <p:cNvPr id="19460" name="Rectangle 3"/>
          <p:cNvSpPr>
            <a:spLocks noGrp="1" noChangeArrowheads="1"/>
          </p:cNvSpPr>
          <p:nvPr>
            <p:ph type="body" idx="1"/>
          </p:nvPr>
        </p:nvSpPr>
        <p:spPr>
          <a:xfrm>
            <a:off x="214282" y="500042"/>
            <a:ext cx="8701118" cy="4114800"/>
          </a:xfrm>
        </p:spPr>
        <p:txBody>
          <a:bodyPr>
            <a:noAutofit/>
          </a:bodyPr>
          <a:lstStyle/>
          <a:p>
            <a:pPr eaLnBrk="1" hangingPunct="1">
              <a:lnSpc>
                <a:spcPct val="90000"/>
              </a:lnSpc>
            </a:pPr>
            <a:r>
              <a:rPr lang="en-US" sz="2200" b="1" dirty="0" smtClean="0">
                <a:latin typeface="Times New Roman" pitchFamily="18" charset="0"/>
                <a:cs typeface="Times New Roman" pitchFamily="18" charset="0"/>
              </a:rPr>
              <a:t>Has the following </a:t>
            </a:r>
            <a:r>
              <a:rPr lang="en-US" sz="2200" b="1" u="sng" dirty="0" smtClean="0">
                <a:latin typeface="Times New Roman" pitchFamily="18" charset="0"/>
                <a:cs typeface="Times New Roman" pitchFamily="18" charset="0"/>
              </a:rPr>
              <a:t>constraints</a:t>
            </a:r>
          </a:p>
          <a:p>
            <a:pPr lvl="1" eaLnBrk="1" hangingPunct="1">
              <a:lnSpc>
                <a:spcPct val="90000"/>
              </a:lnSpc>
            </a:pPr>
            <a:r>
              <a:rPr lang="en-US" sz="2200" b="1" dirty="0" smtClean="0">
                <a:latin typeface="Times New Roman" pitchFamily="18" charset="0"/>
                <a:cs typeface="Times New Roman" pitchFamily="18" charset="0"/>
              </a:rPr>
              <a:t>From 3-5 people should be involved</a:t>
            </a:r>
          </a:p>
          <a:p>
            <a:pPr lvl="1" eaLnBrk="1" hangingPunct="1">
              <a:lnSpc>
                <a:spcPct val="90000"/>
              </a:lnSpc>
            </a:pPr>
            <a:r>
              <a:rPr lang="en-US" sz="2200" b="1" dirty="0" smtClean="0">
                <a:latin typeface="Times New Roman" pitchFamily="18" charset="0"/>
                <a:cs typeface="Times New Roman" pitchFamily="18" charset="0"/>
              </a:rPr>
              <a:t>Advance preparation </a:t>
            </a:r>
          </a:p>
          <a:p>
            <a:pPr eaLnBrk="1" hangingPunct="1">
              <a:lnSpc>
                <a:spcPct val="90000"/>
              </a:lnSpc>
            </a:pPr>
            <a:r>
              <a:rPr lang="en-US" sz="2200" b="1" dirty="0" smtClean="0">
                <a:latin typeface="Times New Roman" pitchFamily="18" charset="0"/>
                <a:cs typeface="Times New Roman" pitchFamily="18" charset="0"/>
              </a:rPr>
              <a:t>Focuses on a </a:t>
            </a:r>
            <a:r>
              <a:rPr lang="en-US" sz="2200" b="1" u="sng" dirty="0" smtClean="0">
                <a:latin typeface="Times New Roman" pitchFamily="18" charset="0"/>
                <a:cs typeface="Times New Roman" pitchFamily="18" charset="0"/>
              </a:rPr>
              <a:t>specific</a:t>
            </a:r>
            <a:r>
              <a:rPr lang="en-US" sz="2200" b="1" dirty="0" smtClean="0">
                <a:latin typeface="Times New Roman" pitchFamily="18" charset="0"/>
                <a:cs typeface="Times New Roman" pitchFamily="18" charset="0"/>
              </a:rPr>
              <a:t> work product</a:t>
            </a:r>
          </a:p>
          <a:p>
            <a:pPr eaLnBrk="1" hangingPunct="1">
              <a:lnSpc>
                <a:spcPct val="90000"/>
              </a:lnSpc>
            </a:pPr>
            <a:r>
              <a:rPr lang="en-US" sz="2200" b="1" dirty="0" smtClean="0">
                <a:latin typeface="Times New Roman" pitchFamily="18" charset="0"/>
                <a:cs typeface="Times New Roman" pitchFamily="18" charset="0"/>
              </a:rPr>
              <a:t>Activities </a:t>
            </a:r>
            <a:r>
              <a:rPr lang="en-US" sz="2200" b="1" u="sng" dirty="0" smtClean="0">
                <a:latin typeface="Times New Roman" pitchFamily="18" charset="0"/>
                <a:cs typeface="Times New Roman" pitchFamily="18" charset="0"/>
              </a:rPr>
              <a:t>before</a:t>
            </a:r>
            <a:r>
              <a:rPr lang="en-US" sz="2200" b="1" dirty="0" smtClean="0">
                <a:latin typeface="Times New Roman" pitchFamily="18" charset="0"/>
                <a:cs typeface="Times New Roman" pitchFamily="18" charset="0"/>
              </a:rPr>
              <a:t> the meeting</a:t>
            </a:r>
          </a:p>
          <a:p>
            <a:pPr lvl="1" eaLnBrk="1" hangingPunct="1">
              <a:lnSpc>
                <a:spcPct val="90000"/>
              </a:lnSpc>
            </a:pPr>
            <a:r>
              <a:rPr lang="en-US" sz="2200" b="1" dirty="0" smtClean="0">
                <a:latin typeface="Times New Roman" pitchFamily="18" charset="0"/>
                <a:cs typeface="Times New Roman" pitchFamily="18" charset="0"/>
              </a:rPr>
              <a:t>The </a:t>
            </a:r>
            <a:r>
              <a:rPr lang="en-US" sz="2200" b="1" u="sng" dirty="0" smtClean="0">
                <a:latin typeface="Times New Roman" pitchFamily="18" charset="0"/>
                <a:cs typeface="Times New Roman" pitchFamily="18" charset="0"/>
              </a:rPr>
              <a:t>producer</a:t>
            </a:r>
            <a:r>
              <a:rPr lang="en-US" sz="2200" b="1" dirty="0" smtClean="0">
                <a:latin typeface="Times New Roman" pitchFamily="18" charset="0"/>
                <a:cs typeface="Times New Roman" pitchFamily="18" charset="0"/>
              </a:rPr>
              <a:t> informs the project manager that a work product is complete and ready for review, contacts a </a:t>
            </a:r>
            <a:r>
              <a:rPr lang="en-US" sz="2200" b="1" u="sng" dirty="0" smtClean="0">
                <a:latin typeface="Times New Roman" pitchFamily="18" charset="0"/>
                <a:cs typeface="Times New Roman" pitchFamily="18" charset="0"/>
              </a:rPr>
              <a:t>review leader</a:t>
            </a:r>
            <a:r>
              <a:rPr lang="en-US" sz="2200" b="1" dirty="0" smtClean="0">
                <a:latin typeface="Times New Roman" pitchFamily="18" charset="0"/>
                <a:cs typeface="Times New Roman" pitchFamily="18" charset="0"/>
              </a:rPr>
              <a:t>, establishes an agenda.</a:t>
            </a:r>
          </a:p>
          <a:p>
            <a:pPr>
              <a:lnSpc>
                <a:spcPct val="90000"/>
              </a:lnSpc>
            </a:pPr>
            <a:r>
              <a:rPr lang="en-US" sz="2200" b="1" dirty="0" smtClean="0">
                <a:latin typeface="Times New Roman" pitchFamily="18" charset="0"/>
                <a:cs typeface="Times New Roman" pitchFamily="18" charset="0"/>
              </a:rPr>
              <a:t>Activities </a:t>
            </a:r>
            <a:r>
              <a:rPr lang="en-US" sz="2200" b="1" u="sng" dirty="0" smtClean="0">
                <a:latin typeface="Times New Roman" pitchFamily="18" charset="0"/>
                <a:cs typeface="Times New Roman" pitchFamily="18" charset="0"/>
              </a:rPr>
              <a:t>during</a:t>
            </a:r>
            <a:r>
              <a:rPr lang="en-US" sz="2200" b="1" dirty="0" smtClean="0">
                <a:latin typeface="Times New Roman" pitchFamily="18" charset="0"/>
                <a:cs typeface="Times New Roman" pitchFamily="18" charset="0"/>
              </a:rPr>
              <a:t> the meeting</a:t>
            </a:r>
          </a:p>
          <a:p>
            <a:pPr lvl="1">
              <a:lnSpc>
                <a:spcPct val="90000"/>
              </a:lnSpc>
            </a:pPr>
            <a:r>
              <a:rPr lang="en-US" sz="2200" b="1" dirty="0" smtClean="0">
                <a:latin typeface="Times New Roman" pitchFamily="18" charset="0"/>
                <a:cs typeface="Times New Roman" pitchFamily="18" charset="0"/>
              </a:rPr>
              <a:t>The meeting is attended by the review leader, all reviewers, the producer</a:t>
            </a:r>
          </a:p>
          <a:p>
            <a:pPr lvl="1">
              <a:lnSpc>
                <a:spcPct val="90000"/>
              </a:lnSpc>
            </a:pPr>
            <a:r>
              <a:rPr lang="en-US" sz="2200" b="1" dirty="0" smtClean="0">
                <a:latin typeface="Times New Roman" pitchFamily="18" charset="0"/>
                <a:cs typeface="Times New Roman" pitchFamily="18" charset="0"/>
              </a:rPr>
              <a:t>After a brief introduction by the review leader, the </a:t>
            </a:r>
            <a:r>
              <a:rPr lang="en-US" sz="2200" b="1" u="sng" dirty="0" smtClean="0">
                <a:latin typeface="Times New Roman" pitchFamily="18" charset="0"/>
                <a:cs typeface="Times New Roman" pitchFamily="18" charset="0"/>
              </a:rPr>
              <a:t>producer</a:t>
            </a:r>
            <a:r>
              <a:rPr lang="en-US" sz="2200" b="1" dirty="0" smtClean="0">
                <a:latin typeface="Times New Roman" pitchFamily="18" charset="0"/>
                <a:cs typeface="Times New Roman" pitchFamily="18" charset="0"/>
              </a:rPr>
              <a:t> proceeds to "walk through”</a:t>
            </a:r>
          </a:p>
          <a:p>
            <a:pPr>
              <a:lnSpc>
                <a:spcPct val="90000"/>
              </a:lnSpc>
            </a:pPr>
            <a:r>
              <a:rPr lang="en-US" sz="2200" b="1" dirty="0" smtClean="0">
                <a:latin typeface="Times New Roman" pitchFamily="18" charset="0"/>
                <a:cs typeface="Times New Roman" pitchFamily="18" charset="0"/>
              </a:rPr>
              <a:t>Activities </a:t>
            </a:r>
            <a:r>
              <a:rPr lang="en-US" sz="2200" b="1" u="sng" dirty="0" smtClean="0">
                <a:latin typeface="Times New Roman" pitchFamily="18" charset="0"/>
                <a:cs typeface="Times New Roman" pitchFamily="18" charset="0"/>
              </a:rPr>
              <a:t>at the conclusion</a:t>
            </a:r>
            <a:r>
              <a:rPr lang="en-US" sz="2200" b="1" dirty="0" smtClean="0">
                <a:latin typeface="Times New Roman" pitchFamily="18" charset="0"/>
                <a:cs typeface="Times New Roman" pitchFamily="18" charset="0"/>
              </a:rPr>
              <a:t> of the meeting</a:t>
            </a:r>
          </a:p>
          <a:p>
            <a:pPr lvl="1">
              <a:lnSpc>
                <a:spcPct val="90000"/>
              </a:lnSpc>
            </a:pPr>
            <a:r>
              <a:rPr lang="en-US" sz="2200" b="1" dirty="0" smtClean="0">
                <a:latin typeface="Times New Roman" pitchFamily="18" charset="0"/>
                <a:cs typeface="Times New Roman" pitchFamily="18" charset="0"/>
              </a:rPr>
              <a:t>All attendees must decide whether to </a:t>
            </a:r>
          </a:p>
          <a:p>
            <a:pPr lvl="2">
              <a:lnSpc>
                <a:spcPct val="90000"/>
              </a:lnSpc>
            </a:pPr>
            <a:r>
              <a:rPr lang="en-US" sz="2200" b="1" u="sng" dirty="0" smtClean="0">
                <a:latin typeface="Times New Roman" pitchFamily="18" charset="0"/>
                <a:cs typeface="Times New Roman" pitchFamily="18" charset="0"/>
              </a:rPr>
              <a:t>Accept</a:t>
            </a:r>
            <a:r>
              <a:rPr lang="en-US" sz="2200" b="1" dirty="0" smtClean="0">
                <a:latin typeface="Times New Roman" pitchFamily="18" charset="0"/>
                <a:cs typeface="Times New Roman" pitchFamily="18" charset="0"/>
              </a:rPr>
              <a:t> the product without further modification</a:t>
            </a:r>
          </a:p>
          <a:p>
            <a:pPr lvl="2">
              <a:lnSpc>
                <a:spcPct val="90000"/>
              </a:lnSpc>
            </a:pPr>
            <a:r>
              <a:rPr lang="en-US" sz="2200" b="1" u="sng" dirty="0" smtClean="0">
                <a:latin typeface="Times New Roman" pitchFamily="18" charset="0"/>
                <a:cs typeface="Times New Roman" pitchFamily="18" charset="0"/>
              </a:rPr>
              <a:t>Reject</a:t>
            </a:r>
            <a:r>
              <a:rPr lang="en-US" sz="2200" b="1" dirty="0" smtClean="0">
                <a:latin typeface="Times New Roman" pitchFamily="18" charset="0"/>
                <a:cs typeface="Times New Roman" pitchFamily="18" charset="0"/>
              </a:rPr>
              <a:t> the product due to severe errors (</a:t>
            </a:r>
          </a:p>
          <a:p>
            <a:pPr lvl="2">
              <a:lnSpc>
                <a:spcPct val="90000"/>
              </a:lnSpc>
            </a:pPr>
            <a:r>
              <a:rPr lang="en-US" sz="2200" b="1" u="sng" dirty="0" smtClean="0">
                <a:latin typeface="Times New Roman" pitchFamily="18" charset="0"/>
                <a:cs typeface="Times New Roman" pitchFamily="18" charset="0"/>
              </a:rPr>
              <a:t>Accept</a:t>
            </a:r>
            <a:r>
              <a:rPr lang="en-US" sz="2200" b="1" dirty="0" smtClean="0">
                <a:latin typeface="Times New Roman" pitchFamily="18" charset="0"/>
                <a:cs typeface="Times New Roman" pitchFamily="18" charset="0"/>
              </a:rPr>
              <a:t> the product </a:t>
            </a:r>
            <a:r>
              <a:rPr lang="en-US" sz="2200" b="1" u="sng" dirty="0" smtClean="0">
                <a:latin typeface="Times New Roman" pitchFamily="18" charset="0"/>
                <a:cs typeface="Times New Roman" pitchFamily="18" charset="0"/>
              </a:rPr>
              <a:t>provisionally</a:t>
            </a:r>
            <a:r>
              <a:rPr lang="en-US" sz="2200" b="1" dirty="0" smtClean="0">
                <a:latin typeface="Times New Roman" pitchFamily="18" charset="0"/>
                <a:cs typeface="Times New Roman" pitchFamily="18" charset="0"/>
              </a:rPr>
              <a:t> </a:t>
            </a:r>
          </a:p>
          <a:p>
            <a:pPr lvl="1">
              <a:lnSpc>
                <a:spcPct val="90000"/>
              </a:lnSpc>
              <a:buNone/>
            </a:pPr>
            <a:endParaRPr lang="en-US" sz="2200" b="1" dirty="0" smtClean="0">
              <a:latin typeface="Times New Roman" pitchFamily="18" charset="0"/>
              <a:cs typeface="Times New Roman" pitchFamily="18" charset="0"/>
            </a:endParaRPr>
          </a:p>
          <a:p>
            <a:pPr lvl="1" eaLnBrk="1" hangingPunct="1">
              <a:lnSpc>
                <a:spcPct val="90000"/>
              </a:lnSpc>
              <a:buNone/>
            </a:pPr>
            <a:endParaRPr lang="en-US" sz="2200" b="1" dirty="0" smtClean="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11</a:t>
            </a:fld>
            <a:endParaRPr lang="en-I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685800" y="-285768"/>
            <a:ext cx="7772400" cy="1143000"/>
          </a:xfrm>
        </p:spPr>
        <p:txBody>
          <a:bodyPr>
            <a:normAutofit/>
          </a:bodyPr>
          <a:lstStyle/>
          <a:p>
            <a:pPr eaLnBrk="1" hangingPunct="1"/>
            <a:r>
              <a:rPr lang="en-US" sz="3600" dirty="0" smtClean="0">
                <a:latin typeface="Times New Roman" pitchFamily="18" charset="0"/>
                <a:cs typeface="Times New Roman" pitchFamily="18" charset="0"/>
              </a:rPr>
              <a:t>FTR Guidelines</a:t>
            </a:r>
          </a:p>
        </p:txBody>
      </p:sp>
      <p:sp>
        <p:nvSpPr>
          <p:cNvPr id="22532" name="Rectangle 3"/>
          <p:cNvSpPr>
            <a:spLocks noGrp="1" noChangeArrowheads="1"/>
          </p:cNvSpPr>
          <p:nvPr>
            <p:ph type="body" idx="1"/>
          </p:nvPr>
        </p:nvSpPr>
        <p:spPr>
          <a:xfrm>
            <a:off x="214282" y="642918"/>
            <a:ext cx="8167718" cy="4114800"/>
          </a:xfrm>
        </p:spPr>
        <p:txBody>
          <a:bodyPr>
            <a:noAutofit/>
          </a:bodyPr>
          <a:lstStyle/>
          <a:p>
            <a:pPr marL="609600" indent="-609600" eaLnBrk="1" hangingPunct="1">
              <a:lnSpc>
                <a:spcPct val="90000"/>
              </a:lnSpc>
              <a:buFontTx/>
              <a:buAutoNum type="arabicParenR"/>
            </a:pPr>
            <a:r>
              <a:rPr lang="en-US" sz="2800" b="1" dirty="0" smtClean="0">
                <a:latin typeface="Times New Roman" pitchFamily="18" charset="0"/>
                <a:cs typeface="Times New Roman" pitchFamily="18" charset="0"/>
              </a:rPr>
              <a:t>Review the </a:t>
            </a:r>
            <a:r>
              <a:rPr lang="en-US" sz="2800" b="1" u="sng" dirty="0" smtClean="0">
                <a:latin typeface="Times New Roman" pitchFamily="18" charset="0"/>
                <a:cs typeface="Times New Roman" pitchFamily="18" charset="0"/>
              </a:rPr>
              <a:t>product</a:t>
            </a:r>
            <a:r>
              <a:rPr lang="en-US" sz="2800" b="1" dirty="0" smtClean="0">
                <a:latin typeface="Times New Roman" pitchFamily="18" charset="0"/>
                <a:cs typeface="Times New Roman" pitchFamily="18" charset="0"/>
              </a:rPr>
              <a:t>, not the producer</a:t>
            </a:r>
          </a:p>
          <a:p>
            <a:pPr marL="609600" indent="-609600" eaLnBrk="1" hangingPunct="1">
              <a:lnSpc>
                <a:spcPct val="90000"/>
              </a:lnSpc>
              <a:buFontTx/>
              <a:buAutoNum type="arabicParenR"/>
            </a:pPr>
            <a:r>
              <a:rPr lang="en-US" sz="2800" b="1" dirty="0" smtClean="0">
                <a:latin typeface="Times New Roman" pitchFamily="18" charset="0"/>
                <a:cs typeface="Times New Roman" pitchFamily="18" charset="0"/>
              </a:rPr>
              <a:t>Set an </a:t>
            </a:r>
            <a:r>
              <a:rPr lang="en-US" sz="2800" b="1" u="sng" dirty="0" smtClean="0">
                <a:latin typeface="Times New Roman" pitchFamily="18" charset="0"/>
                <a:cs typeface="Times New Roman" pitchFamily="18" charset="0"/>
              </a:rPr>
              <a:t>agenda</a:t>
            </a:r>
            <a:r>
              <a:rPr lang="en-US" sz="2800" b="1" dirty="0" smtClean="0">
                <a:latin typeface="Times New Roman" pitchFamily="18" charset="0"/>
                <a:cs typeface="Times New Roman" pitchFamily="18" charset="0"/>
              </a:rPr>
              <a:t> and maintain it</a:t>
            </a:r>
          </a:p>
          <a:p>
            <a:pPr marL="609600" indent="-609600" eaLnBrk="1" hangingPunct="1">
              <a:lnSpc>
                <a:spcPct val="90000"/>
              </a:lnSpc>
              <a:buFontTx/>
              <a:buAutoNum type="arabicParenR"/>
            </a:pPr>
            <a:r>
              <a:rPr lang="en-US" sz="2800" b="1" u="sng" dirty="0" smtClean="0">
                <a:latin typeface="Times New Roman" pitchFamily="18" charset="0"/>
                <a:cs typeface="Times New Roman" pitchFamily="18" charset="0"/>
              </a:rPr>
              <a:t>Limit</a:t>
            </a:r>
            <a:r>
              <a:rPr lang="en-US" sz="2800" b="1" dirty="0" smtClean="0">
                <a:latin typeface="Times New Roman" pitchFamily="18" charset="0"/>
                <a:cs typeface="Times New Roman" pitchFamily="18" charset="0"/>
              </a:rPr>
              <a:t> debate </a:t>
            </a:r>
          </a:p>
          <a:p>
            <a:pPr marL="609600" indent="-609600" eaLnBrk="1" hangingPunct="1">
              <a:lnSpc>
                <a:spcPct val="90000"/>
              </a:lnSpc>
              <a:buFontTx/>
              <a:buAutoNum type="arabicParenR"/>
            </a:pPr>
            <a:r>
              <a:rPr lang="en-US" sz="2800" b="1" u="sng" dirty="0" smtClean="0">
                <a:latin typeface="Times New Roman" pitchFamily="18" charset="0"/>
                <a:cs typeface="Times New Roman" pitchFamily="18" charset="0"/>
              </a:rPr>
              <a:t>Enunciate</a:t>
            </a:r>
            <a:r>
              <a:rPr lang="en-US" sz="2800" b="1" dirty="0" smtClean="0">
                <a:latin typeface="Times New Roman" pitchFamily="18" charset="0"/>
                <a:cs typeface="Times New Roman" pitchFamily="18" charset="0"/>
              </a:rPr>
              <a:t> problem areas, but </a:t>
            </a:r>
            <a:r>
              <a:rPr lang="en-US" sz="2800" b="1" u="sng" dirty="0" smtClean="0">
                <a:latin typeface="Times New Roman" pitchFamily="18" charset="0"/>
                <a:cs typeface="Times New Roman" pitchFamily="18" charset="0"/>
              </a:rPr>
              <a:t>don't attempt</a:t>
            </a:r>
            <a:r>
              <a:rPr lang="en-US" sz="2800" b="1" dirty="0" smtClean="0">
                <a:latin typeface="Times New Roman" pitchFamily="18" charset="0"/>
                <a:cs typeface="Times New Roman" pitchFamily="18" charset="0"/>
              </a:rPr>
              <a:t> to solve the problem noted</a:t>
            </a:r>
          </a:p>
          <a:p>
            <a:pPr marL="609600" indent="-609600" eaLnBrk="1" hangingPunct="1">
              <a:lnSpc>
                <a:spcPct val="90000"/>
              </a:lnSpc>
              <a:buFontTx/>
              <a:buAutoNum type="arabicParenR"/>
            </a:pPr>
            <a:r>
              <a:rPr lang="en-US" sz="2800" b="1" dirty="0" smtClean="0">
                <a:latin typeface="Times New Roman" pitchFamily="18" charset="0"/>
                <a:cs typeface="Times New Roman" pitchFamily="18" charset="0"/>
              </a:rPr>
              <a:t>Take </a:t>
            </a:r>
            <a:r>
              <a:rPr lang="en-US" sz="2800" b="1" u="sng" dirty="0" smtClean="0">
                <a:latin typeface="Times New Roman" pitchFamily="18" charset="0"/>
                <a:cs typeface="Times New Roman" pitchFamily="18" charset="0"/>
              </a:rPr>
              <a:t>written notes</a:t>
            </a:r>
            <a:r>
              <a:rPr lang="en-US" sz="2800" b="1" dirty="0" smtClean="0">
                <a:latin typeface="Times New Roman" pitchFamily="18" charset="0"/>
                <a:cs typeface="Times New Roman" pitchFamily="18" charset="0"/>
              </a:rPr>
              <a:t>; utilize a wall board to capture comments</a:t>
            </a:r>
          </a:p>
          <a:p>
            <a:pPr marL="609600" indent="-609600" eaLnBrk="1" hangingPunct="1">
              <a:lnSpc>
                <a:spcPct val="90000"/>
              </a:lnSpc>
              <a:buFontTx/>
              <a:buAutoNum type="arabicParenR"/>
            </a:pPr>
            <a:r>
              <a:rPr lang="en-US" sz="2800" b="1" dirty="0" smtClean="0">
                <a:latin typeface="Times New Roman" pitchFamily="18" charset="0"/>
                <a:cs typeface="Times New Roman" pitchFamily="18" charset="0"/>
              </a:rPr>
              <a:t>Limit the </a:t>
            </a:r>
            <a:r>
              <a:rPr lang="en-US" sz="2800" b="1" u="sng" dirty="0" smtClean="0">
                <a:latin typeface="Times New Roman" pitchFamily="18" charset="0"/>
                <a:cs typeface="Times New Roman" pitchFamily="18" charset="0"/>
              </a:rPr>
              <a:t>number of participants</a:t>
            </a:r>
          </a:p>
          <a:p>
            <a:pPr marL="609600" indent="-609600" eaLnBrk="1" hangingPunct="1">
              <a:lnSpc>
                <a:spcPct val="90000"/>
              </a:lnSpc>
              <a:buFontTx/>
              <a:buAutoNum type="arabicParenR"/>
            </a:pPr>
            <a:r>
              <a:rPr lang="en-US" sz="2800" b="1" dirty="0" smtClean="0">
                <a:latin typeface="Times New Roman" pitchFamily="18" charset="0"/>
                <a:cs typeface="Times New Roman" pitchFamily="18" charset="0"/>
              </a:rPr>
              <a:t>Develop a </a:t>
            </a:r>
            <a:r>
              <a:rPr lang="en-US" sz="2800" b="1" u="sng" dirty="0" smtClean="0">
                <a:latin typeface="Times New Roman" pitchFamily="18" charset="0"/>
                <a:cs typeface="Times New Roman" pitchFamily="18" charset="0"/>
              </a:rPr>
              <a:t>checklist</a:t>
            </a:r>
            <a:r>
              <a:rPr lang="en-US" sz="2800" b="1" dirty="0" smtClean="0">
                <a:latin typeface="Times New Roman" pitchFamily="18" charset="0"/>
                <a:cs typeface="Times New Roman" pitchFamily="18" charset="0"/>
              </a:rPr>
              <a:t> for each product in order to structure and focus the review</a:t>
            </a:r>
          </a:p>
          <a:p>
            <a:pPr marL="609600" indent="-609600" eaLnBrk="1" hangingPunct="1">
              <a:lnSpc>
                <a:spcPct val="90000"/>
              </a:lnSpc>
              <a:buFontTx/>
              <a:buAutoNum type="arabicParenR"/>
            </a:pPr>
            <a:r>
              <a:rPr lang="en-US" sz="2800" b="1" dirty="0" smtClean="0">
                <a:latin typeface="Times New Roman" pitchFamily="18" charset="0"/>
                <a:cs typeface="Times New Roman" pitchFamily="18" charset="0"/>
              </a:rPr>
              <a:t>Allocate </a:t>
            </a:r>
            <a:r>
              <a:rPr lang="en-US" sz="2800" b="1" u="sng" dirty="0" smtClean="0">
                <a:latin typeface="Times New Roman" pitchFamily="18" charset="0"/>
                <a:cs typeface="Times New Roman" pitchFamily="18" charset="0"/>
              </a:rPr>
              <a:t>resources</a:t>
            </a:r>
            <a:r>
              <a:rPr lang="en-US" sz="2800" b="1" dirty="0" smtClean="0">
                <a:latin typeface="Times New Roman" pitchFamily="18" charset="0"/>
                <a:cs typeface="Times New Roman" pitchFamily="18" charset="0"/>
              </a:rPr>
              <a:t> and schedule </a:t>
            </a:r>
            <a:r>
              <a:rPr lang="en-US" sz="2800" b="1" u="sng" dirty="0" smtClean="0">
                <a:latin typeface="Times New Roman" pitchFamily="18" charset="0"/>
                <a:cs typeface="Times New Roman" pitchFamily="18" charset="0"/>
              </a:rPr>
              <a:t>time</a:t>
            </a:r>
            <a:r>
              <a:rPr lang="en-US" sz="2800" b="1" dirty="0" smtClean="0">
                <a:latin typeface="Times New Roman" pitchFamily="18" charset="0"/>
                <a:cs typeface="Times New Roman" pitchFamily="18" charset="0"/>
              </a:rPr>
              <a:t> for FTRs</a:t>
            </a:r>
          </a:p>
          <a:p>
            <a:pPr marL="609600" indent="-609600" eaLnBrk="1" hangingPunct="1">
              <a:lnSpc>
                <a:spcPct val="90000"/>
              </a:lnSpc>
              <a:buFontTx/>
              <a:buAutoNum type="arabicParenR"/>
            </a:pPr>
            <a:r>
              <a:rPr lang="en-US" sz="2800" b="1" dirty="0" smtClean="0">
                <a:latin typeface="Times New Roman" pitchFamily="18" charset="0"/>
                <a:cs typeface="Times New Roman" pitchFamily="18" charset="0"/>
              </a:rPr>
              <a:t>Review your earlier reviews to </a:t>
            </a:r>
            <a:r>
              <a:rPr lang="en-US" sz="2800" b="1" u="sng" dirty="0" smtClean="0">
                <a:latin typeface="Times New Roman" pitchFamily="18" charset="0"/>
                <a:cs typeface="Times New Roman" pitchFamily="18" charset="0"/>
              </a:rPr>
              <a:t>improve</a:t>
            </a:r>
            <a:r>
              <a:rPr lang="en-US" sz="2800" b="1" dirty="0" smtClean="0">
                <a:latin typeface="Times New Roman" pitchFamily="18" charset="0"/>
                <a:cs typeface="Times New Roman" pitchFamily="18" charset="0"/>
              </a:rPr>
              <a:t> the overall review process</a:t>
            </a:r>
          </a:p>
          <a:p>
            <a:pPr marL="609600" indent="-609600" eaLnBrk="1" hangingPunct="1">
              <a:lnSpc>
                <a:spcPct val="90000"/>
              </a:lnSpc>
              <a:buFontTx/>
              <a:buAutoNum type="arabicParenR"/>
            </a:pPr>
            <a:endParaRPr lang="en-US" sz="2800" b="1" dirty="0" smtClean="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12</a:t>
            </a:fld>
            <a:endParaRPr lang="en-I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0" y="928678"/>
            <a:ext cx="8991600" cy="1143000"/>
          </a:xfrm>
        </p:spPr>
        <p:txBody>
          <a:bodyPr>
            <a:normAutofit fontScale="90000"/>
          </a:bodyPr>
          <a:lstStyle/>
          <a:p>
            <a:r>
              <a:rPr lang="en-IN" dirty="0" smtClean="0">
                <a:latin typeface="Times New Roman" pitchFamily="18" charset="0"/>
                <a:cs typeface="Times New Roman" pitchFamily="18" charset="0"/>
              </a:rPr>
              <a:t>Software Testing Fundamentals , Software Test Process, </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smtClean="0">
              <a:latin typeface="Times New Roman" pitchFamily="18" charset="0"/>
              <a:cs typeface="Times New Roman" pitchFamily="18" charset="0"/>
            </a:endParaRPr>
          </a:p>
        </p:txBody>
      </p:sp>
      <p:sp>
        <p:nvSpPr>
          <p:cNvPr id="3076" name="Rectangle 3"/>
          <p:cNvSpPr>
            <a:spLocks noGrp="1" noChangeArrowheads="1"/>
          </p:cNvSpPr>
          <p:nvPr>
            <p:ph type="body" idx="1"/>
          </p:nvPr>
        </p:nvSpPr>
        <p:spPr>
          <a:xfrm>
            <a:off x="214282" y="2314596"/>
            <a:ext cx="8610600" cy="4114800"/>
          </a:xfrm>
        </p:spPr>
        <p:txBody>
          <a:bodyPr>
            <a:normAutofit lnSpcReduction="10000"/>
          </a:bodyPr>
          <a:lstStyle/>
          <a:p>
            <a:pPr>
              <a:buNone/>
            </a:pPr>
            <a:r>
              <a:rPr lang="en-US" b="1" dirty="0" smtClean="0">
                <a:latin typeface="Times New Roman" pitchFamily="18" charset="0"/>
                <a:cs typeface="Times New Roman" pitchFamily="18" charset="0"/>
              </a:rPr>
              <a:t>Characteristics of Testable Software</a:t>
            </a:r>
          </a:p>
          <a:p>
            <a:pPr eaLnBrk="1" hangingPunct="1"/>
            <a:r>
              <a:rPr lang="en-US" sz="2800" b="1" dirty="0" smtClean="0">
                <a:latin typeface="Times New Roman" pitchFamily="18" charset="0"/>
                <a:cs typeface="Times New Roman" pitchFamily="18" charset="0"/>
              </a:rPr>
              <a:t>Operable</a:t>
            </a:r>
          </a:p>
          <a:p>
            <a:pPr eaLnBrk="1" hangingPunct="1"/>
            <a:r>
              <a:rPr lang="en-US" sz="2800" b="1" dirty="0" smtClean="0">
                <a:latin typeface="Times New Roman" pitchFamily="18" charset="0"/>
                <a:cs typeface="Times New Roman" pitchFamily="18" charset="0"/>
              </a:rPr>
              <a:t>Observable</a:t>
            </a:r>
          </a:p>
          <a:p>
            <a:pPr eaLnBrk="1" hangingPunct="1"/>
            <a:r>
              <a:rPr lang="en-US" sz="2800" b="1" dirty="0" smtClean="0">
                <a:latin typeface="Times New Roman" pitchFamily="18" charset="0"/>
                <a:cs typeface="Times New Roman" pitchFamily="18" charset="0"/>
              </a:rPr>
              <a:t>Controllable</a:t>
            </a:r>
          </a:p>
          <a:p>
            <a:pPr eaLnBrk="1" hangingPunct="1"/>
            <a:r>
              <a:rPr lang="en-US" sz="2800" b="1" dirty="0" smtClean="0">
                <a:latin typeface="Times New Roman" pitchFamily="18" charset="0"/>
                <a:cs typeface="Times New Roman" pitchFamily="18" charset="0"/>
              </a:rPr>
              <a:t>Decomposable</a:t>
            </a:r>
          </a:p>
          <a:p>
            <a:r>
              <a:rPr lang="en-US" sz="2800" b="1" dirty="0" smtClean="0">
                <a:latin typeface="Times New Roman" pitchFamily="18" charset="0"/>
                <a:cs typeface="Times New Roman" pitchFamily="18" charset="0"/>
              </a:rPr>
              <a:t>Simple</a:t>
            </a:r>
          </a:p>
          <a:p>
            <a:r>
              <a:rPr lang="en-US" sz="2800" b="1" dirty="0" smtClean="0">
                <a:latin typeface="Times New Roman" pitchFamily="18" charset="0"/>
                <a:cs typeface="Times New Roman" pitchFamily="18" charset="0"/>
              </a:rPr>
              <a:t>Stable</a:t>
            </a:r>
          </a:p>
          <a:p>
            <a:r>
              <a:rPr lang="en-US" sz="2800" b="1" dirty="0" smtClean="0">
                <a:latin typeface="Times New Roman" pitchFamily="18" charset="0"/>
                <a:cs typeface="Times New Roman" pitchFamily="18" charset="0"/>
              </a:rPr>
              <a:t>Understandable</a:t>
            </a:r>
          </a:p>
          <a:p>
            <a:pPr eaLnBrk="1" hangingPunct="1"/>
            <a:endParaRPr lang="en-US" sz="2800" b="1" dirty="0" smtClean="0">
              <a:latin typeface="Times New Roman" pitchFamily="18" charset="0"/>
              <a:cs typeface="Times New Roman" pitchFamily="18" charset="0"/>
            </a:endParaRPr>
          </a:p>
        </p:txBody>
      </p:sp>
      <p:sp>
        <p:nvSpPr>
          <p:cNvPr id="6" name="Rectangle 5"/>
          <p:cNvSpPr/>
          <p:nvPr/>
        </p:nvSpPr>
        <p:spPr>
          <a:xfrm>
            <a:off x="3571868" y="0"/>
            <a:ext cx="2238113" cy="461665"/>
          </a:xfrm>
          <a:prstGeom prst="rect">
            <a:avLst/>
          </a:prstGeom>
        </p:spPr>
        <p:txBody>
          <a:bodyPr wrap="none">
            <a:spAutoFit/>
          </a:bodyPr>
          <a:lstStyle/>
          <a:p>
            <a:pPr algn="ctr"/>
            <a:r>
              <a:rPr lang="en-US" sz="2400" b="1" dirty="0" smtClean="0">
                <a:latin typeface="Times New Roman" pitchFamily="18" charset="0"/>
                <a:cs typeface="Times New Roman" pitchFamily="18" charset="0"/>
              </a:rPr>
              <a:t>LECTURE  -  2</a:t>
            </a:r>
            <a:endParaRPr lang="en-IN" sz="2400" b="1" dirty="0">
              <a:latin typeface="Times New Roman" pitchFamily="18" charset="0"/>
              <a:cs typeface="Times New Roman" pitchFamily="18" charset="0"/>
            </a:endParaRPr>
          </a:p>
        </p:txBody>
      </p:sp>
      <p:sp>
        <p:nvSpPr>
          <p:cNvPr id="7" name="Footer Placeholder 6"/>
          <p:cNvSpPr>
            <a:spLocks noGrp="1"/>
          </p:cNvSpPr>
          <p:nvPr>
            <p:ph type="ftr" sz="quarter" idx="11"/>
          </p:nvPr>
        </p:nvSpPr>
        <p:spPr/>
        <p:txBody>
          <a:bodyPr/>
          <a:lstStyle/>
          <a:p>
            <a:r>
              <a:rPr lang="en-IN" smtClean="0"/>
              <a:t>Prof. Anjana Verma</a:t>
            </a:r>
            <a:endParaRPr lang="en-IN"/>
          </a:p>
        </p:txBody>
      </p:sp>
      <p:sp>
        <p:nvSpPr>
          <p:cNvPr id="8" name="Slide Number Placeholder 7"/>
          <p:cNvSpPr>
            <a:spLocks noGrp="1"/>
          </p:cNvSpPr>
          <p:nvPr>
            <p:ph type="sldNum" sz="quarter" idx="12"/>
          </p:nvPr>
        </p:nvSpPr>
        <p:spPr/>
        <p:txBody>
          <a:bodyPr/>
          <a:lstStyle/>
          <a:p>
            <a:fld id="{49549E9F-9F6E-4CAF-8BBD-34C43FD5C9E9}" type="slidenum">
              <a:rPr lang="en-IN" smtClean="0"/>
              <a:pPr/>
              <a:t>13</a:t>
            </a:fld>
            <a:endParaRPr lang="en-IN"/>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3"/>
          <p:cNvSpPr>
            <a:spLocks noGrp="1" noChangeArrowheads="1"/>
          </p:cNvSpPr>
          <p:nvPr>
            <p:ph type="body" idx="1"/>
          </p:nvPr>
        </p:nvSpPr>
        <p:spPr>
          <a:xfrm>
            <a:off x="285720" y="428604"/>
            <a:ext cx="8572560" cy="4114800"/>
          </a:xfrm>
        </p:spPr>
        <p:txBody>
          <a:bodyPr>
            <a:noAutofit/>
          </a:bodyPr>
          <a:lstStyle/>
          <a:p>
            <a:pPr marL="457200" indent="-457200">
              <a:buNone/>
            </a:pPr>
            <a:r>
              <a:rPr lang="en-IN" sz="2400" b="1" u="sng" dirty="0" smtClean="0">
                <a:latin typeface="Times New Roman" pitchFamily="18" charset="0"/>
                <a:cs typeface="Times New Roman" pitchFamily="18" charset="0"/>
              </a:rPr>
              <a:t>TESTING OBJECTIVES</a:t>
            </a:r>
            <a:r>
              <a:rPr lang="en-IN" sz="2400" b="1" dirty="0" smtClean="0">
                <a:latin typeface="Times New Roman" pitchFamily="18" charset="0"/>
                <a:cs typeface="Times New Roman" pitchFamily="18" charset="0"/>
              </a:rPr>
              <a:t>:</a:t>
            </a:r>
            <a:br>
              <a:rPr lang="en-IN" sz="2400" b="1" dirty="0" smtClean="0">
                <a:latin typeface="Times New Roman" pitchFamily="18" charset="0"/>
                <a:cs typeface="Times New Roman" pitchFamily="18" charset="0"/>
              </a:rPr>
            </a:br>
            <a:r>
              <a:rPr lang="en-IN" sz="2400" b="1" dirty="0" smtClean="0">
                <a:latin typeface="Times New Roman" pitchFamily="18" charset="0"/>
                <a:cs typeface="Times New Roman" pitchFamily="18" charset="0"/>
              </a:rPr>
              <a:t>1. Testing is a process of executing a program with the intent of finding an error.</a:t>
            </a:r>
            <a:br>
              <a:rPr lang="en-IN" sz="2400" b="1" dirty="0" smtClean="0">
                <a:latin typeface="Times New Roman" pitchFamily="18" charset="0"/>
                <a:cs typeface="Times New Roman" pitchFamily="18" charset="0"/>
              </a:rPr>
            </a:br>
            <a:r>
              <a:rPr lang="en-IN" sz="2400" b="1" dirty="0" smtClean="0">
                <a:latin typeface="Times New Roman" pitchFamily="18" charset="0"/>
                <a:cs typeface="Times New Roman" pitchFamily="18" charset="0"/>
              </a:rPr>
              <a:t>2. A good test case is one that has a high probability of finding an as yet undiscovered error.</a:t>
            </a:r>
            <a:br>
              <a:rPr lang="en-IN" sz="2400" b="1" dirty="0" smtClean="0">
                <a:latin typeface="Times New Roman" pitchFamily="18" charset="0"/>
                <a:cs typeface="Times New Roman" pitchFamily="18" charset="0"/>
              </a:rPr>
            </a:br>
            <a:r>
              <a:rPr lang="en-IN" sz="2400" b="1" dirty="0" smtClean="0">
                <a:latin typeface="Times New Roman" pitchFamily="18" charset="0"/>
                <a:cs typeface="Times New Roman" pitchFamily="18" charset="0"/>
              </a:rPr>
              <a:t>3. Testing should systematically uncover different classes of errors in a minimum amount of time and with a minimum amount of effort. </a:t>
            </a:r>
          </a:p>
          <a:p>
            <a:pPr marL="457200" indent="-457200" algn="just"/>
            <a:endParaRPr lang="en-IN" sz="2400" b="1" dirty="0" smtClean="0">
              <a:latin typeface="Times New Roman" pitchFamily="18" charset="0"/>
              <a:cs typeface="Times New Roman" pitchFamily="18" charset="0"/>
            </a:endParaRPr>
          </a:p>
          <a:p>
            <a:pPr marL="457200" indent="-457200" algn="just">
              <a:buNone/>
            </a:pPr>
            <a:r>
              <a:rPr lang="en-IN" sz="2400" b="1" u="sng" dirty="0" smtClean="0">
                <a:latin typeface="Times New Roman" pitchFamily="18" charset="0"/>
                <a:cs typeface="Times New Roman" pitchFamily="18" charset="0"/>
              </a:rPr>
              <a:t>TESTING PRINCIPLES</a:t>
            </a:r>
            <a:r>
              <a:rPr lang="en-IN" sz="2400" b="1" dirty="0" smtClean="0">
                <a:latin typeface="Times New Roman" pitchFamily="18" charset="0"/>
                <a:cs typeface="Times New Roman" pitchFamily="18" charset="0"/>
              </a:rPr>
              <a:t>:</a:t>
            </a:r>
          </a:p>
          <a:p>
            <a:pPr marL="457200" indent="-457200" algn="just">
              <a:buFont typeface="Times New Roman" pitchFamily="18" charset="0"/>
              <a:buAutoNum type="arabicPeriod"/>
            </a:pPr>
            <a:r>
              <a:rPr lang="en-IN" sz="2400" b="1" dirty="0" smtClean="0">
                <a:latin typeface="Times New Roman" pitchFamily="18" charset="0"/>
                <a:cs typeface="Times New Roman" pitchFamily="18" charset="0"/>
              </a:rPr>
              <a:t>All tests should be traceable to customer requirements. </a:t>
            </a:r>
          </a:p>
          <a:p>
            <a:pPr marL="457200" indent="-457200" algn="just">
              <a:buFont typeface="Times New Roman" pitchFamily="18" charset="0"/>
              <a:buAutoNum type="arabicPeriod"/>
            </a:pPr>
            <a:r>
              <a:rPr lang="en-IN" sz="2400" b="1" dirty="0" smtClean="0">
                <a:latin typeface="Times New Roman" pitchFamily="18" charset="0"/>
                <a:cs typeface="Times New Roman" pitchFamily="18" charset="0"/>
              </a:rPr>
              <a:t>Tests should be planned long before testing begins. </a:t>
            </a:r>
          </a:p>
          <a:p>
            <a:pPr marL="457200" indent="-457200" algn="just">
              <a:buFont typeface="Times New Roman" pitchFamily="18" charset="0"/>
              <a:buAutoNum type="arabicPeriod"/>
            </a:pPr>
            <a:r>
              <a:rPr lang="en-IN" sz="2400" b="1" dirty="0" smtClean="0">
                <a:latin typeface="Times New Roman" pitchFamily="18" charset="0"/>
                <a:cs typeface="Times New Roman" pitchFamily="18" charset="0"/>
              </a:rPr>
              <a:t>Testing should begin “in the small” and progress toward testing “in the large.”</a:t>
            </a:r>
          </a:p>
          <a:p>
            <a:pPr marL="457200" indent="-457200">
              <a:buNone/>
            </a:pPr>
            <a:endParaRPr lang="en-IN" sz="2400" b="1" dirty="0" smtClean="0">
              <a:latin typeface="Times New Roman" pitchFamily="18" charset="0"/>
              <a:cs typeface="Times New Roman" pitchFamily="18" charset="0"/>
            </a:endParaRPr>
          </a:p>
          <a:p>
            <a:pPr eaLnBrk="1" hangingPunct="1"/>
            <a:endParaRPr lang="en-US" sz="2400" b="1" dirty="0" smtClean="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14</a:t>
            </a:fld>
            <a:endParaRPr lang="en-I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4.10 Testing-phases.eps                                        000FF8ECMacintosh HD                   B8AA5F2E:"/>
          <p:cNvPicPr/>
          <p:nvPr/>
        </p:nvPicPr>
        <p:blipFill>
          <a:blip r:embed="rId2"/>
          <a:srcRect/>
          <a:stretch>
            <a:fillRect/>
          </a:stretch>
        </p:blipFill>
        <p:spPr bwMode="auto">
          <a:xfrm>
            <a:off x="-32" y="1500174"/>
            <a:ext cx="9144000" cy="3948105"/>
          </a:xfrm>
          <a:prstGeom prst="rect">
            <a:avLst/>
          </a:prstGeom>
          <a:noFill/>
          <a:ln w="9525">
            <a:noFill/>
            <a:miter lim="800000"/>
            <a:headEnd/>
            <a:tailEnd/>
          </a:ln>
        </p:spPr>
      </p:pic>
      <p:sp>
        <p:nvSpPr>
          <p:cNvPr id="4" name="Rectangle 3"/>
          <p:cNvSpPr/>
          <p:nvPr/>
        </p:nvSpPr>
        <p:spPr>
          <a:xfrm>
            <a:off x="3071802" y="357166"/>
            <a:ext cx="3050835" cy="461665"/>
          </a:xfrm>
          <a:prstGeom prst="rect">
            <a:avLst/>
          </a:prstGeom>
        </p:spPr>
        <p:txBody>
          <a:bodyPr wrap="none">
            <a:spAutoFit/>
          </a:bodyPr>
          <a:lstStyle/>
          <a:p>
            <a:r>
              <a:rPr lang="en-IN" sz="2400" b="1" dirty="0" smtClean="0">
                <a:latin typeface="Times New Roman" pitchFamily="18" charset="0"/>
                <a:cs typeface="Times New Roman" pitchFamily="18" charset="0"/>
              </a:rPr>
              <a:t>TESTING PROCESS</a:t>
            </a:r>
            <a:endParaRPr lang="en-US" sz="2400" dirty="0"/>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15</a:t>
            </a:fld>
            <a:endParaRPr lang="en-I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304800"/>
            <a:ext cx="8229600" cy="1143000"/>
          </a:xfrm>
        </p:spPr>
        <p:txBody>
          <a:bodyPr/>
          <a:lstStyle/>
          <a:p>
            <a:pPr eaLnBrk="1" hangingPunct="1"/>
            <a:r>
              <a:rPr lang="en-GB" sz="4000" b="1" dirty="0" smtClean="0">
                <a:latin typeface="Times New Roman" pitchFamily="18" charset="0"/>
                <a:cs typeface="Times New Roman" pitchFamily="18" charset="0"/>
              </a:rPr>
              <a:t>Fundamental Test Process</a:t>
            </a:r>
          </a:p>
        </p:txBody>
      </p:sp>
      <p:sp>
        <p:nvSpPr>
          <p:cNvPr id="9222" name="Rectangle 7"/>
          <p:cNvSpPr>
            <a:spLocks noChangeArrowheads="1"/>
          </p:cNvSpPr>
          <p:nvPr/>
        </p:nvSpPr>
        <p:spPr bwMode="auto">
          <a:xfrm>
            <a:off x="3962400" y="5334000"/>
            <a:ext cx="3140075" cy="338554"/>
          </a:xfrm>
          <a:prstGeom prst="rect">
            <a:avLst/>
          </a:prstGeom>
          <a:noFill/>
          <a:ln w="9525">
            <a:noFill/>
            <a:miter lim="800000"/>
            <a:headEnd/>
            <a:tailEnd/>
          </a:ln>
        </p:spPr>
        <p:txBody>
          <a:bodyPr>
            <a:spAutoFit/>
          </a:bodyPr>
          <a:lstStyle/>
          <a:p>
            <a:endParaRPr lang="en-GB" sz="1600">
              <a:latin typeface="Times New Roman" pitchFamily="18" charset="0"/>
              <a:cs typeface="Times New Roman" pitchFamily="18" charset="0"/>
            </a:endParaRPr>
          </a:p>
        </p:txBody>
      </p:sp>
      <p:sp>
        <p:nvSpPr>
          <p:cNvPr id="64513" name="Rectangle 1"/>
          <p:cNvSpPr>
            <a:spLocks noChangeArrowheads="1"/>
          </p:cNvSpPr>
          <p:nvPr/>
        </p:nvSpPr>
        <p:spPr bwMode="auto">
          <a:xfrm>
            <a:off x="461962" y="1295400"/>
            <a:ext cx="8182004" cy="48320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057400" algn="l"/>
              </a:tabLst>
            </a:pPr>
            <a:endPar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Testing can be carried out in different phases and in each phase the verification is conducted by taking a review.</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Various Testing activities are:-</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Test planning</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Test Case design</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Test Execution</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Data collection</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2057400" algn="l"/>
              </a:tabLst>
            </a:pPr>
            <a:r>
              <a:rPr lang="en-US" sz="2800" b="1" dirty="0" smtClean="0">
                <a:latin typeface="Times New Roman" pitchFamily="18" charset="0"/>
                <a:ea typeface="Calibri" pitchFamily="34" charset="0"/>
                <a:cs typeface="Times New Roman" pitchFamily="18" charset="0"/>
              </a:rPr>
              <a:t>E</a:t>
            </a: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valuation</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057400" algn="l"/>
              </a:tabLst>
            </a:pP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16</a:t>
            </a:fld>
            <a:endParaRPr lang="en-IN"/>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70" y="500604"/>
            <a:ext cx="9144000" cy="4401205"/>
          </a:xfrm>
          <a:prstGeom prst="rect">
            <a:avLst/>
          </a:prstGeom>
        </p:spPr>
        <p:txBody>
          <a:bodyPr wrap="square">
            <a:spAutoFit/>
          </a:bodyPr>
          <a:lstStyle/>
          <a:p>
            <a:pPr lvl="0" algn="just" eaLnBrk="0" fontAlgn="base" hangingPunct="0">
              <a:spcBef>
                <a:spcPct val="0"/>
              </a:spcBef>
              <a:spcAft>
                <a:spcPct val="0"/>
              </a:spcAft>
              <a:tabLst>
                <a:tab pos="914400" algn="l"/>
                <a:tab pos="2057400" algn="l"/>
              </a:tabLst>
            </a:pPr>
            <a:r>
              <a:rPr lang="en-US" sz="2800" b="1" u="sng" dirty="0" smtClean="0">
                <a:latin typeface="Times New Roman" pitchFamily="18" charset="0"/>
                <a:ea typeface="Calibri" pitchFamily="34" charset="0"/>
                <a:cs typeface="Times New Roman" pitchFamily="18" charset="0"/>
              </a:rPr>
              <a:t>Verification and Validation</a:t>
            </a:r>
            <a:endParaRPr lang="en-US" sz="2800" b="1" dirty="0" smtClean="0">
              <a:latin typeface="Times New Roman" pitchFamily="18" charset="0"/>
              <a:cs typeface="Times New Roman" pitchFamily="18" charset="0"/>
            </a:endParaRPr>
          </a:p>
          <a:p>
            <a:pPr lvl="0" algn="just" eaLnBrk="0" fontAlgn="base" hangingPunct="0">
              <a:spcBef>
                <a:spcPct val="0"/>
              </a:spcBef>
              <a:spcAft>
                <a:spcPct val="0"/>
              </a:spcAft>
              <a:buFontTx/>
              <a:buChar char="•"/>
              <a:tabLst>
                <a:tab pos="914400" algn="l"/>
                <a:tab pos="2057400" algn="l"/>
              </a:tabLst>
            </a:pPr>
            <a:r>
              <a:rPr lang="en-US" sz="2800" b="1" dirty="0" smtClean="0">
                <a:latin typeface="Times New Roman" pitchFamily="18" charset="0"/>
                <a:ea typeface="Calibri" pitchFamily="34" charset="0"/>
                <a:cs typeface="Times New Roman" pitchFamily="18" charset="0"/>
              </a:rPr>
              <a:t>Software testing is part of a broader group of activities called verification and validation that are involved in </a:t>
            </a:r>
            <a:r>
              <a:rPr lang="en-US" sz="2800" b="1" u="sng" dirty="0" smtClean="0">
                <a:latin typeface="Times New Roman" pitchFamily="18" charset="0"/>
                <a:ea typeface="Calibri" pitchFamily="34" charset="0"/>
                <a:cs typeface="Times New Roman" pitchFamily="18" charset="0"/>
              </a:rPr>
              <a:t>software quality assurance</a:t>
            </a:r>
            <a:endParaRPr lang="en-US" sz="2800" b="1" dirty="0" smtClean="0">
              <a:latin typeface="Times New Roman" pitchFamily="18" charset="0"/>
              <a:cs typeface="Times New Roman" pitchFamily="18" charset="0"/>
            </a:endParaRPr>
          </a:p>
          <a:p>
            <a:pPr lvl="0" algn="just" eaLnBrk="0" fontAlgn="base" hangingPunct="0">
              <a:spcBef>
                <a:spcPct val="0"/>
              </a:spcBef>
              <a:spcAft>
                <a:spcPct val="0"/>
              </a:spcAft>
              <a:buFontTx/>
              <a:buChar char="•"/>
              <a:tabLst>
                <a:tab pos="914400" algn="l"/>
                <a:tab pos="2057400" algn="l"/>
              </a:tabLst>
            </a:pPr>
            <a:r>
              <a:rPr lang="en-US" sz="2800" b="1" u="sng" dirty="0" smtClean="0">
                <a:latin typeface="Times New Roman" pitchFamily="18" charset="0"/>
                <a:ea typeface="Calibri" pitchFamily="34" charset="0"/>
                <a:cs typeface="Times New Roman" pitchFamily="18" charset="0"/>
              </a:rPr>
              <a:t>Verification</a:t>
            </a:r>
            <a:r>
              <a:rPr lang="en-US" sz="2800" b="1" dirty="0" smtClean="0">
                <a:latin typeface="Times New Roman" pitchFamily="18" charset="0"/>
                <a:ea typeface="Calibri" pitchFamily="34" charset="0"/>
                <a:cs typeface="Times New Roman" pitchFamily="18" charset="0"/>
              </a:rPr>
              <a:t> (Are the algorithms coded correctly?)</a:t>
            </a:r>
            <a:endParaRPr lang="en-US" sz="2800" b="1" dirty="0" smtClean="0">
              <a:latin typeface="Times New Roman" pitchFamily="18" charset="0"/>
              <a:cs typeface="Times New Roman" pitchFamily="18" charset="0"/>
            </a:endParaRPr>
          </a:p>
          <a:p>
            <a:pPr lvl="1" algn="just" eaLnBrk="0" fontAlgn="base" hangingPunct="0">
              <a:spcBef>
                <a:spcPct val="0"/>
              </a:spcBef>
              <a:spcAft>
                <a:spcPct val="0"/>
              </a:spcAft>
              <a:buFontTx/>
              <a:buChar char="•"/>
              <a:tabLst>
                <a:tab pos="914400" algn="l"/>
                <a:tab pos="2057400" algn="l"/>
              </a:tabLst>
            </a:pPr>
            <a:r>
              <a:rPr lang="en-US" sz="2800" b="1" dirty="0" smtClean="0">
                <a:latin typeface="Times New Roman" pitchFamily="18" charset="0"/>
                <a:ea typeface="Calibri" pitchFamily="34" charset="0"/>
                <a:cs typeface="Times New Roman" pitchFamily="18" charset="0"/>
              </a:rPr>
              <a:t>The set of activities that ensure that software correctly implements a specific function or algorithm</a:t>
            </a:r>
            <a:endParaRPr lang="en-US" sz="2800" b="1" dirty="0" smtClean="0">
              <a:latin typeface="Times New Roman" pitchFamily="18" charset="0"/>
              <a:cs typeface="Times New Roman" pitchFamily="18" charset="0"/>
            </a:endParaRPr>
          </a:p>
          <a:p>
            <a:pPr lvl="0" algn="just" eaLnBrk="0" fontAlgn="base" hangingPunct="0">
              <a:spcBef>
                <a:spcPct val="0"/>
              </a:spcBef>
              <a:spcAft>
                <a:spcPct val="0"/>
              </a:spcAft>
              <a:buFontTx/>
              <a:buChar char="•"/>
              <a:tabLst>
                <a:tab pos="914400" algn="l"/>
                <a:tab pos="2057400" algn="l"/>
              </a:tabLst>
            </a:pPr>
            <a:r>
              <a:rPr lang="en-US" sz="2800" b="1" u="sng" dirty="0" smtClean="0">
                <a:latin typeface="Times New Roman" pitchFamily="18" charset="0"/>
                <a:ea typeface="Calibri" pitchFamily="34" charset="0"/>
                <a:cs typeface="Times New Roman" pitchFamily="18" charset="0"/>
              </a:rPr>
              <a:t>Validation</a:t>
            </a:r>
            <a:r>
              <a:rPr lang="en-US" sz="2800" b="1" dirty="0" smtClean="0">
                <a:latin typeface="Times New Roman" pitchFamily="18" charset="0"/>
                <a:ea typeface="Calibri" pitchFamily="34" charset="0"/>
                <a:cs typeface="Times New Roman" pitchFamily="18" charset="0"/>
              </a:rPr>
              <a:t> (Does it meet user requirements?)</a:t>
            </a:r>
            <a:endParaRPr lang="en-US" sz="2800" b="1" dirty="0" smtClean="0">
              <a:latin typeface="Times New Roman" pitchFamily="18" charset="0"/>
              <a:cs typeface="Times New Roman" pitchFamily="18" charset="0"/>
            </a:endParaRPr>
          </a:p>
          <a:p>
            <a:pPr lvl="1" algn="just" eaLnBrk="0" fontAlgn="base" hangingPunct="0">
              <a:spcBef>
                <a:spcPct val="0"/>
              </a:spcBef>
              <a:spcAft>
                <a:spcPct val="0"/>
              </a:spcAft>
              <a:buFontTx/>
              <a:buChar char="•"/>
              <a:tabLst>
                <a:tab pos="914400" algn="l"/>
                <a:tab pos="2057400" algn="l"/>
              </a:tabLst>
            </a:pPr>
            <a:r>
              <a:rPr lang="en-US" sz="2800" b="1" dirty="0" smtClean="0">
                <a:latin typeface="Times New Roman" pitchFamily="18" charset="0"/>
                <a:ea typeface="Calibri" pitchFamily="34" charset="0"/>
                <a:cs typeface="Times New Roman" pitchFamily="18" charset="0"/>
              </a:rPr>
              <a:t>The set of activities that ensure that the software that has been built is traceable to customer requirements</a:t>
            </a:r>
            <a:endParaRPr lang="en-US" sz="2800" b="1" dirty="0" smtClean="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smtClean="0"/>
              <a:t>Prof. Anjana Verma</a:t>
            </a:r>
            <a:endParaRPr lang="en-IN"/>
          </a:p>
        </p:txBody>
      </p:sp>
      <p:sp>
        <p:nvSpPr>
          <p:cNvPr id="4" name="Slide Number Placeholder 3"/>
          <p:cNvSpPr>
            <a:spLocks noGrp="1"/>
          </p:cNvSpPr>
          <p:nvPr>
            <p:ph type="sldNum" sz="quarter" idx="12"/>
          </p:nvPr>
        </p:nvSpPr>
        <p:spPr/>
        <p:txBody>
          <a:bodyPr/>
          <a:lstStyle/>
          <a:p>
            <a:fld id="{49549E9F-9F6E-4CAF-8BBD-34C43FD5C9E9}" type="slidenum">
              <a:rPr lang="en-IN" smtClean="0"/>
              <a:pPr/>
              <a:t>17</a:t>
            </a:fld>
            <a:endParaRPr lang="en-IN"/>
          </a:p>
        </p:txBody>
      </p:sp>
      <p:sp>
        <p:nvSpPr>
          <p:cNvPr id="5" name="TextBox 4"/>
          <p:cNvSpPr txBox="1"/>
          <p:nvPr/>
        </p:nvSpPr>
        <p:spPr>
          <a:xfrm>
            <a:off x="3214678" y="0"/>
            <a:ext cx="3000396"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LECTURE  -3 </a:t>
            </a:r>
            <a:endParaRPr lang="en-IN" sz="24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1"/>
          <p:cNvSpPr>
            <a:spLocks noChangeArrowheads="1"/>
          </p:cNvSpPr>
          <p:nvPr/>
        </p:nvSpPr>
        <p:spPr bwMode="auto">
          <a:xfrm>
            <a:off x="357158" y="785794"/>
            <a:ext cx="8286808" cy="581697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tabLst>
                <a:tab pos="457200" algn="l"/>
                <a:tab pos="2057400" algn="l"/>
              </a:tabLst>
            </a:pPr>
            <a:r>
              <a:rPr lang="en-US" sz="3200" b="1" u="sng" dirty="0" smtClean="0">
                <a:latin typeface="Times New Roman" pitchFamily="18" charset="0"/>
                <a:ea typeface="Calibri" pitchFamily="34" charset="0"/>
                <a:cs typeface="Times New Roman" pitchFamily="18" charset="0"/>
              </a:rPr>
              <a:t> Strategy for Testing Conventional  Software</a:t>
            </a:r>
          </a:p>
          <a:p>
            <a:pPr algn="ctr" fontAlgn="base">
              <a:spcBef>
                <a:spcPct val="0"/>
              </a:spcBef>
              <a:spcAft>
                <a:spcPct val="0"/>
              </a:spcAft>
              <a:tabLst>
                <a:tab pos="457200" algn="l"/>
                <a:tab pos="2057400" algn="l"/>
              </a:tabLst>
            </a:pPr>
            <a:r>
              <a:rPr lang="en-US" sz="3200" b="1" u="sng" dirty="0" smtClean="0">
                <a:latin typeface="Times New Roman" pitchFamily="18" charset="0"/>
                <a:ea typeface="Calibri" pitchFamily="34" charset="0"/>
                <a:cs typeface="Times New Roman" pitchFamily="18" charset="0"/>
              </a:rPr>
              <a:t>(Levels of testing)</a:t>
            </a:r>
            <a:endParaRPr lang="en-US" sz="2800" b="1" dirty="0" smtClean="0">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tab pos="457200" algn="l"/>
                <a:tab pos="2057400" algn="l"/>
              </a:tabLst>
            </a:pP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 strategy for software testing integrates the design of software test cases into a well-planned series of steps that result in successful development of the software</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The strategy provides a road map that describes the steps to be taken, when, and how much effort, time, and resources will be required</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The strategy provides guidance and a set of milestones </a:t>
            </a: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18</a:t>
            </a:fld>
            <a:endParaRPr lang="en-IN"/>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1"/>
          <p:cNvSpPr>
            <a:spLocks noChangeArrowheads="1"/>
          </p:cNvSpPr>
          <p:nvPr/>
        </p:nvSpPr>
        <p:spPr bwMode="auto">
          <a:xfrm>
            <a:off x="0" y="0"/>
            <a:ext cx="9144000" cy="513986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 pos="2057400" algn="l"/>
              </a:tabLst>
            </a:pPr>
            <a:r>
              <a:rPr kumimoji="0" lang="en-US" sz="28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Levels of Testing for Conventional Software</a:t>
            </a:r>
            <a:endParaRPr kumimoji="0" lang="en-US" sz="2400" b="1" i="0" u="sng" strike="noStrike" cap="none" normalizeH="0" baseline="0" dirty="0" smtClean="0">
              <a:ln>
                <a:noFill/>
              </a:ln>
              <a:solidFill>
                <a:schemeClr val="tx1"/>
              </a:solidFill>
              <a:effectLst/>
              <a:latin typeface="Times New Roman" pitchFamily="18" charset="0"/>
              <a:cs typeface="Times New Roman"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tab pos="457200" algn="l"/>
                <a:tab pos="2057400" algn="l"/>
              </a:tabLst>
            </a:pP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Unit testing </a:t>
            </a:r>
            <a:endParaRPr kumimoji="0" lang="en-US" sz="3200" b="1" i="0" u="none" strike="noStrike" cap="none" normalizeH="0" baseline="0" dirty="0" smtClean="0">
              <a:ln>
                <a:noFill/>
              </a:ln>
              <a:solidFill>
                <a:schemeClr val="tx1"/>
              </a:solidFill>
              <a:effectLst/>
              <a:latin typeface="Times New Roman" pitchFamily="18" charset="0"/>
              <a:cs typeface="Times New Roman"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tab pos="457200" algn="l"/>
                <a:tab pos="2057400" algn="l"/>
              </a:tabLst>
            </a:pP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Integration testing- </a:t>
            </a:r>
            <a:endParaRPr kumimoji="0" lang="en-US" sz="3200" b="1" i="0" u="none" strike="noStrike" cap="none" normalizeH="0" baseline="0" dirty="0" smtClean="0">
              <a:ln>
                <a:noFill/>
              </a:ln>
              <a:solidFill>
                <a:schemeClr val="tx1"/>
              </a:solidFill>
              <a:effectLst/>
              <a:latin typeface="Times New Roman" pitchFamily="18" charset="0"/>
              <a:cs typeface="Times New Roman"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tab pos="457200" algn="l"/>
                <a:tab pos="2057400" algn="l"/>
              </a:tabLst>
            </a:pP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Validation testing-</a:t>
            </a:r>
            <a:r>
              <a:rPr kumimoji="0" lang="en-US" sz="3200" b="1" i="0" u="none" strike="noStrike" cap="none" normalizeH="0" dirty="0" smtClean="0">
                <a:ln>
                  <a:noFill/>
                </a:ln>
                <a:solidFill>
                  <a:schemeClr val="tx1"/>
                </a:solidFill>
                <a:effectLst/>
                <a:latin typeface="Times New Roman" pitchFamily="18" charset="0"/>
                <a:ea typeface="Calibri" pitchFamily="34" charset="0"/>
                <a:cs typeface="Times New Roman" pitchFamily="18" charset="0"/>
              </a:rPr>
              <a:t> </a:t>
            </a:r>
          </a:p>
          <a:p>
            <a:pPr marL="0" marR="0" lvl="0" indent="0" algn="just" defTabSz="914400" rtl="0" eaLnBrk="0" fontAlgn="base" latinLnBrk="0" hangingPunct="0">
              <a:lnSpc>
                <a:spcPct val="100000"/>
              </a:lnSpc>
              <a:spcBef>
                <a:spcPct val="0"/>
              </a:spcBef>
              <a:spcAft>
                <a:spcPct val="0"/>
              </a:spcAft>
              <a:buClrTx/>
              <a:buSzTx/>
              <a:tabLst>
                <a:tab pos="457200" algn="l"/>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Provides final assurance that the software meets all functional, behavioral, and performance requirements</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tab pos="457200" algn="l"/>
                <a:tab pos="2057400" algn="l"/>
              </a:tabLst>
            </a:pPr>
            <a:r>
              <a:rPr kumimoji="0" lang="en-US" sz="36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4.System testing </a:t>
            </a: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p>
          <a:p>
            <a:pPr marL="0" marR="0" lvl="0" indent="0" algn="just" defTabSz="914400" rtl="0" eaLnBrk="0" fontAlgn="base" latinLnBrk="0" hangingPunct="0">
              <a:lnSpc>
                <a:spcPct val="100000"/>
              </a:lnSpc>
              <a:spcBef>
                <a:spcPct val="0"/>
              </a:spcBef>
              <a:spcAft>
                <a:spcPct val="0"/>
              </a:spcAft>
              <a:buClrTx/>
              <a:buSzTx/>
              <a:tabLst>
                <a:tab pos="457200" algn="l"/>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The software and other system elements are tested as a whole. Verifies that all system elements (software, hardware, people, databases) mesh properly and that overall system function and performance is achieved</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23" name="Footer Placeholder 22"/>
          <p:cNvSpPr>
            <a:spLocks noGrp="1"/>
          </p:cNvSpPr>
          <p:nvPr>
            <p:ph type="ftr" sz="quarter" idx="11"/>
          </p:nvPr>
        </p:nvSpPr>
        <p:spPr/>
        <p:txBody>
          <a:bodyPr/>
          <a:lstStyle/>
          <a:p>
            <a:r>
              <a:rPr lang="en-IN" smtClean="0"/>
              <a:t>Prof. Anjana Verma</a:t>
            </a:r>
            <a:endParaRPr lang="en-IN"/>
          </a:p>
        </p:txBody>
      </p:sp>
      <p:sp>
        <p:nvSpPr>
          <p:cNvPr id="24" name="Slide Number Placeholder 23"/>
          <p:cNvSpPr>
            <a:spLocks noGrp="1"/>
          </p:cNvSpPr>
          <p:nvPr>
            <p:ph type="sldNum" sz="quarter" idx="12"/>
          </p:nvPr>
        </p:nvSpPr>
        <p:spPr/>
        <p:txBody>
          <a:bodyPr/>
          <a:lstStyle/>
          <a:p>
            <a:fld id="{49549E9F-9F6E-4CAF-8BBD-34C43FD5C9E9}" type="slidenum">
              <a:rPr lang="en-IN" smtClean="0"/>
              <a:pPr/>
              <a:t>19</a:t>
            </a:fld>
            <a:endParaRPr lang="en-IN"/>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mtClean="0"/>
              <a:t>Prof. Anjana Verma</a:t>
            </a:r>
            <a:endParaRPr lang="en-IN"/>
          </a:p>
        </p:txBody>
      </p:sp>
      <p:sp>
        <p:nvSpPr>
          <p:cNvPr id="3" name="Slide Number Placeholder 2"/>
          <p:cNvSpPr>
            <a:spLocks noGrp="1"/>
          </p:cNvSpPr>
          <p:nvPr>
            <p:ph type="sldNum" sz="quarter" idx="12"/>
          </p:nvPr>
        </p:nvSpPr>
        <p:spPr/>
        <p:txBody>
          <a:bodyPr/>
          <a:lstStyle/>
          <a:p>
            <a:fld id="{49549E9F-9F6E-4CAF-8BBD-34C43FD5C9E9}" type="slidenum">
              <a:rPr lang="en-IN" smtClean="0"/>
              <a:pPr/>
              <a:t>20</a:t>
            </a:fld>
            <a:endParaRPr lang="en-IN"/>
          </a:p>
        </p:txBody>
      </p:sp>
      <p:grpSp>
        <p:nvGrpSpPr>
          <p:cNvPr id="4" name="Group 5"/>
          <p:cNvGrpSpPr>
            <a:grpSpLocks/>
          </p:cNvGrpSpPr>
          <p:nvPr/>
        </p:nvGrpSpPr>
        <p:grpSpPr bwMode="auto">
          <a:xfrm>
            <a:off x="357158" y="1000108"/>
            <a:ext cx="8572560" cy="5567378"/>
            <a:chOff x="1152" y="1536"/>
            <a:chExt cx="3600" cy="2208"/>
          </a:xfrm>
        </p:grpSpPr>
        <p:grpSp>
          <p:nvGrpSpPr>
            <p:cNvPr id="5" name="Group 8"/>
            <p:cNvGrpSpPr>
              <a:grpSpLocks/>
            </p:cNvGrpSpPr>
            <p:nvPr/>
          </p:nvGrpSpPr>
          <p:grpSpPr bwMode="auto">
            <a:xfrm>
              <a:off x="1152" y="1536"/>
              <a:ext cx="3600" cy="2208"/>
              <a:chOff x="1152" y="1536"/>
              <a:chExt cx="3600" cy="2208"/>
            </a:xfrm>
          </p:grpSpPr>
          <p:sp>
            <p:nvSpPr>
              <p:cNvPr id="14" name="Oval 13"/>
              <p:cNvSpPr>
                <a:spLocks noChangeArrowheads="1"/>
              </p:cNvSpPr>
              <p:nvPr/>
            </p:nvSpPr>
            <p:spPr bwMode="auto">
              <a:xfrm>
                <a:off x="1152" y="1536"/>
                <a:ext cx="3600" cy="2208"/>
              </a:xfrm>
              <a:prstGeom prst="ellipse">
                <a:avLst/>
              </a:prstGeom>
              <a:solidFill>
                <a:srgbClr val="FF99CC"/>
              </a:solidFill>
              <a:ln w="9525">
                <a:solidFill>
                  <a:schemeClr val="tx1"/>
                </a:solidFill>
                <a:round/>
                <a:headEnd/>
                <a:tailEnd/>
              </a:ln>
              <a:effectLst/>
            </p:spPr>
            <p:txBody>
              <a:bodyPr wrap="none" anchor="ct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endParaRPr lang="en-US"/>
              </a:p>
            </p:txBody>
          </p:sp>
          <p:sp>
            <p:nvSpPr>
              <p:cNvPr id="15" name="Oval 14"/>
              <p:cNvSpPr>
                <a:spLocks noChangeArrowheads="1"/>
              </p:cNvSpPr>
              <p:nvPr/>
            </p:nvSpPr>
            <p:spPr bwMode="auto">
              <a:xfrm>
                <a:off x="1488" y="1776"/>
                <a:ext cx="2976" cy="1680"/>
              </a:xfrm>
              <a:prstGeom prst="ellipse">
                <a:avLst/>
              </a:prstGeom>
              <a:solidFill>
                <a:srgbClr val="FFCC99"/>
              </a:solidFill>
              <a:ln w="9525">
                <a:solidFill>
                  <a:schemeClr val="tx1"/>
                </a:solidFill>
                <a:round/>
                <a:headEnd/>
                <a:tailEnd/>
              </a:ln>
              <a:effectLst/>
            </p:spPr>
            <p:txBody>
              <a:bodyPr wrap="none" anchor="ct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endParaRPr lang="en-US" dirty="0">
                  <a:solidFill>
                    <a:schemeClr val="accent2">
                      <a:lumMod val="60000"/>
                      <a:lumOff val="40000"/>
                    </a:schemeClr>
                  </a:solidFill>
                </a:endParaRPr>
              </a:p>
            </p:txBody>
          </p:sp>
          <p:sp>
            <p:nvSpPr>
              <p:cNvPr id="16" name="Oval 15"/>
              <p:cNvSpPr>
                <a:spLocks noChangeArrowheads="1"/>
              </p:cNvSpPr>
              <p:nvPr/>
            </p:nvSpPr>
            <p:spPr bwMode="auto">
              <a:xfrm>
                <a:off x="1728" y="2016"/>
                <a:ext cx="2496" cy="1152"/>
              </a:xfrm>
              <a:prstGeom prst="ellipse">
                <a:avLst/>
              </a:prstGeom>
              <a:solidFill>
                <a:srgbClr val="FFFF99"/>
              </a:solidFill>
              <a:ln w="9525">
                <a:solidFill>
                  <a:schemeClr val="tx1"/>
                </a:solidFill>
                <a:round/>
                <a:headEnd/>
                <a:tailEnd/>
              </a:ln>
              <a:effectLst/>
            </p:spPr>
            <p:txBody>
              <a:bodyPr wrap="none" anchor="ct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endParaRPr lang="en-US"/>
              </a:p>
            </p:txBody>
          </p:sp>
          <p:sp>
            <p:nvSpPr>
              <p:cNvPr id="17" name="Oval 16"/>
              <p:cNvSpPr>
                <a:spLocks noChangeArrowheads="1"/>
              </p:cNvSpPr>
              <p:nvPr/>
            </p:nvSpPr>
            <p:spPr bwMode="auto">
              <a:xfrm>
                <a:off x="2016" y="2256"/>
                <a:ext cx="1920" cy="720"/>
              </a:xfrm>
              <a:prstGeom prst="ellipse">
                <a:avLst/>
              </a:prstGeom>
              <a:solidFill>
                <a:srgbClr val="CCFFCC"/>
              </a:solidFill>
              <a:ln w="9525">
                <a:solidFill>
                  <a:schemeClr val="tx1"/>
                </a:solidFill>
                <a:round/>
                <a:headEnd/>
                <a:tailEnd/>
              </a:ln>
              <a:effectLst/>
            </p:spPr>
            <p:txBody>
              <a:bodyPr wrap="none" anchor="ct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endParaRPr lang="en-US"/>
              </a:p>
            </p:txBody>
          </p:sp>
          <p:sp>
            <p:nvSpPr>
              <p:cNvPr id="18" name="Line 8"/>
              <p:cNvSpPr>
                <a:spLocks noChangeShapeType="1"/>
              </p:cNvSpPr>
              <p:nvPr/>
            </p:nvSpPr>
            <p:spPr bwMode="auto">
              <a:xfrm>
                <a:off x="1200" y="2640"/>
                <a:ext cx="3552" cy="0"/>
              </a:xfrm>
              <a:prstGeom prst="line">
                <a:avLst/>
              </a:prstGeom>
              <a:noFill/>
              <a:ln w="28575">
                <a:solidFill>
                  <a:schemeClr val="tx1"/>
                </a:solidFill>
                <a:prstDash val="dash"/>
                <a:round/>
                <a:headEnd/>
                <a:tailEnd/>
              </a:ln>
              <a:effectLst/>
            </p:spPr>
            <p:txBody>
              <a:bodyP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endParaRPr lang="en-US"/>
              </a:p>
            </p:txBody>
          </p:sp>
        </p:grpSp>
        <p:sp>
          <p:nvSpPr>
            <p:cNvPr id="6" name="Text Box 10"/>
            <p:cNvSpPr txBox="1">
              <a:spLocks noChangeArrowheads="1"/>
            </p:cNvSpPr>
            <p:nvPr/>
          </p:nvSpPr>
          <p:spPr bwMode="auto">
            <a:xfrm>
              <a:off x="2784" y="2688"/>
              <a:ext cx="365" cy="183"/>
            </a:xfrm>
            <a:prstGeom prst="rect">
              <a:avLst/>
            </a:prstGeom>
            <a:noFill/>
            <a:ln w="9525">
              <a:noFill/>
              <a:miter lim="800000"/>
              <a:headEnd/>
              <a:tailEnd/>
            </a:ln>
            <a:effectLst/>
          </p:spPr>
          <p:txBody>
            <a:bodyPr wrap="none">
              <a:spAutoFit/>
            </a:bodyP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r>
                <a:rPr lang="en-US" b="1" u="none" dirty="0"/>
                <a:t>Code</a:t>
              </a:r>
              <a:endParaRPr lang="en-US" sz="1800" b="1" u="none" dirty="0"/>
            </a:p>
          </p:txBody>
        </p:sp>
        <p:sp>
          <p:nvSpPr>
            <p:cNvPr id="7" name="Text Box 11"/>
            <p:cNvSpPr txBox="1">
              <a:spLocks noChangeArrowheads="1"/>
            </p:cNvSpPr>
            <p:nvPr/>
          </p:nvSpPr>
          <p:spPr bwMode="auto">
            <a:xfrm>
              <a:off x="2732" y="2928"/>
              <a:ext cx="451" cy="183"/>
            </a:xfrm>
            <a:prstGeom prst="rect">
              <a:avLst/>
            </a:prstGeom>
            <a:noFill/>
            <a:ln w="9525">
              <a:noFill/>
              <a:miter lim="800000"/>
              <a:headEnd/>
              <a:tailEnd/>
            </a:ln>
            <a:effectLst/>
          </p:spPr>
          <p:txBody>
            <a:bodyPr wrap="none">
              <a:spAutoFit/>
            </a:bodyP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r>
                <a:rPr lang="en-US" b="1" u="none" dirty="0"/>
                <a:t>Design</a:t>
              </a:r>
            </a:p>
          </p:txBody>
        </p:sp>
        <p:sp>
          <p:nvSpPr>
            <p:cNvPr id="8" name="Text Box 12"/>
            <p:cNvSpPr txBox="1">
              <a:spLocks noChangeArrowheads="1"/>
            </p:cNvSpPr>
            <p:nvPr/>
          </p:nvSpPr>
          <p:spPr bwMode="auto">
            <a:xfrm>
              <a:off x="2636" y="3216"/>
              <a:ext cx="851" cy="183"/>
            </a:xfrm>
            <a:prstGeom prst="rect">
              <a:avLst/>
            </a:prstGeom>
            <a:noFill/>
            <a:ln w="9525">
              <a:noFill/>
              <a:miter lim="800000"/>
              <a:headEnd/>
              <a:tailEnd/>
            </a:ln>
            <a:effectLst/>
          </p:spPr>
          <p:txBody>
            <a:bodyPr wrap="none">
              <a:spAutoFit/>
            </a:bodyP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r>
                <a:rPr lang="en-US" b="1" u="none" dirty="0"/>
                <a:t>Requirements</a:t>
              </a:r>
            </a:p>
          </p:txBody>
        </p:sp>
        <p:sp>
          <p:nvSpPr>
            <p:cNvPr id="9" name="Text Box 13"/>
            <p:cNvSpPr txBox="1">
              <a:spLocks noChangeArrowheads="1"/>
            </p:cNvSpPr>
            <p:nvPr/>
          </p:nvSpPr>
          <p:spPr bwMode="auto">
            <a:xfrm>
              <a:off x="2458" y="3465"/>
              <a:ext cx="1180" cy="183"/>
            </a:xfrm>
            <a:prstGeom prst="rect">
              <a:avLst/>
            </a:prstGeom>
            <a:noFill/>
            <a:ln w="9525">
              <a:noFill/>
              <a:miter lim="800000"/>
              <a:headEnd/>
              <a:tailEnd/>
            </a:ln>
            <a:effectLst/>
          </p:spPr>
          <p:txBody>
            <a:bodyPr wrap="none">
              <a:spAutoFit/>
            </a:bodyP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r>
                <a:rPr lang="en-US" b="1" u="none" dirty="0"/>
                <a:t>System Engineering</a:t>
              </a:r>
            </a:p>
          </p:txBody>
        </p:sp>
        <p:sp>
          <p:nvSpPr>
            <p:cNvPr id="10" name="Text Box 14"/>
            <p:cNvSpPr txBox="1">
              <a:spLocks noChangeArrowheads="1"/>
            </p:cNvSpPr>
            <p:nvPr/>
          </p:nvSpPr>
          <p:spPr bwMode="auto">
            <a:xfrm>
              <a:off x="2574" y="2352"/>
              <a:ext cx="749" cy="183"/>
            </a:xfrm>
            <a:prstGeom prst="rect">
              <a:avLst/>
            </a:prstGeom>
            <a:noFill/>
            <a:ln w="9525">
              <a:noFill/>
              <a:miter lim="800000"/>
              <a:headEnd/>
              <a:tailEnd/>
            </a:ln>
            <a:effectLst/>
          </p:spPr>
          <p:txBody>
            <a:bodyPr wrap="none">
              <a:spAutoFit/>
            </a:bodyP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r>
                <a:rPr lang="en-US" b="1" u="none" dirty="0"/>
                <a:t>Unit Testing</a:t>
              </a:r>
            </a:p>
          </p:txBody>
        </p:sp>
        <p:sp>
          <p:nvSpPr>
            <p:cNvPr id="11" name="Text Box 15"/>
            <p:cNvSpPr txBox="1">
              <a:spLocks noChangeArrowheads="1"/>
            </p:cNvSpPr>
            <p:nvPr/>
          </p:nvSpPr>
          <p:spPr bwMode="auto">
            <a:xfrm>
              <a:off x="2380" y="2073"/>
              <a:ext cx="1130" cy="183"/>
            </a:xfrm>
            <a:prstGeom prst="rect">
              <a:avLst/>
            </a:prstGeom>
            <a:noFill/>
            <a:ln w="9525">
              <a:noFill/>
              <a:miter lim="800000"/>
              <a:headEnd/>
              <a:tailEnd/>
            </a:ln>
            <a:effectLst/>
          </p:spPr>
          <p:txBody>
            <a:bodyPr wrap="none">
              <a:spAutoFit/>
            </a:bodyP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r>
                <a:rPr lang="en-US" b="1" u="none" dirty="0"/>
                <a:t>Integration Testing</a:t>
              </a:r>
            </a:p>
          </p:txBody>
        </p:sp>
        <p:sp>
          <p:nvSpPr>
            <p:cNvPr id="12" name="Text Box 16"/>
            <p:cNvSpPr txBox="1">
              <a:spLocks noChangeArrowheads="1"/>
            </p:cNvSpPr>
            <p:nvPr/>
          </p:nvSpPr>
          <p:spPr bwMode="auto">
            <a:xfrm>
              <a:off x="2412" y="1824"/>
              <a:ext cx="1075" cy="183"/>
            </a:xfrm>
            <a:prstGeom prst="rect">
              <a:avLst/>
            </a:prstGeom>
            <a:noFill/>
            <a:ln w="9525">
              <a:noFill/>
              <a:miter lim="800000"/>
              <a:headEnd/>
              <a:tailEnd/>
            </a:ln>
            <a:effectLst/>
          </p:spPr>
          <p:txBody>
            <a:bodyPr wrap="none">
              <a:spAutoFit/>
            </a:bodyP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r>
                <a:rPr lang="en-US" b="1" u="none" dirty="0"/>
                <a:t>Validation Testing</a:t>
              </a:r>
            </a:p>
          </p:txBody>
        </p:sp>
        <p:sp>
          <p:nvSpPr>
            <p:cNvPr id="13" name="Text Box 17"/>
            <p:cNvSpPr txBox="1">
              <a:spLocks noChangeArrowheads="1"/>
            </p:cNvSpPr>
            <p:nvPr/>
          </p:nvSpPr>
          <p:spPr bwMode="auto">
            <a:xfrm>
              <a:off x="2492" y="1545"/>
              <a:ext cx="900" cy="183"/>
            </a:xfrm>
            <a:prstGeom prst="rect">
              <a:avLst/>
            </a:prstGeom>
            <a:noFill/>
            <a:ln w="9525">
              <a:noFill/>
              <a:miter lim="800000"/>
              <a:headEnd/>
              <a:tailEnd/>
            </a:ln>
            <a:effectLst/>
          </p:spPr>
          <p:txBody>
            <a:bodyPr wrap="none">
              <a:spAutoFit/>
            </a:bodyP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r>
                <a:rPr lang="en-US" b="1" u="none" dirty="0"/>
                <a:t>System Testing</a:t>
              </a:r>
            </a:p>
          </p:txBody>
        </p:sp>
      </p:grpSp>
      <p:sp>
        <p:nvSpPr>
          <p:cNvPr id="19" name="AutoShape 19"/>
          <p:cNvSpPr>
            <a:spLocks noChangeArrowheads="1"/>
          </p:cNvSpPr>
          <p:nvPr/>
        </p:nvSpPr>
        <p:spPr bwMode="auto">
          <a:xfrm rot="19597312">
            <a:off x="1775193" y="4402392"/>
            <a:ext cx="2087043" cy="1508698"/>
          </a:xfrm>
          <a:prstGeom prst="rightArrow">
            <a:avLst>
              <a:gd name="adj1" fmla="val 50000"/>
              <a:gd name="adj2" fmla="val 39063"/>
            </a:avLst>
          </a:prstGeom>
          <a:solidFill>
            <a:srgbClr val="CCFFFF"/>
          </a:solidFill>
          <a:ln w="9525">
            <a:solidFill>
              <a:schemeClr val="tx1"/>
            </a:solidFill>
            <a:miter lim="800000"/>
            <a:headEnd/>
            <a:tailEnd/>
          </a:ln>
          <a:effectLst/>
        </p:spPr>
        <p:txBody>
          <a:bodyPr wrap="none" anchor="ct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r>
              <a:rPr lang="en-US" b="1" u="none" dirty="0"/>
              <a:t>Abstract to</a:t>
            </a:r>
          </a:p>
          <a:p>
            <a:r>
              <a:rPr lang="en-US" b="1" u="none" dirty="0"/>
              <a:t>concrete</a:t>
            </a:r>
            <a:endParaRPr lang="en-US" sz="2000" b="1" u="none" dirty="0"/>
          </a:p>
        </p:txBody>
      </p:sp>
      <p:sp>
        <p:nvSpPr>
          <p:cNvPr id="20" name="AutoShape 20"/>
          <p:cNvSpPr>
            <a:spLocks noChangeArrowheads="1"/>
          </p:cNvSpPr>
          <p:nvPr/>
        </p:nvSpPr>
        <p:spPr bwMode="auto">
          <a:xfrm rot="19904731">
            <a:off x="6141468" y="3077378"/>
            <a:ext cx="2337488" cy="1500287"/>
          </a:xfrm>
          <a:prstGeom prst="rightArrow">
            <a:avLst>
              <a:gd name="adj1" fmla="val 50000"/>
              <a:gd name="adj2" fmla="val 43750"/>
            </a:avLst>
          </a:prstGeom>
          <a:solidFill>
            <a:srgbClr val="CCFFFF"/>
          </a:solidFill>
          <a:ln w="9525">
            <a:solidFill>
              <a:schemeClr val="tx1"/>
            </a:solidFill>
            <a:miter lim="800000"/>
            <a:headEnd/>
            <a:tailEnd/>
          </a:ln>
          <a:effectLst/>
        </p:spPr>
        <p:txBody>
          <a:bodyPr wrap="none" anchor="ctr"/>
          <a:lstStyle>
            <a:defPPr>
              <a:defRPr lang="en-US"/>
            </a:defPPr>
            <a:lvl1pPr algn="ctr" rtl="0" fontAlgn="base">
              <a:spcBef>
                <a:spcPct val="0"/>
              </a:spcBef>
              <a:spcAft>
                <a:spcPct val="0"/>
              </a:spcAft>
              <a:defRPr sz="2400" u="sng" kern="1200">
                <a:solidFill>
                  <a:schemeClr val="tx1"/>
                </a:solidFill>
                <a:latin typeface="Times New Roman" charset="0"/>
                <a:ea typeface="+mn-ea"/>
                <a:cs typeface="+mn-cs"/>
              </a:defRPr>
            </a:lvl1pPr>
            <a:lvl2pPr marL="457200" algn="ctr" rtl="0" fontAlgn="base">
              <a:spcBef>
                <a:spcPct val="0"/>
              </a:spcBef>
              <a:spcAft>
                <a:spcPct val="0"/>
              </a:spcAft>
              <a:defRPr sz="2400" u="sng" kern="1200">
                <a:solidFill>
                  <a:schemeClr val="tx1"/>
                </a:solidFill>
                <a:latin typeface="Times New Roman" charset="0"/>
                <a:ea typeface="+mn-ea"/>
                <a:cs typeface="+mn-cs"/>
              </a:defRPr>
            </a:lvl2pPr>
            <a:lvl3pPr marL="914400" algn="ctr" rtl="0" fontAlgn="base">
              <a:spcBef>
                <a:spcPct val="0"/>
              </a:spcBef>
              <a:spcAft>
                <a:spcPct val="0"/>
              </a:spcAft>
              <a:defRPr sz="2400" u="sng" kern="1200">
                <a:solidFill>
                  <a:schemeClr val="tx1"/>
                </a:solidFill>
                <a:latin typeface="Times New Roman" charset="0"/>
                <a:ea typeface="+mn-ea"/>
                <a:cs typeface="+mn-cs"/>
              </a:defRPr>
            </a:lvl3pPr>
            <a:lvl4pPr marL="1371600" algn="ctr" rtl="0" fontAlgn="base">
              <a:spcBef>
                <a:spcPct val="0"/>
              </a:spcBef>
              <a:spcAft>
                <a:spcPct val="0"/>
              </a:spcAft>
              <a:defRPr sz="2400" u="sng" kern="1200">
                <a:solidFill>
                  <a:schemeClr val="tx1"/>
                </a:solidFill>
                <a:latin typeface="Times New Roman" charset="0"/>
                <a:ea typeface="+mn-ea"/>
                <a:cs typeface="+mn-cs"/>
              </a:defRPr>
            </a:lvl4pPr>
            <a:lvl5pPr marL="1828800" algn="ctr" rtl="0" fontAlgn="base">
              <a:spcBef>
                <a:spcPct val="0"/>
              </a:spcBef>
              <a:spcAft>
                <a:spcPct val="0"/>
              </a:spcAft>
              <a:defRPr sz="2400" u="sng" kern="1200">
                <a:solidFill>
                  <a:schemeClr val="tx1"/>
                </a:solidFill>
                <a:latin typeface="Times New Roman" charset="0"/>
                <a:ea typeface="+mn-ea"/>
                <a:cs typeface="+mn-cs"/>
              </a:defRPr>
            </a:lvl5pPr>
            <a:lvl6pPr marL="2286000" algn="l" defTabSz="914400" rtl="0" eaLnBrk="1" latinLnBrk="0" hangingPunct="1">
              <a:defRPr sz="2400" u="sng" kern="1200">
                <a:solidFill>
                  <a:schemeClr val="tx1"/>
                </a:solidFill>
                <a:latin typeface="Times New Roman" charset="0"/>
                <a:ea typeface="+mn-ea"/>
                <a:cs typeface="+mn-cs"/>
              </a:defRPr>
            </a:lvl6pPr>
            <a:lvl7pPr marL="2743200" algn="l" defTabSz="914400" rtl="0" eaLnBrk="1" latinLnBrk="0" hangingPunct="1">
              <a:defRPr sz="2400" u="sng" kern="1200">
                <a:solidFill>
                  <a:schemeClr val="tx1"/>
                </a:solidFill>
                <a:latin typeface="Times New Roman" charset="0"/>
                <a:ea typeface="+mn-ea"/>
                <a:cs typeface="+mn-cs"/>
              </a:defRPr>
            </a:lvl7pPr>
            <a:lvl8pPr marL="3200400" algn="l" defTabSz="914400" rtl="0" eaLnBrk="1" latinLnBrk="0" hangingPunct="1">
              <a:defRPr sz="2400" u="sng" kern="1200">
                <a:solidFill>
                  <a:schemeClr val="tx1"/>
                </a:solidFill>
                <a:latin typeface="Times New Roman" charset="0"/>
                <a:ea typeface="+mn-ea"/>
                <a:cs typeface="+mn-cs"/>
              </a:defRPr>
            </a:lvl8pPr>
            <a:lvl9pPr marL="3657600" algn="l" defTabSz="914400" rtl="0" eaLnBrk="1" latinLnBrk="0" hangingPunct="1">
              <a:defRPr sz="2400" u="sng" kern="1200">
                <a:solidFill>
                  <a:schemeClr val="tx1"/>
                </a:solidFill>
                <a:latin typeface="Times New Roman" charset="0"/>
                <a:ea typeface="+mn-ea"/>
                <a:cs typeface="+mn-cs"/>
              </a:defRPr>
            </a:lvl9pPr>
          </a:lstStyle>
          <a:p>
            <a:r>
              <a:rPr lang="en-US" b="1" u="none" dirty="0"/>
              <a:t>Narrow to</a:t>
            </a:r>
          </a:p>
          <a:p>
            <a:r>
              <a:rPr lang="en-US" b="1" u="none" dirty="0"/>
              <a:t>Broader scope</a:t>
            </a:r>
            <a:endParaRPr lang="en-US" sz="2000" b="1" u="none" dirty="0"/>
          </a:p>
        </p:txBody>
      </p:sp>
      <p:sp>
        <p:nvSpPr>
          <p:cNvPr id="21" name="Rectangle 20"/>
          <p:cNvSpPr/>
          <p:nvPr/>
        </p:nvSpPr>
        <p:spPr>
          <a:xfrm>
            <a:off x="3286116" y="214290"/>
            <a:ext cx="2825453" cy="523220"/>
          </a:xfrm>
          <a:prstGeom prst="rect">
            <a:avLst/>
          </a:prstGeom>
        </p:spPr>
        <p:txBody>
          <a:bodyPr wrap="none">
            <a:spAutoFit/>
          </a:bodyPr>
          <a:lstStyle/>
          <a:p>
            <a:r>
              <a:rPr lang="en-US" sz="2800" b="1" u="sng" dirty="0" smtClean="0">
                <a:latin typeface="Times New Roman" pitchFamily="18" charset="0"/>
                <a:ea typeface="Calibri" pitchFamily="34" charset="0"/>
                <a:cs typeface="Times New Roman" pitchFamily="18" charset="0"/>
              </a:rPr>
              <a:t>Levels of Testing </a:t>
            </a:r>
            <a:endParaRPr 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0" y="-71462"/>
            <a:ext cx="9144000" cy="1143000"/>
          </a:xfrm>
        </p:spPr>
        <p:txBody>
          <a:bodyPr>
            <a:normAutofit fontScale="90000"/>
          </a:bodyPr>
          <a:lstStyle/>
          <a:p>
            <a:pPr eaLnBrk="1" hangingPunct="1"/>
            <a:r>
              <a:rPr lang="en-US" b="1" dirty="0" smtClean="0">
                <a:latin typeface="Times New Roman" pitchFamily="18" charset="0"/>
                <a:cs typeface="Times New Roman" pitchFamily="18" charset="0"/>
              </a:rPr>
              <a:t>1.Testing Techniques(for Unit Testing)</a:t>
            </a:r>
          </a:p>
        </p:txBody>
      </p:sp>
      <p:sp>
        <p:nvSpPr>
          <p:cNvPr id="24580" name="Rectangle 3"/>
          <p:cNvSpPr>
            <a:spLocks noGrp="1" noChangeArrowheads="1"/>
          </p:cNvSpPr>
          <p:nvPr>
            <p:ph type="body" idx="1"/>
          </p:nvPr>
        </p:nvSpPr>
        <p:spPr>
          <a:xfrm>
            <a:off x="142844" y="714356"/>
            <a:ext cx="9001156" cy="4114800"/>
          </a:xfrm>
        </p:spPr>
        <p:txBody>
          <a:bodyPr>
            <a:noAutofit/>
          </a:bodyPr>
          <a:lstStyle/>
          <a:p>
            <a:pPr algn="just" eaLnBrk="1" hangingPunct="1">
              <a:lnSpc>
                <a:spcPct val="90000"/>
              </a:lnSpc>
            </a:pPr>
            <a:r>
              <a:rPr lang="en-US" b="1" u="sng" dirty="0" smtClean="0">
                <a:latin typeface="Times New Roman" pitchFamily="18" charset="0"/>
                <a:cs typeface="Times New Roman" pitchFamily="18" charset="0"/>
              </a:rPr>
              <a:t>White-box testing</a:t>
            </a:r>
          </a:p>
          <a:p>
            <a:pPr lvl="1" algn="just" eaLnBrk="1" hangingPunct="1">
              <a:lnSpc>
                <a:spcPct val="90000"/>
              </a:lnSpc>
            </a:pPr>
            <a:r>
              <a:rPr lang="en-US" b="1" dirty="0" smtClean="0">
                <a:latin typeface="Times New Roman" pitchFamily="18" charset="0"/>
                <a:cs typeface="Times New Roman" pitchFamily="18" charset="0"/>
              </a:rPr>
              <a:t>Knowing the internal workings of a product, test that all internal operations are performed according to specifications</a:t>
            </a:r>
          </a:p>
          <a:p>
            <a:pPr lvl="1" algn="just" eaLnBrk="1" hangingPunct="1">
              <a:lnSpc>
                <a:spcPct val="90000"/>
              </a:lnSpc>
            </a:pPr>
            <a:r>
              <a:rPr lang="en-US" b="1" dirty="0" smtClean="0">
                <a:latin typeface="Times New Roman" pitchFamily="18" charset="0"/>
                <a:cs typeface="Times New Roman" pitchFamily="18" charset="0"/>
              </a:rPr>
              <a:t>Logical paths through the software are tested</a:t>
            </a:r>
          </a:p>
          <a:p>
            <a:pPr lvl="1" algn="just" eaLnBrk="1" hangingPunct="1">
              <a:lnSpc>
                <a:spcPct val="90000"/>
              </a:lnSpc>
            </a:pPr>
            <a:r>
              <a:rPr lang="en-US" b="1" dirty="0" smtClean="0">
                <a:latin typeface="Times New Roman" pitchFamily="18" charset="0"/>
                <a:cs typeface="Times New Roman" pitchFamily="18" charset="0"/>
              </a:rPr>
              <a:t>Test cases exercise specific sets of conditions and loops</a:t>
            </a:r>
          </a:p>
          <a:p>
            <a:pPr algn="just">
              <a:lnSpc>
                <a:spcPct val="90000"/>
              </a:lnSpc>
            </a:pPr>
            <a:r>
              <a:rPr lang="en-US" b="1" u="sng" dirty="0" smtClean="0">
                <a:latin typeface="Times New Roman" pitchFamily="18" charset="0"/>
                <a:cs typeface="Times New Roman" pitchFamily="18" charset="0"/>
              </a:rPr>
              <a:t>Black-box testing</a:t>
            </a:r>
          </a:p>
          <a:p>
            <a:pPr lvl="1" algn="just">
              <a:lnSpc>
                <a:spcPct val="90000"/>
              </a:lnSpc>
            </a:pPr>
            <a:r>
              <a:rPr lang="en-US" b="1" dirty="0" smtClean="0">
                <a:latin typeface="Times New Roman" pitchFamily="18" charset="0"/>
                <a:cs typeface="Times New Roman" pitchFamily="18" charset="0"/>
              </a:rPr>
              <a:t>test to see if that function is fully operational and error free</a:t>
            </a:r>
          </a:p>
          <a:p>
            <a:pPr lvl="1" algn="just">
              <a:lnSpc>
                <a:spcPct val="90000"/>
              </a:lnSpc>
            </a:pPr>
            <a:r>
              <a:rPr lang="en-US" b="1" dirty="0" smtClean="0">
                <a:latin typeface="Times New Roman" pitchFamily="18" charset="0"/>
                <a:cs typeface="Times New Roman" pitchFamily="18" charset="0"/>
              </a:rPr>
              <a:t>Includes tests that are conducted at the software interface</a:t>
            </a:r>
          </a:p>
          <a:p>
            <a:pPr lvl="1" algn="just">
              <a:lnSpc>
                <a:spcPct val="90000"/>
              </a:lnSpc>
            </a:pPr>
            <a:r>
              <a:rPr lang="en-US" b="1" dirty="0" smtClean="0">
                <a:latin typeface="Times New Roman" pitchFamily="18" charset="0"/>
                <a:cs typeface="Times New Roman" pitchFamily="18" charset="0"/>
              </a:rPr>
              <a:t>Not concerned with internal logical structure of the software </a:t>
            </a:r>
          </a:p>
          <a:p>
            <a:pPr lvl="1" algn="just" eaLnBrk="1" hangingPunct="1">
              <a:lnSpc>
                <a:spcPct val="90000"/>
              </a:lnSpc>
              <a:buNone/>
            </a:pPr>
            <a:endParaRPr lang="en-US" b="1" dirty="0" smtClean="0">
              <a:latin typeface="Times New Roman" pitchFamily="18" charset="0"/>
              <a:cs typeface="Times New Roman" pitchFamily="18" charset="0"/>
            </a:endParaRPr>
          </a:p>
        </p:txBody>
      </p:sp>
      <p:sp>
        <p:nvSpPr>
          <p:cNvPr id="5" name="TextBox 4"/>
          <p:cNvSpPr txBox="1"/>
          <p:nvPr/>
        </p:nvSpPr>
        <p:spPr>
          <a:xfrm>
            <a:off x="3643306" y="-71462"/>
            <a:ext cx="2214578" cy="461665"/>
          </a:xfrm>
          <a:prstGeom prst="rect">
            <a:avLst/>
          </a:prstGeom>
          <a:noFill/>
        </p:spPr>
        <p:txBody>
          <a:bodyPr wrap="square" rtlCol="0">
            <a:spAutoFit/>
          </a:bodyPr>
          <a:lstStyle/>
          <a:p>
            <a:r>
              <a:rPr lang="en-US" sz="2400" b="1" dirty="0" smtClean="0"/>
              <a:t>LECTURE   -  4</a:t>
            </a:r>
            <a:endParaRPr lang="en-IN" sz="2400" b="1" dirty="0"/>
          </a:p>
        </p:txBody>
      </p:sp>
      <p:sp>
        <p:nvSpPr>
          <p:cNvPr id="6" name="Footer Placeholder 5"/>
          <p:cNvSpPr>
            <a:spLocks noGrp="1"/>
          </p:cNvSpPr>
          <p:nvPr>
            <p:ph type="ftr" sz="quarter" idx="11"/>
          </p:nvPr>
        </p:nvSpPr>
        <p:spPr/>
        <p:txBody>
          <a:bodyPr/>
          <a:lstStyle/>
          <a:p>
            <a:r>
              <a:rPr lang="en-IN" smtClean="0"/>
              <a:t>Prof. Anjana Verma</a:t>
            </a:r>
            <a:endParaRPr lang="en-IN"/>
          </a:p>
        </p:txBody>
      </p:sp>
      <p:sp>
        <p:nvSpPr>
          <p:cNvPr id="7" name="Slide Number Placeholder 6"/>
          <p:cNvSpPr>
            <a:spLocks noGrp="1"/>
          </p:cNvSpPr>
          <p:nvPr>
            <p:ph type="sldNum" sz="quarter" idx="12"/>
          </p:nvPr>
        </p:nvSpPr>
        <p:spPr/>
        <p:txBody>
          <a:bodyPr/>
          <a:lstStyle/>
          <a:p>
            <a:fld id="{49549E9F-9F6E-4CAF-8BBD-34C43FD5C9E9}" type="slidenum">
              <a:rPr lang="en-IN" smtClean="0"/>
              <a:pPr/>
              <a:t>21</a:t>
            </a:fld>
            <a:endParaRPr lang="en-IN"/>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685800" y="500050"/>
            <a:ext cx="7772400" cy="1143000"/>
          </a:xfrm>
        </p:spPr>
        <p:txBody>
          <a:bodyPr>
            <a:noAutofit/>
          </a:bodyPr>
          <a:lstStyle/>
          <a:p>
            <a:r>
              <a:rPr lang="en-US" sz="3600" b="1" dirty="0" smtClean="0">
                <a:latin typeface="Times New Roman" pitchFamily="18" charset="0"/>
                <a:cs typeface="Times New Roman" pitchFamily="18" charset="0"/>
              </a:rPr>
              <a:t>White-box Testing</a:t>
            </a:r>
            <a:br>
              <a:rPr lang="en-US" sz="3600" b="1" dirty="0" smtClean="0">
                <a:latin typeface="Times New Roman" pitchFamily="18" charset="0"/>
                <a:cs typeface="Times New Roman" pitchFamily="18" charset="0"/>
              </a:rPr>
            </a:br>
            <a:endParaRPr lang="en-US" sz="3600" b="1" dirty="0" smtClean="0">
              <a:latin typeface="Times New Roman" pitchFamily="18" charset="0"/>
              <a:cs typeface="Times New Roman" pitchFamily="18" charset="0"/>
            </a:endParaRPr>
          </a:p>
        </p:txBody>
      </p:sp>
      <p:sp>
        <p:nvSpPr>
          <p:cNvPr id="27652" name="Rectangle 3"/>
          <p:cNvSpPr>
            <a:spLocks noGrp="1" noChangeArrowheads="1"/>
          </p:cNvSpPr>
          <p:nvPr>
            <p:ph type="body" idx="1"/>
          </p:nvPr>
        </p:nvSpPr>
        <p:spPr>
          <a:xfrm>
            <a:off x="71438" y="857232"/>
            <a:ext cx="8929718" cy="4071966"/>
          </a:xfrm>
        </p:spPr>
        <p:txBody>
          <a:bodyPr>
            <a:noAutofit/>
          </a:bodyPr>
          <a:lstStyle/>
          <a:p>
            <a:pPr algn="just"/>
            <a:endParaRPr lang="en-US" b="1" u="sng" dirty="0" smtClean="0">
              <a:latin typeface="Times New Roman" pitchFamily="18" charset="0"/>
              <a:cs typeface="Times New Roman" pitchFamily="18" charset="0"/>
            </a:endParaRPr>
          </a:p>
          <a:p>
            <a:pPr algn="just"/>
            <a:r>
              <a:rPr lang="en-IN" b="1" dirty="0" smtClean="0">
                <a:latin typeface="Times New Roman" pitchFamily="18" charset="0"/>
                <a:cs typeface="Times New Roman" pitchFamily="18" charset="0"/>
              </a:rPr>
              <a:t>White Box Testing is a software testing method in which the internal structure/design/ implementation of the item being tested is known to the tester.</a:t>
            </a:r>
          </a:p>
          <a:p>
            <a:pPr algn="just">
              <a:buNone/>
            </a:pPr>
            <a:r>
              <a:rPr lang="en-US" b="1" u="sng" dirty="0" smtClean="0">
                <a:latin typeface="Times New Roman" pitchFamily="18" charset="0"/>
                <a:cs typeface="Times New Roman" pitchFamily="18" charset="0"/>
              </a:rPr>
              <a:t>1.Basis Path Testing </a:t>
            </a:r>
          </a:p>
          <a:p>
            <a:pPr algn="just" eaLnBrk="1" hangingPunct="1"/>
            <a:r>
              <a:rPr lang="en-US" b="1" dirty="0" smtClean="0">
                <a:latin typeface="Times New Roman" pitchFamily="18" charset="0"/>
                <a:cs typeface="Times New Roman" pitchFamily="18" charset="0"/>
              </a:rPr>
              <a:t>Test cases derived to exercise the basis set are guaranteed to execute </a:t>
            </a:r>
            <a:r>
              <a:rPr lang="en-US" b="1" u="sng" dirty="0" smtClean="0">
                <a:latin typeface="Times New Roman" pitchFamily="18" charset="0"/>
                <a:cs typeface="Times New Roman" pitchFamily="18" charset="0"/>
              </a:rPr>
              <a:t>every statement</a:t>
            </a:r>
            <a:r>
              <a:rPr lang="en-US" b="1" dirty="0" smtClean="0">
                <a:latin typeface="Times New Roman" pitchFamily="18" charset="0"/>
                <a:cs typeface="Times New Roman" pitchFamily="18" charset="0"/>
              </a:rPr>
              <a:t> in the program </a:t>
            </a:r>
            <a:r>
              <a:rPr lang="en-US" b="1" u="sng" dirty="0" smtClean="0">
                <a:latin typeface="Times New Roman" pitchFamily="18" charset="0"/>
                <a:cs typeface="Times New Roman" pitchFamily="18" charset="0"/>
              </a:rPr>
              <a:t>at least one time</a:t>
            </a:r>
            <a:r>
              <a:rPr lang="en-US" b="1" dirty="0" smtClean="0">
                <a:latin typeface="Times New Roman" pitchFamily="18" charset="0"/>
                <a:cs typeface="Times New Roman" pitchFamily="18" charset="0"/>
              </a:rPr>
              <a:t> during testing</a:t>
            </a: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22</a:t>
            </a:fld>
            <a:endParaRPr lang="en-IN"/>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304800" y="381000"/>
            <a:ext cx="8458200" cy="1143000"/>
          </a:xfrm>
        </p:spPr>
        <p:txBody>
          <a:bodyPr>
            <a:normAutofit/>
          </a:bodyPr>
          <a:lstStyle/>
          <a:p>
            <a:pPr eaLnBrk="1" hangingPunct="1"/>
            <a:r>
              <a:rPr lang="en-US" sz="3600" b="1" dirty="0" smtClean="0">
                <a:latin typeface="Times New Roman" pitchFamily="18" charset="0"/>
                <a:cs typeface="Times New Roman" pitchFamily="18" charset="0"/>
              </a:rPr>
              <a:t>2. </a:t>
            </a:r>
            <a:r>
              <a:rPr lang="en-US" sz="3600" b="1" u="sng" dirty="0" smtClean="0">
                <a:latin typeface="Times New Roman" pitchFamily="18" charset="0"/>
                <a:cs typeface="Times New Roman" pitchFamily="18" charset="0"/>
              </a:rPr>
              <a:t>Deriving the Basis Set and Test Cases</a:t>
            </a:r>
          </a:p>
        </p:txBody>
      </p:sp>
      <p:sp>
        <p:nvSpPr>
          <p:cNvPr id="32772" name="Rectangle 3"/>
          <p:cNvSpPr>
            <a:spLocks noGrp="1" noChangeArrowheads="1"/>
          </p:cNvSpPr>
          <p:nvPr>
            <p:ph type="body" idx="1"/>
          </p:nvPr>
        </p:nvSpPr>
        <p:spPr>
          <a:xfrm>
            <a:off x="457200" y="1500174"/>
            <a:ext cx="8229600" cy="4525963"/>
          </a:xfrm>
        </p:spPr>
        <p:txBody>
          <a:bodyPr>
            <a:normAutofit/>
          </a:bodyPr>
          <a:lstStyle/>
          <a:p>
            <a:pPr marL="609600" indent="-609600" algn="just">
              <a:buFont typeface="+mj-lt"/>
              <a:buAutoNum type="arabicPeriod"/>
            </a:pPr>
            <a:r>
              <a:rPr lang="en-US" sz="2800" b="1" dirty="0" smtClean="0">
                <a:latin typeface="Times New Roman" pitchFamily="18" charset="0"/>
                <a:cs typeface="Times New Roman" pitchFamily="18" charset="0"/>
              </a:rPr>
              <a:t>Using the design or code as a foundation, draw a corresponding flow graph</a:t>
            </a:r>
          </a:p>
          <a:p>
            <a:pPr marL="609600" indent="-609600" algn="just">
              <a:buFont typeface="+mj-lt"/>
              <a:buAutoNum type="arabicPeriod"/>
            </a:pPr>
            <a:r>
              <a:rPr lang="en-US" sz="2800" b="1" dirty="0" smtClean="0">
                <a:latin typeface="Times New Roman" pitchFamily="18" charset="0"/>
                <a:cs typeface="Times New Roman" pitchFamily="18" charset="0"/>
              </a:rPr>
              <a:t>Determine the </a:t>
            </a:r>
            <a:r>
              <a:rPr lang="en-US" sz="2800" b="1" dirty="0" err="1" smtClean="0">
                <a:latin typeface="Times New Roman" pitchFamily="18" charset="0"/>
                <a:cs typeface="Times New Roman" pitchFamily="18" charset="0"/>
              </a:rPr>
              <a:t>cyclomatic</a:t>
            </a:r>
            <a:r>
              <a:rPr lang="en-US" sz="2800" b="1" dirty="0" smtClean="0">
                <a:latin typeface="Times New Roman" pitchFamily="18" charset="0"/>
                <a:cs typeface="Times New Roman" pitchFamily="18" charset="0"/>
              </a:rPr>
              <a:t> complexity of the resultant flow graph</a:t>
            </a:r>
          </a:p>
          <a:p>
            <a:pPr marL="609600" indent="-609600" algn="just">
              <a:buFont typeface="+mj-lt"/>
              <a:buAutoNum type="arabicPeriod"/>
            </a:pPr>
            <a:r>
              <a:rPr lang="en-US" sz="2800" b="1" dirty="0" smtClean="0">
                <a:latin typeface="Times New Roman" pitchFamily="18" charset="0"/>
                <a:cs typeface="Times New Roman" pitchFamily="18" charset="0"/>
              </a:rPr>
              <a:t>Determine a basis set of linearly independent paths</a:t>
            </a:r>
          </a:p>
          <a:p>
            <a:pPr marL="609600" indent="-609600" algn="just">
              <a:buFont typeface="+mj-lt"/>
              <a:buAutoNum type="arabicPeriod"/>
            </a:pPr>
            <a:r>
              <a:rPr lang="en-US" sz="2800" b="1" dirty="0" smtClean="0">
                <a:latin typeface="Times New Roman" pitchFamily="18" charset="0"/>
                <a:cs typeface="Times New Roman" pitchFamily="18" charset="0"/>
              </a:rPr>
              <a:t>Prepare test cases that will force execution of each path in the basis set</a:t>
            </a:r>
          </a:p>
        </p:txBody>
      </p:sp>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23</a:t>
            </a:fld>
            <a:endParaRPr lang="en-IN"/>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685800" y="-285776"/>
            <a:ext cx="7772400" cy="1143000"/>
          </a:xfrm>
        </p:spPr>
        <p:txBody>
          <a:bodyPr>
            <a:normAutofit/>
          </a:bodyPr>
          <a:lstStyle/>
          <a:p>
            <a:pPr eaLnBrk="1" hangingPunct="1"/>
            <a:r>
              <a:rPr lang="en-US" sz="4000" b="1" dirty="0" smtClean="0">
                <a:latin typeface="Times New Roman" pitchFamily="18" charset="0"/>
                <a:cs typeface="Times New Roman" pitchFamily="18" charset="0"/>
              </a:rPr>
              <a:t>Flow Graph Notation</a:t>
            </a:r>
          </a:p>
        </p:txBody>
      </p:sp>
      <p:sp>
        <p:nvSpPr>
          <p:cNvPr id="28676" name="Rectangle 3"/>
          <p:cNvSpPr>
            <a:spLocks noGrp="1" noChangeArrowheads="1"/>
          </p:cNvSpPr>
          <p:nvPr>
            <p:ph type="body" idx="1"/>
          </p:nvPr>
        </p:nvSpPr>
        <p:spPr>
          <a:xfrm>
            <a:off x="-71470" y="600084"/>
            <a:ext cx="9144000" cy="4114800"/>
          </a:xfrm>
        </p:spPr>
        <p:txBody>
          <a:bodyPr>
            <a:noAutofit/>
          </a:bodyPr>
          <a:lstStyle/>
          <a:p>
            <a:pPr algn="just" eaLnBrk="1" hangingPunct="1">
              <a:spcBef>
                <a:spcPts val="0"/>
              </a:spcBef>
            </a:pPr>
            <a:r>
              <a:rPr lang="en-US" sz="3000" b="1" dirty="0" smtClean="0">
                <a:latin typeface="Times New Roman" pitchFamily="18" charset="0"/>
                <a:cs typeface="Times New Roman" pitchFamily="18" charset="0"/>
              </a:rPr>
              <a:t>A circle in a graph represents a </a:t>
            </a:r>
            <a:r>
              <a:rPr lang="en-US" sz="3000" b="1" u="sng" dirty="0" smtClean="0">
                <a:latin typeface="Times New Roman" pitchFamily="18" charset="0"/>
                <a:cs typeface="Times New Roman" pitchFamily="18" charset="0"/>
              </a:rPr>
              <a:t>node</a:t>
            </a:r>
            <a:r>
              <a:rPr lang="en-US" sz="3000" b="1" dirty="0" smtClean="0">
                <a:latin typeface="Times New Roman" pitchFamily="18" charset="0"/>
                <a:cs typeface="Times New Roman" pitchFamily="18" charset="0"/>
              </a:rPr>
              <a:t>, which stands for a </a:t>
            </a:r>
            <a:r>
              <a:rPr lang="en-US" sz="3000" b="1" u="sng" dirty="0" smtClean="0">
                <a:latin typeface="Times New Roman" pitchFamily="18" charset="0"/>
                <a:cs typeface="Times New Roman" pitchFamily="18" charset="0"/>
              </a:rPr>
              <a:t>sequence</a:t>
            </a:r>
            <a:r>
              <a:rPr lang="en-US" sz="3000" b="1" dirty="0" smtClean="0">
                <a:latin typeface="Times New Roman" pitchFamily="18" charset="0"/>
                <a:cs typeface="Times New Roman" pitchFamily="18" charset="0"/>
              </a:rPr>
              <a:t> of one or more procedural statements</a:t>
            </a:r>
          </a:p>
          <a:p>
            <a:pPr algn="just">
              <a:spcBef>
                <a:spcPts val="0"/>
              </a:spcBef>
            </a:pPr>
            <a:r>
              <a:rPr lang="en-US" sz="3000" b="1" dirty="0" smtClean="0">
                <a:latin typeface="Times New Roman" pitchFamily="18" charset="0"/>
                <a:cs typeface="Times New Roman" pitchFamily="18" charset="0"/>
              </a:rPr>
              <a:t>A node containing a simple conditional expression is referred to as a </a:t>
            </a:r>
            <a:r>
              <a:rPr lang="en-US" sz="3000" b="1" u="sng" dirty="0" smtClean="0">
                <a:latin typeface="Times New Roman" pitchFamily="18" charset="0"/>
                <a:cs typeface="Times New Roman" pitchFamily="18" charset="0"/>
              </a:rPr>
              <a:t>predicate node and </a:t>
            </a:r>
            <a:r>
              <a:rPr lang="en-US" sz="3000" b="1" dirty="0" smtClean="0">
                <a:latin typeface="Times New Roman" pitchFamily="18" charset="0"/>
                <a:cs typeface="Times New Roman" pitchFamily="18" charset="0"/>
              </a:rPr>
              <a:t>node has </a:t>
            </a:r>
            <a:r>
              <a:rPr lang="en-US" sz="3000" b="1" u="sng" dirty="0" smtClean="0">
                <a:latin typeface="Times New Roman" pitchFamily="18" charset="0"/>
                <a:cs typeface="Times New Roman" pitchFamily="18" charset="0"/>
              </a:rPr>
              <a:t>two</a:t>
            </a:r>
            <a:r>
              <a:rPr lang="en-US" sz="3000" b="1" dirty="0" smtClean="0">
                <a:latin typeface="Times New Roman" pitchFamily="18" charset="0"/>
                <a:cs typeface="Times New Roman" pitchFamily="18" charset="0"/>
              </a:rPr>
              <a:t> edges leading out from it (True and False)</a:t>
            </a:r>
            <a:endParaRPr lang="en-US" sz="3000" b="1" u="sng" dirty="0" smtClean="0">
              <a:latin typeface="Times New Roman" pitchFamily="18" charset="0"/>
              <a:cs typeface="Times New Roman" pitchFamily="18" charset="0"/>
            </a:endParaRPr>
          </a:p>
          <a:p>
            <a:pPr algn="just" eaLnBrk="1" hangingPunct="1">
              <a:spcBef>
                <a:spcPts val="0"/>
              </a:spcBef>
            </a:pPr>
            <a:r>
              <a:rPr lang="en-US" sz="3000" b="1" dirty="0" smtClean="0">
                <a:latin typeface="Times New Roman" pitchFamily="18" charset="0"/>
                <a:cs typeface="Times New Roman" pitchFamily="18" charset="0"/>
              </a:rPr>
              <a:t>An </a:t>
            </a:r>
            <a:r>
              <a:rPr lang="en-US" sz="3000" b="1" u="sng" dirty="0" smtClean="0">
                <a:latin typeface="Times New Roman" pitchFamily="18" charset="0"/>
                <a:cs typeface="Times New Roman" pitchFamily="18" charset="0"/>
              </a:rPr>
              <a:t>edge</a:t>
            </a:r>
            <a:r>
              <a:rPr lang="en-US" sz="3000" b="1" dirty="0" smtClean="0">
                <a:latin typeface="Times New Roman" pitchFamily="18" charset="0"/>
                <a:cs typeface="Times New Roman" pitchFamily="18" charset="0"/>
              </a:rPr>
              <a:t>, or a link, is a an arrow representing flow of control in a specific direction</a:t>
            </a:r>
          </a:p>
          <a:p>
            <a:pPr lvl="1" algn="just" eaLnBrk="1" hangingPunct="1">
              <a:spcBef>
                <a:spcPts val="0"/>
              </a:spcBef>
            </a:pPr>
            <a:r>
              <a:rPr lang="en-US" sz="3000" b="1" dirty="0" smtClean="0">
                <a:latin typeface="Times New Roman" pitchFamily="18" charset="0"/>
                <a:cs typeface="Times New Roman" pitchFamily="18" charset="0"/>
              </a:rPr>
              <a:t>An edge does not intersect or cross over another edge</a:t>
            </a:r>
          </a:p>
          <a:p>
            <a:pPr algn="just" eaLnBrk="1" hangingPunct="1">
              <a:spcBef>
                <a:spcPts val="0"/>
              </a:spcBef>
            </a:pPr>
            <a:r>
              <a:rPr lang="en-US" sz="3000" b="1" dirty="0" smtClean="0">
                <a:latin typeface="Times New Roman" pitchFamily="18" charset="0"/>
                <a:cs typeface="Times New Roman" pitchFamily="18" charset="0"/>
              </a:rPr>
              <a:t>Areas bounded by a set of edges and nodes are called </a:t>
            </a:r>
            <a:r>
              <a:rPr lang="en-US" sz="3000" b="1" u="sng" dirty="0" smtClean="0">
                <a:latin typeface="Times New Roman" pitchFamily="18" charset="0"/>
                <a:cs typeface="Times New Roman" pitchFamily="18" charset="0"/>
              </a:rPr>
              <a:t>regions</a:t>
            </a:r>
          </a:p>
          <a:p>
            <a:pPr algn="just" eaLnBrk="1" hangingPunct="1">
              <a:spcBef>
                <a:spcPts val="0"/>
              </a:spcBef>
            </a:pPr>
            <a:r>
              <a:rPr lang="en-US" sz="3000" b="1" dirty="0" smtClean="0">
                <a:latin typeface="Times New Roman" pitchFamily="18" charset="0"/>
                <a:cs typeface="Times New Roman" pitchFamily="18" charset="0"/>
              </a:rPr>
              <a:t>When counting regions, include the area outside the graph as a region, too</a:t>
            </a:r>
          </a:p>
          <a:p>
            <a:pPr algn="just" eaLnBrk="1" hangingPunct="1">
              <a:spcBef>
                <a:spcPts val="0"/>
              </a:spcBef>
            </a:pPr>
            <a:endParaRPr lang="en-US" b="1" dirty="0" smtClean="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24</a:t>
            </a:fld>
            <a:endParaRPr lang="en-IN"/>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838200" y="0"/>
            <a:ext cx="7772400" cy="990600"/>
          </a:xfrm>
        </p:spPr>
        <p:txBody>
          <a:bodyPr/>
          <a:lstStyle/>
          <a:p>
            <a:pPr eaLnBrk="1" hangingPunct="1"/>
            <a:r>
              <a:rPr lang="en-US" dirty="0" smtClean="0">
                <a:latin typeface="Times New Roman" pitchFamily="18" charset="0"/>
                <a:cs typeface="Times New Roman" pitchFamily="18" charset="0"/>
              </a:rPr>
              <a:t>Flow Graph Example</a:t>
            </a:r>
          </a:p>
        </p:txBody>
      </p:sp>
      <p:sp>
        <p:nvSpPr>
          <p:cNvPr id="29700" name="AutoShape 3"/>
          <p:cNvSpPr>
            <a:spLocks noChangeArrowheads="1"/>
          </p:cNvSpPr>
          <p:nvPr/>
        </p:nvSpPr>
        <p:spPr bwMode="auto">
          <a:xfrm>
            <a:off x="1905000" y="1905000"/>
            <a:ext cx="838200" cy="365125"/>
          </a:xfrm>
          <a:prstGeom prst="flowChartDecision">
            <a:avLst/>
          </a:prstGeom>
          <a:noFill/>
          <a:ln w="9525">
            <a:solidFill>
              <a:schemeClr val="tx1"/>
            </a:solidFill>
            <a:miter lim="800000"/>
            <a:headEnd/>
            <a:tailEnd/>
          </a:ln>
        </p:spPr>
        <p:txBody>
          <a:bodyPr wrap="none" anchor="ctr"/>
          <a:lstStyle/>
          <a:p>
            <a:r>
              <a:rPr lang="en-US" sz="2000" b="1" i="0" u="none" dirty="0"/>
              <a:t>1</a:t>
            </a:r>
          </a:p>
        </p:txBody>
      </p:sp>
      <p:sp>
        <p:nvSpPr>
          <p:cNvPr id="29701" name="Rectangle 4"/>
          <p:cNvSpPr>
            <a:spLocks noChangeArrowheads="1"/>
          </p:cNvSpPr>
          <p:nvPr/>
        </p:nvSpPr>
        <p:spPr bwMode="auto">
          <a:xfrm>
            <a:off x="1905000" y="2667000"/>
            <a:ext cx="838200" cy="304800"/>
          </a:xfrm>
          <a:prstGeom prst="rect">
            <a:avLst/>
          </a:prstGeom>
          <a:noFill/>
          <a:ln w="9525">
            <a:solidFill>
              <a:schemeClr val="tx1"/>
            </a:solidFill>
            <a:miter lim="800000"/>
            <a:headEnd/>
            <a:tailEnd/>
          </a:ln>
        </p:spPr>
        <p:txBody>
          <a:bodyPr wrap="none" anchor="ctr"/>
          <a:lstStyle/>
          <a:p>
            <a:pPr algn="ctr"/>
            <a:r>
              <a:rPr lang="en-US" sz="2000" b="1" i="0" u="none" dirty="0"/>
              <a:t>2</a:t>
            </a:r>
          </a:p>
        </p:txBody>
      </p:sp>
      <p:sp>
        <p:nvSpPr>
          <p:cNvPr id="29702" name="Oval 5"/>
          <p:cNvSpPr>
            <a:spLocks noChangeArrowheads="1"/>
          </p:cNvSpPr>
          <p:nvPr/>
        </p:nvSpPr>
        <p:spPr bwMode="auto">
          <a:xfrm>
            <a:off x="2133600" y="1219200"/>
            <a:ext cx="457200" cy="365125"/>
          </a:xfrm>
          <a:prstGeom prst="ellipse">
            <a:avLst/>
          </a:prstGeom>
          <a:noFill/>
          <a:ln w="9525">
            <a:solidFill>
              <a:schemeClr val="tx1"/>
            </a:solidFill>
            <a:round/>
            <a:headEnd/>
            <a:tailEnd/>
          </a:ln>
        </p:spPr>
        <p:txBody>
          <a:bodyPr wrap="none" anchor="ctr"/>
          <a:lstStyle/>
          <a:p>
            <a:r>
              <a:rPr lang="en-US" sz="2000" i="0" u="none" dirty="0"/>
              <a:t> </a:t>
            </a:r>
            <a:r>
              <a:rPr lang="en-US" sz="2000" b="1" i="0" u="none" dirty="0"/>
              <a:t>0</a:t>
            </a:r>
          </a:p>
        </p:txBody>
      </p:sp>
      <p:sp>
        <p:nvSpPr>
          <p:cNvPr id="29703" name="AutoShape 6"/>
          <p:cNvSpPr>
            <a:spLocks noChangeArrowheads="1"/>
          </p:cNvSpPr>
          <p:nvPr/>
        </p:nvSpPr>
        <p:spPr bwMode="auto">
          <a:xfrm>
            <a:off x="1905000" y="3216275"/>
            <a:ext cx="838200" cy="365125"/>
          </a:xfrm>
          <a:prstGeom prst="flowChartDecision">
            <a:avLst/>
          </a:prstGeom>
          <a:noFill/>
          <a:ln w="9525">
            <a:solidFill>
              <a:schemeClr val="tx1"/>
            </a:solidFill>
            <a:miter lim="800000"/>
            <a:headEnd/>
            <a:tailEnd/>
          </a:ln>
        </p:spPr>
        <p:txBody>
          <a:bodyPr wrap="none" anchor="ctr"/>
          <a:lstStyle/>
          <a:p>
            <a:r>
              <a:rPr lang="en-US" sz="2000" b="1" i="0" u="none" dirty="0"/>
              <a:t>3</a:t>
            </a:r>
          </a:p>
        </p:txBody>
      </p:sp>
      <p:sp>
        <p:nvSpPr>
          <p:cNvPr id="29704" name="Rectangle 7"/>
          <p:cNvSpPr>
            <a:spLocks noChangeArrowheads="1"/>
          </p:cNvSpPr>
          <p:nvPr/>
        </p:nvSpPr>
        <p:spPr bwMode="auto">
          <a:xfrm>
            <a:off x="3048000" y="4038600"/>
            <a:ext cx="838200" cy="304800"/>
          </a:xfrm>
          <a:prstGeom prst="rect">
            <a:avLst/>
          </a:prstGeom>
          <a:noFill/>
          <a:ln w="9525">
            <a:solidFill>
              <a:schemeClr val="tx1"/>
            </a:solidFill>
            <a:miter lim="800000"/>
            <a:headEnd/>
            <a:tailEnd/>
          </a:ln>
        </p:spPr>
        <p:txBody>
          <a:bodyPr wrap="none" anchor="ctr"/>
          <a:lstStyle/>
          <a:p>
            <a:pPr algn="ctr"/>
            <a:r>
              <a:rPr lang="en-US" sz="2000" b="1" i="0" u="none" dirty="0"/>
              <a:t>4</a:t>
            </a:r>
          </a:p>
        </p:txBody>
      </p:sp>
      <p:sp>
        <p:nvSpPr>
          <p:cNvPr id="29705" name="Rectangle 8"/>
          <p:cNvSpPr>
            <a:spLocks noChangeArrowheads="1"/>
          </p:cNvSpPr>
          <p:nvPr/>
        </p:nvSpPr>
        <p:spPr bwMode="auto">
          <a:xfrm>
            <a:off x="3048000" y="4800600"/>
            <a:ext cx="838200" cy="304800"/>
          </a:xfrm>
          <a:prstGeom prst="rect">
            <a:avLst/>
          </a:prstGeom>
          <a:noFill/>
          <a:ln w="9525">
            <a:solidFill>
              <a:schemeClr val="tx1"/>
            </a:solidFill>
            <a:miter lim="800000"/>
            <a:headEnd/>
            <a:tailEnd/>
          </a:ln>
        </p:spPr>
        <p:txBody>
          <a:bodyPr wrap="none" anchor="ctr"/>
          <a:lstStyle/>
          <a:p>
            <a:pPr algn="ctr"/>
            <a:r>
              <a:rPr lang="en-US" sz="2000" b="1" i="0" u="none" dirty="0"/>
              <a:t>5</a:t>
            </a:r>
          </a:p>
        </p:txBody>
      </p:sp>
      <p:sp>
        <p:nvSpPr>
          <p:cNvPr id="29706" name="AutoShape 9"/>
          <p:cNvSpPr>
            <a:spLocks noChangeArrowheads="1"/>
          </p:cNvSpPr>
          <p:nvPr/>
        </p:nvSpPr>
        <p:spPr bwMode="auto">
          <a:xfrm>
            <a:off x="1066800" y="4038600"/>
            <a:ext cx="838200" cy="365125"/>
          </a:xfrm>
          <a:prstGeom prst="flowChartDecision">
            <a:avLst/>
          </a:prstGeom>
          <a:noFill/>
          <a:ln w="9525">
            <a:solidFill>
              <a:schemeClr val="tx1"/>
            </a:solidFill>
            <a:miter lim="800000"/>
            <a:headEnd/>
            <a:tailEnd/>
          </a:ln>
        </p:spPr>
        <p:txBody>
          <a:bodyPr wrap="none" anchor="ctr"/>
          <a:lstStyle/>
          <a:p>
            <a:r>
              <a:rPr lang="en-US" sz="2000" b="1" i="0" u="none" dirty="0"/>
              <a:t>6</a:t>
            </a:r>
          </a:p>
        </p:txBody>
      </p:sp>
      <p:sp>
        <p:nvSpPr>
          <p:cNvPr id="29707" name="Rectangle 10"/>
          <p:cNvSpPr>
            <a:spLocks noChangeArrowheads="1"/>
          </p:cNvSpPr>
          <p:nvPr/>
        </p:nvSpPr>
        <p:spPr bwMode="auto">
          <a:xfrm>
            <a:off x="533400" y="4800600"/>
            <a:ext cx="838200" cy="304800"/>
          </a:xfrm>
          <a:prstGeom prst="rect">
            <a:avLst/>
          </a:prstGeom>
          <a:noFill/>
          <a:ln w="9525">
            <a:solidFill>
              <a:schemeClr val="tx1"/>
            </a:solidFill>
            <a:miter lim="800000"/>
            <a:headEnd/>
            <a:tailEnd/>
          </a:ln>
        </p:spPr>
        <p:txBody>
          <a:bodyPr wrap="none" anchor="ctr"/>
          <a:lstStyle/>
          <a:p>
            <a:pPr algn="ctr"/>
            <a:r>
              <a:rPr lang="en-US" sz="2000" b="1" i="0" u="none" dirty="0"/>
              <a:t>7</a:t>
            </a:r>
          </a:p>
        </p:txBody>
      </p:sp>
      <p:sp>
        <p:nvSpPr>
          <p:cNvPr id="29708" name="Rectangle 11"/>
          <p:cNvSpPr>
            <a:spLocks noChangeArrowheads="1"/>
          </p:cNvSpPr>
          <p:nvPr/>
        </p:nvSpPr>
        <p:spPr bwMode="auto">
          <a:xfrm>
            <a:off x="1752600" y="4800600"/>
            <a:ext cx="838200" cy="304800"/>
          </a:xfrm>
          <a:prstGeom prst="rect">
            <a:avLst/>
          </a:prstGeom>
          <a:noFill/>
          <a:ln w="9525">
            <a:solidFill>
              <a:schemeClr val="tx1"/>
            </a:solidFill>
            <a:miter lim="800000"/>
            <a:headEnd/>
            <a:tailEnd/>
          </a:ln>
        </p:spPr>
        <p:txBody>
          <a:bodyPr wrap="none" anchor="ctr"/>
          <a:lstStyle/>
          <a:p>
            <a:pPr algn="ctr"/>
            <a:r>
              <a:rPr lang="en-US" sz="2000" b="1" i="0" u="none" dirty="0"/>
              <a:t>8</a:t>
            </a:r>
          </a:p>
        </p:txBody>
      </p:sp>
      <p:sp>
        <p:nvSpPr>
          <p:cNvPr id="29709" name="Rectangle 12"/>
          <p:cNvSpPr>
            <a:spLocks noChangeArrowheads="1"/>
          </p:cNvSpPr>
          <p:nvPr/>
        </p:nvSpPr>
        <p:spPr bwMode="auto">
          <a:xfrm>
            <a:off x="1066800" y="5486400"/>
            <a:ext cx="838200" cy="304800"/>
          </a:xfrm>
          <a:prstGeom prst="rect">
            <a:avLst/>
          </a:prstGeom>
          <a:noFill/>
          <a:ln w="9525">
            <a:solidFill>
              <a:schemeClr val="tx1"/>
            </a:solidFill>
            <a:miter lim="800000"/>
            <a:headEnd/>
            <a:tailEnd/>
          </a:ln>
        </p:spPr>
        <p:txBody>
          <a:bodyPr wrap="none" anchor="ctr"/>
          <a:lstStyle/>
          <a:p>
            <a:pPr algn="ctr"/>
            <a:r>
              <a:rPr lang="en-US" sz="2000" b="1" i="0" u="none" dirty="0"/>
              <a:t>9</a:t>
            </a:r>
          </a:p>
        </p:txBody>
      </p:sp>
      <p:sp>
        <p:nvSpPr>
          <p:cNvPr id="29710" name="Rectangle 13"/>
          <p:cNvSpPr>
            <a:spLocks noChangeArrowheads="1"/>
          </p:cNvSpPr>
          <p:nvPr/>
        </p:nvSpPr>
        <p:spPr bwMode="auto">
          <a:xfrm>
            <a:off x="2362200" y="6248400"/>
            <a:ext cx="838200" cy="304800"/>
          </a:xfrm>
          <a:prstGeom prst="rect">
            <a:avLst/>
          </a:prstGeom>
          <a:noFill/>
          <a:ln w="9525">
            <a:solidFill>
              <a:schemeClr val="tx1"/>
            </a:solidFill>
            <a:miter lim="800000"/>
            <a:headEnd/>
            <a:tailEnd/>
          </a:ln>
        </p:spPr>
        <p:txBody>
          <a:bodyPr wrap="none" anchor="ctr"/>
          <a:lstStyle/>
          <a:p>
            <a:pPr algn="ctr"/>
            <a:r>
              <a:rPr lang="en-US" sz="2000" b="1" i="0" u="none" dirty="0"/>
              <a:t>10</a:t>
            </a:r>
          </a:p>
        </p:txBody>
      </p:sp>
      <p:sp>
        <p:nvSpPr>
          <p:cNvPr id="29711" name="Oval 14"/>
          <p:cNvSpPr>
            <a:spLocks noChangeArrowheads="1"/>
          </p:cNvSpPr>
          <p:nvPr/>
        </p:nvSpPr>
        <p:spPr bwMode="auto">
          <a:xfrm>
            <a:off x="76200" y="6096000"/>
            <a:ext cx="457200" cy="365125"/>
          </a:xfrm>
          <a:prstGeom prst="ellipse">
            <a:avLst/>
          </a:prstGeom>
          <a:noFill/>
          <a:ln w="9525">
            <a:solidFill>
              <a:schemeClr val="tx1"/>
            </a:solidFill>
            <a:round/>
            <a:headEnd/>
            <a:tailEnd/>
          </a:ln>
        </p:spPr>
        <p:txBody>
          <a:bodyPr wrap="none" anchor="ctr"/>
          <a:lstStyle/>
          <a:p>
            <a:r>
              <a:rPr lang="en-US" sz="2000" i="0" u="none"/>
              <a:t>11</a:t>
            </a:r>
          </a:p>
        </p:txBody>
      </p:sp>
      <p:sp>
        <p:nvSpPr>
          <p:cNvPr id="29712" name="Line 15"/>
          <p:cNvSpPr>
            <a:spLocks noChangeShapeType="1"/>
          </p:cNvSpPr>
          <p:nvPr/>
        </p:nvSpPr>
        <p:spPr bwMode="auto">
          <a:xfrm>
            <a:off x="2362200" y="1600200"/>
            <a:ext cx="0" cy="304800"/>
          </a:xfrm>
          <a:prstGeom prst="line">
            <a:avLst/>
          </a:prstGeom>
          <a:noFill/>
          <a:ln w="9525">
            <a:solidFill>
              <a:schemeClr val="tx1"/>
            </a:solidFill>
            <a:round/>
            <a:headEnd/>
            <a:tailEnd type="triangle" w="med" len="med"/>
          </a:ln>
        </p:spPr>
        <p:txBody>
          <a:bodyPr/>
          <a:lstStyle/>
          <a:p>
            <a:endParaRPr lang="en-IN"/>
          </a:p>
        </p:txBody>
      </p:sp>
      <p:sp>
        <p:nvSpPr>
          <p:cNvPr id="29713" name="Line 16"/>
          <p:cNvSpPr>
            <a:spLocks noChangeShapeType="1"/>
          </p:cNvSpPr>
          <p:nvPr/>
        </p:nvSpPr>
        <p:spPr bwMode="auto">
          <a:xfrm>
            <a:off x="2362200" y="2286000"/>
            <a:ext cx="0" cy="381000"/>
          </a:xfrm>
          <a:prstGeom prst="line">
            <a:avLst/>
          </a:prstGeom>
          <a:noFill/>
          <a:ln w="9525">
            <a:solidFill>
              <a:schemeClr val="tx1"/>
            </a:solidFill>
            <a:round/>
            <a:headEnd/>
            <a:tailEnd type="triangle" w="med" len="med"/>
          </a:ln>
        </p:spPr>
        <p:txBody>
          <a:bodyPr/>
          <a:lstStyle/>
          <a:p>
            <a:endParaRPr lang="en-IN"/>
          </a:p>
        </p:txBody>
      </p:sp>
      <p:sp>
        <p:nvSpPr>
          <p:cNvPr id="29714" name="Line 17"/>
          <p:cNvSpPr>
            <a:spLocks noChangeShapeType="1"/>
          </p:cNvSpPr>
          <p:nvPr/>
        </p:nvSpPr>
        <p:spPr bwMode="auto">
          <a:xfrm>
            <a:off x="2286000" y="2971800"/>
            <a:ext cx="0" cy="228600"/>
          </a:xfrm>
          <a:prstGeom prst="line">
            <a:avLst/>
          </a:prstGeom>
          <a:noFill/>
          <a:ln w="9525">
            <a:solidFill>
              <a:schemeClr val="tx1"/>
            </a:solidFill>
            <a:round/>
            <a:headEnd/>
            <a:tailEnd type="triangle" w="med" len="med"/>
          </a:ln>
        </p:spPr>
        <p:txBody>
          <a:bodyPr/>
          <a:lstStyle/>
          <a:p>
            <a:endParaRPr lang="en-IN"/>
          </a:p>
        </p:txBody>
      </p:sp>
      <p:sp>
        <p:nvSpPr>
          <p:cNvPr id="29715" name="Line 18"/>
          <p:cNvSpPr>
            <a:spLocks noChangeShapeType="1"/>
          </p:cNvSpPr>
          <p:nvPr/>
        </p:nvSpPr>
        <p:spPr bwMode="auto">
          <a:xfrm flipH="1">
            <a:off x="1447800" y="3505200"/>
            <a:ext cx="762000" cy="533400"/>
          </a:xfrm>
          <a:prstGeom prst="line">
            <a:avLst/>
          </a:prstGeom>
          <a:noFill/>
          <a:ln w="9525">
            <a:solidFill>
              <a:schemeClr val="tx1"/>
            </a:solidFill>
            <a:round/>
            <a:headEnd/>
            <a:tailEnd type="triangle" w="med" len="med"/>
          </a:ln>
        </p:spPr>
        <p:txBody>
          <a:bodyPr/>
          <a:lstStyle/>
          <a:p>
            <a:endParaRPr lang="en-IN"/>
          </a:p>
        </p:txBody>
      </p:sp>
      <p:sp>
        <p:nvSpPr>
          <p:cNvPr id="29716" name="Line 19"/>
          <p:cNvSpPr>
            <a:spLocks noChangeShapeType="1"/>
          </p:cNvSpPr>
          <p:nvPr/>
        </p:nvSpPr>
        <p:spPr bwMode="auto">
          <a:xfrm>
            <a:off x="2514600" y="3505200"/>
            <a:ext cx="914400" cy="533400"/>
          </a:xfrm>
          <a:prstGeom prst="line">
            <a:avLst/>
          </a:prstGeom>
          <a:noFill/>
          <a:ln w="9525">
            <a:solidFill>
              <a:schemeClr val="tx1"/>
            </a:solidFill>
            <a:round/>
            <a:headEnd/>
            <a:tailEnd type="triangle" w="med" len="med"/>
          </a:ln>
        </p:spPr>
        <p:txBody>
          <a:bodyPr/>
          <a:lstStyle/>
          <a:p>
            <a:endParaRPr lang="en-IN"/>
          </a:p>
        </p:txBody>
      </p:sp>
      <p:sp>
        <p:nvSpPr>
          <p:cNvPr id="29717" name="Line 20"/>
          <p:cNvSpPr>
            <a:spLocks noChangeShapeType="1"/>
          </p:cNvSpPr>
          <p:nvPr/>
        </p:nvSpPr>
        <p:spPr bwMode="auto">
          <a:xfrm>
            <a:off x="3429000" y="4343400"/>
            <a:ext cx="0" cy="457200"/>
          </a:xfrm>
          <a:prstGeom prst="line">
            <a:avLst/>
          </a:prstGeom>
          <a:noFill/>
          <a:ln w="9525">
            <a:solidFill>
              <a:schemeClr val="tx1"/>
            </a:solidFill>
            <a:round/>
            <a:headEnd/>
            <a:tailEnd type="triangle" w="med" len="med"/>
          </a:ln>
        </p:spPr>
        <p:txBody>
          <a:bodyPr/>
          <a:lstStyle/>
          <a:p>
            <a:endParaRPr lang="en-IN"/>
          </a:p>
        </p:txBody>
      </p:sp>
      <p:sp>
        <p:nvSpPr>
          <p:cNvPr id="29718" name="Line 21"/>
          <p:cNvSpPr>
            <a:spLocks noChangeShapeType="1"/>
          </p:cNvSpPr>
          <p:nvPr/>
        </p:nvSpPr>
        <p:spPr bwMode="auto">
          <a:xfrm flipH="1">
            <a:off x="914400" y="4343400"/>
            <a:ext cx="381000" cy="457200"/>
          </a:xfrm>
          <a:prstGeom prst="line">
            <a:avLst/>
          </a:prstGeom>
          <a:noFill/>
          <a:ln w="9525">
            <a:solidFill>
              <a:schemeClr val="tx1"/>
            </a:solidFill>
            <a:round/>
            <a:headEnd/>
            <a:tailEnd type="triangle" w="med" len="med"/>
          </a:ln>
        </p:spPr>
        <p:txBody>
          <a:bodyPr/>
          <a:lstStyle/>
          <a:p>
            <a:endParaRPr lang="en-IN"/>
          </a:p>
        </p:txBody>
      </p:sp>
      <p:sp>
        <p:nvSpPr>
          <p:cNvPr id="29719" name="Line 22"/>
          <p:cNvSpPr>
            <a:spLocks noChangeShapeType="1"/>
          </p:cNvSpPr>
          <p:nvPr/>
        </p:nvSpPr>
        <p:spPr bwMode="auto">
          <a:xfrm>
            <a:off x="1676400" y="4343400"/>
            <a:ext cx="457200" cy="457200"/>
          </a:xfrm>
          <a:prstGeom prst="line">
            <a:avLst/>
          </a:prstGeom>
          <a:noFill/>
          <a:ln w="9525">
            <a:solidFill>
              <a:schemeClr val="tx1"/>
            </a:solidFill>
            <a:round/>
            <a:headEnd/>
            <a:tailEnd type="triangle" w="med" len="med"/>
          </a:ln>
        </p:spPr>
        <p:txBody>
          <a:bodyPr/>
          <a:lstStyle/>
          <a:p>
            <a:endParaRPr lang="en-IN"/>
          </a:p>
        </p:txBody>
      </p:sp>
      <p:sp>
        <p:nvSpPr>
          <p:cNvPr id="29720" name="Line 23"/>
          <p:cNvSpPr>
            <a:spLocks noChangeShapeType="1"/>
          </p:cNvSpPr>
          <p:nvPr/>
        </p:nvSpPr>
        <p:spPr bwMode="auto">
          <a:xfrm>
            <a:off x="914400" y="5105400"/>
            <a:ext cx="457200" cy="381000"/>
          </a:xfrm>
          <a:prstGeom prst="line">
            <a:avLst/>
          </a:prstGeom>
          <a:noFill/>
          <a:ln w="9525">
            <a:solidFill>
              <a:schemeClr val="tx1"/>
            </a:solidFill>
            <a:round/>
            <a:headEnd/>
            <a:tailEnd type="triangle" w="med" len="med"/>
          </a:ln>
        </p:spPr>
        <p:txBody>
          <a:bodyPr/>
          <a:lstStyle/>
          <a:p>
            <a:endParaRPr lang="en-IN"/>
          </a:p>
        </p:txBody>
      </p:sp>
      <p:sp>
        <p:nvSpPr>
          <p:cNvPr id="29721" name="Line 24"/>
          <p:cNvSpPr>
            <a:spLocks noChangeShapeType="1"/>
          </p:cNvSpPr>
          <p:nvPr/>
        </p:nvSpPr>
        <p:spPr bwMode="auto">
          <a:xfrm flipH="1">
            <a:off x="1676400" y="5105400"/>
            <a:ext cx="457200" cy="381000"/>
          </a:xfrm>
          <a:prstGeom prst="line">
            <a:avLst/>
          </a:prstGeom>
          <a:noFill/>
          <a:ln w="9525">
            <a:solidFill>
              <a:schemeClr val="tx1"/>
            </a:solidFill>
            <a:round/>
            <a:headEnd/>
            <a:tailEnd type="triangle" w="med" len="med"/>
          </a:ln>
        </p:spPr>
        <p:txBody>
          <a:bodyPr/>
          <a:lstStyle/>
          <a:p>
            <a:endParaRPr lang="en-IN"/>
          </a:p>
        </p:txBody>
      </p:sp>
      <p:sp>
        <p:nvSpPr>
          <p:cNvPr id="29722" name="Line 25"/>
          <p:cNvSpPr>
            <a:spLocks noChangeShapeType="1"/>
          </p:cNvSpPr>
          <p:nvPr/>
        </p:nvSpPr>
        <p:spPr bwMode="auto">
          <a:xfrm>
            <a:off x="1676400" y="5791200"/>
            <a:ext cx="838200" cy="457200"/>
          </a:xfrm>
          <a:prstGeom prst="line">
            <a:avLst/>
          </a:prstGeom>
          <a:noFill/>
          <a:ln w="9525">
            <a:solidFill>
              <a:schemeClr val="tx1"/>
            </a:solidFill>
            <a:round/>
            <a:headEnd/>
            <a:tailEnd type="triangle" w="med" len="med"/>
          </a:ln>
        </p:spPr>
        <p:txBody>
          <a:bodyPr/>
          <a:lstStyle/>
          <a:p>
            <a:endParaRPr lang="en-IN"/>
          </a:p>
        </p:txBody>
      </p:sp>
      <p:sp>
        <p:nvSpPr>
          <p:cNvPr id="29723" name="Line 26"/>
          <p:cNvSpPr>
            <a:spLocks noChangeShapeType="1"/>
          </p:cNvSpPr>
          <p:nvPr/>
        </p:nvSpPr>
        <p:spPr bwMode="auto">
          <a:xfrm flipH="1">
            <a:off x="2971800" y="5105400"/>
            <a:ext cx="457200" cy="1143000"/>
          </a:xfrm>
          <a:prstGeom prst="line">
            <a:avLst/>
          </a:prstGeom>
          <a:noFill/>
          <a:ln w="9525">
            <a:solidFill>
              <a:schemeClr val="tx1"/>
            </a:solidFill>
            <a:round/>
            <a:headEnd/>
            <a:tailEnd type="triangle" w="med" len="med"/>
          </a:ln>
        </p:spPr>
        <p:txBody>
          <a:bodyPr/>
          <a:lstStyle/>
          <a:p>
            <a:endParaRPr lang="en-IN"/>
          </a:p>
        </p:txBody>
      </p:sp>
      <p:sp>
        <p:nvSpPr>
          <p:cNvPr id="29724" name="Line 27"/>
          <p:cNvSpPr>
            <a:spLocks noChangeShapeType="1"/>
          </p:cNvSpPr>
          <p:nvPr/>
        </p:nvSpPr>
        <p:spPr bwMode="auto">
          <a:xfrm flipH="1">
            <a:off x="304800" y="2057400"/>
            <a:ext cx="1600200" cy="0"/>
          </a:xfrm>
          <a:prstGeom prst="line">
            <a:avLst/>
          </a:prstGeom>
          <a:noFill/>
          <a:ln w="9525">
            <a:solidFill>
              <a:schemeClr val="tx1"/>
            </a:solidFill>
            <a:round/>
            <a:headEnd/>
            <a:tailEnd type="triangle" w="med" len="med"/>
          </a:ln>
        </p:spPr>
        <p:txBody>
          <a:bodyPr/>
          <a:lstStyle/>
          <a:p>
            <a:endParaRPr lang="en-IN"/>
          </a:p>
        </p:txBody>
      </p:sp>
      <p:sp>
        <p:nvSpPr>
          <p:cNvPr id="29725" name="Line 28"/>
          <p:cNvSpPr>
            <a:spLocks noChangeShapeType="1"/>
          </p:cNvSpPr>
          <p:nvPr/>
        </p:nvSpPr>
        <p:spPr bwMode="auto">
          <a:xfrm>
            <a:off x="304800" y="2057400"/>
            <a:ext cx="0" cy="4038600"/>
          </a:xfrm>
          <a:prstGeom prst="line">
            <a:avLst/>
          </a:prstGeom>
          <a:noFill/>
          <a:ln w="9525">
            <a:solidFill>
              <a:schemeClr val="tx1"/>
            </a:solidFill>
            <a:round/>
            <a:headEnd/>
            <a:tailEnd type="triangle" w="med" len="med"/>
          </a:ln>
        </p:spPr>
        <p:txBody>
          <a:bodyPr/>
          <a:lstStyle/>
          <a:p>
            <a:endParaRPr lang="en-IN"/>
          </a:p>
        </p:txBody>
      </p:sp>
      <p:sp>
        <p:nvSpPr>
          <p:cNvPr id="29726" name="Line 29"/>
          <p:cNvSpPr>
            <a:spLocks noChangeShapeType="1"/>
          </p:cNvSpPr>
          <p:nvPr/>
        </p:nvSpPr>
        <p:spPr bwMode="auto">
          <a:xfrm>
            <a:off x="3200400" y="6400800"/>
            <a:ext cx="1066800" cy="0"/>
          </a:xfrm>
          <a:prstGeom prst="line">
            <a:avLst/>
          </a:prstGeom>
          <a:noFill/>
          <a:ln w="9525">
            <a:solidFill>
              <a:schemeClr val="tx1"/>
            </a:solidFill>
            <a:round/>
            <a:headEnd/>
            <a:tailEnd type="triangle" w="med" len="med"/>
          </a:ln>
        </p:spPr>
        <p:txBody>
          <a:bodyPr/>
          <a:lstStyle/>
          <a:p>
            <a:endParaRPr lang="en-IN"/>
          </a:p>
        </p:txBody>
      </p:sp>
      <p:sp>
        <p:nvSpPr>
          <p:cNvPr id="29727" name="Line 30"/>
          <p:cNvSpPr>
            <a:spLocks noChangeShapeType="1"/>
          </p:cNvSpPr>
          <p:nvPr/>
        </p:nvSpPr>
        <p:spPr bwMode="auto">
          <a:xfrm flipV="1">
            <a:off x="4267200" y="1752600"/>
            <a:ext cx="0" cy="4648200"/>
          </a:xfrm>
          <a:prstGeom prst="line">
            <a:avLst/>
          </a:prstGeom>
          <a:noFill/>
          <a:ln w="9525">
            <a:solidFill>
              <a:schemeClr val="tx1"/>
            </a:solidFill>
            <a:round/>
            <a:headEnd/>
            <a:tailEnd type="triangle" w="med" len="med"/>
          </a:ln>
        </p:spPr>
        <p:txBody>
          <a:bodyPr/>
          <a:lstStyle/>
          <a:p>
            <a:endParaRPr lang="en-IN"/>
          </a:p>
        </p:txBody>
      </p:sp>
      <p:sp>
        <p:nvSpPr>
          <p:cNvPr id="29728" name="Line 31"/>
          <p:cNvSpPr>
            <a:spLocks noChangeShapeType="1"/>
          </p:cNvSpPr>
          <p:nvPr/>
        </p:nvSpPr>
        <p:spPr bwMode="auto">
          <a:xfrm flipH="1">
            <a:off x="2362200" y="1828800"/>
            <a:ext cx="1905000" cy="0"/>
          </a:xfrm>
          <a:prstGeom prst="line">
            <a:avLst/>
          </a:prstGeom>
          <a:noFill/>
          <a:ln w="9525">
            <a:solidFill>
              <a:schemeClr val="tx1"/>
            </a:solidFill>
            <a:round/>
            <a:headEnd/>
            <a:tailEnd type="triangle" w="med" len="med"/>
          </a:ln>
        </p:spPr>
        <p:txBody>
          <a:bodyPr/>
          <a:lstStyle/>
          <a:p>
            <a:endParaRPr lang="en-IN"/>
          </a:p>
        </p:txBody>
      </p:sp>
      <p:sp>
        <p:nvSpPr>
          <p:cNvPr id="29729" name="Oval 32"/>
          <p:cNvSpPr>
            <a:spLocks noChangeArrowheads="1"/>
          </p:cNvSpPr>
          <p:nvPr/>
        </p:nvSpPr>
        <p:spPr bwMode="auto">
          <a:xfrm>
            <a:off x="6829444" y="1905000"/>
            <a:ext cx="457200" cy="365125"/>
          </a:xfrm>
          <a:prstGeom prst="ellipse">
            <a:avLst/>
          </a:prstGeom>
          <a:noFill/>
          <a:ln w="38100" cmpd="dbl">
            <a:solidFill>
              <a:schemeClr val="tx1"/>
            </a:solidFill>
            <a:round/>
            <a:headEnd/>
            <a:tailEnd/>
          </a:ln>
        </p:spPr>
        <p:txBody>
          <a:bodyPr wrap="none" anchor="ctr"/>
          <a:lstStyle/>
          <a:p>
            <a:r>
              <a:rPr lang="en-US" sz="2000" i="0" u="none" dirty="0"/>
              <a:t> </a:t>
            </a:r>
            <a:r>
              <a:rPr lang="en-US" sz="2000" b="1" i="0" u="none" dirty="0"/>
              <a:t>1</a:t>
            </a:r>
          </a:p>
        </p:txBody>
      </p:sp>
      <p:sp>
        <p:nvSpPr>
          <p:cNvPr id="29730" name="Oval 33"/>
          <p:cNvSpPr>
            <a:spLocks noChangeArrowheads="1"/>
          </p:cNvSpPr>
          <p:nvPr/>
        </p:nvSpPr>
        <p:spPr bwMode="auto">
          <a:xfrm>
            <a:off x="6858000" y="2667000"/>
            <a:ext cx="457200" cy="365125"/>
          </a:xfrm>
          <a:prstGeom prst="ellipse">
            <a:avLst/>
          </a:prstGeom>
          <a:noFill/>
          <a:ln w="9525">
            <a:solidFill>
              <a:schemeClr val="tx1"/>
            </a:solidFill>
            <a:round/>
            <a:headEnd/>
            <a:tailEnd/>
          </a:ln>
        </p:spPr>
        <p:txBody>
          <a:bodyPr wrap="none" anchor="ctr"/>
          <a:lstStyle/>
          <a:p>
            <a:r>
              <a:rPr lang="en-US" sz="2000" i="0" u="none" dirty="0"/>
              <a:t> </a:t>
            </a:r>
            <a:r>
              <a:rPr lang="en-US" sz="2000" b="1" i="0" u="none" dirty="0"/>
              <a:t>2</a:t>
            </a:r>
          </a:p>
        </p:txBody>
      </p:sp>
      <p:sp>
        <p:nvSpPr>
          <p:cNvPr id="29731" name="Oval 34"/>
          <p:cNvSpPr>
            <a:spLocks noChangeArrowheads="1"/>
          </p:cNvSpPr>
          <p:nvPr/>
        </p:nvSpPr>
        <p:spPr bwMode="auto">
          <a:xfrm>
            <a:off x="6858000" y="3429000"/>
            <a:ext cx="457200" cy="365125"/>
          </a:xfrm>
          <a:prstGeom prst="ellipse">
            <a:avLst/>
          </a:prstGeom>
          <a:noFill/>
          <a:ln w="38100" cmpd="dbl">
            <a:solidFill>
              <a:schemeClr val="tx1"/>
            </a:solidFill>
            <a:round/>
            <a:headEnd/>
            <a:tailEnd/>
          </a:ln>
        </p:spPr>
        <p:txBody>
          <a:bodyPr wrap="none" anchor="ctr"/>
          <a:lstStyle/>
          <a:p>
            <a:r>
              <a:rPr lang="en-US" sz="2000" i="0" u="none" dirty="0"/>
              <a:t> </a:t>
            </a:r>
            <a:r>
              <a:rPr lang="en-US" sz="2000" b="1" i="0" u="none" dirty="0"/>
              <a:t>3</a:t>
            </a:r>
          </a:p>
        </p:txBody>
      </p:sp>
      <p:sp>
        <p:nvSpPr>
          <p:cNvPr id="29732" name="Oval 35"/>
          <p:cNvSpPr>
            <a:spLocks noChangeArrowheads="1"/>
          </p:cNvSpPr>
          <p:nvPr/>
        </p:nvSpPr>
        <p:spPr bwMode="auto">
          <a:xfrm>
            <a:off x="8153400" y="4114800"/>
            <a:ext cx="457200" cy="365125"/>
          </a:xfrm>
          <a:prstGeom prst="ellipse">
            <a:avLst/>
          </a:prstGeom>
          <a:noFill/>
          <a:ln w="9525">
            <a:solidFill>
              <a:schemeClr val="tx1"/>
            </a:solidFill>
            <a:round/>
            <a:headEnd/>
            <a:tailEnd/>
          </a:ln>
        </p:spPr>
        <p:txBody>
          <a:bodyPr wrap="none" anchor="ctr"/>
          <a:lstStyle/>
          <a:p>
            <a:r>
              <a:rPr lang="en-US" sz="2000" i="0" u="none" dirty="0"/>
              <a:t> </a:t>
            </a:r>
            <a:r>
              <a:rPr lang="en-US" sz="2000" b="1" i="0" u="none" dirty="0"/>
              <a:t>4</a:t>
            </a:r>
          </a:p>
        </p:txBody>
      </p:sp>
      <p:sp>
        <p:nvSpPr>
          <p:cNvPr id="29733" name="Oval 36"/>
          <p:cNvSpPr>
            <a:spLocks noChangeArrowheads="1"/>
          </p:cNvSpPr>
          <p:nvPr/>
        </p:nvSpPr>
        <p:spPr bwMode="auto">
          <a:xfrm>
            <a:off x="5791200" y="4038600"/>
            <a:ext cx="457200" cy="365125"/>
          </a:xfrm>
          <a:prstGeom prst="ellipse">
            <a:avLst/>
          </a:prstGeom>
          <a:noFill/>
          <a:ln w="38100" cmpd="dbl">
            <a:solidFill>
              <a:schemeClr val="tx1"/>
            </a:solidFill>
            <a:round/>
            <a:headEnd/>
            <a:tailEnd/>
          </a:ln>
        </p:spPr>
        <p:txBody>
          <a:bodyPr wrap="none" anchor="ctr"/>
          <a:lstStyle/>
          <a:p>
            <a:r>
              <a:rPr lang="en-US" sz="2000" i="0" u="none" dirty="0"/>
              <a:t> </a:t>
            </a:r>
            <a:r>
              <a:rPr lang="en-US" sz="2000" b="1" i="0" u="none" dirty="0"/>
              <a:t>6</a:t>
            </a:r>
          </a:p>
        </p:txBody>
      </p:sp>
      <p:sp>
        <p:nvSpPr>
          <p:cNvPr id="29734" name="Oval 37"/>
          <p:cNvSpPr>
            <a:spLocks noChangeArrowheads="1"/>
          </p:cNvSpPr>
          <p:nvPr/>
        </p:nvSpPr>
        <p:spPr bwMode="auto">
          <a:xfrm>
            <a:off x="5181600" y="4953000"/>
            <a:ext cx="457200" cy="365125"/>
          </a:xfrm>
          <a:prstGeom prst="ellipse">
            <a:avLst/>
          </a:prstGeom>
          <a:noFill/>
          <a:ln w="9525">
            <a:solidFill>
              <a:schemeClr val="tx1"/>
            </a:solidFill>
            <a:round/>
            <a:headEnd/>
            <a:tailEnd/>
          </a:ln>
        </p:spPr>
        <p:txBody>
          <a:bodyPr wrap="none" anchor="ctr"/>
          <a:lstStyle/>
          <a:p>
            <a:r>
              <a:rPr lang="en-US" sz="2000" i="0" u="none" dirty="0"/>
              <a:t> </a:t>
            </a:r>
            <a:r>
              <a:rPr lang="en-US" sz="2000" b="1" i="0" u="none" dirty="0"/>
              <a:t>7</a:t>
            </a:r>
          </a:p>
        </p:txBody>
      </p:sp>
      <p:sp>
        <p:nvSpPr>
          <p:cNvPr id="29735" name="Oval 38"/>
          <p:cNvSpPr>
            <a:spLocks noChangeArrowheads="1"/>
          </p:cNvSpPr>
          <p:nvPr/>
        </p:nvSpPr>
        <p:spPr bwMode="auto">
          <a:xfrm>
            <a:off x="6477000" y="4953000"/>
            <a:ext cx="457200" cy="365125"/>
          </a:xfrm>
          <a:prstGeom prst="ellipse">
            <a:avLst/>
          </a:prstGeom>
          <a:noFill/>
          <a:ln w="9525">
            <a:solidFill>
              <a:schemeClr val="tx1"/>
            </a:solidFill>
            <a:round/>
            <a:headEnd/>
            <a:tailEnd/>
          </a:ln>
        </p:spPr>
        <p:txBody>
          <a:bodyPr wrap="none" anchor="ctr"/>
          <a:lstStyle/>
          <a:p>
            <a:r>
              <a:rPr lang="en-US" sz="2000" i="0" u="none" dirty="0"/>
              <a:t> </a:t>
            </a:r>
            <a:r>
              <a:rPr lang="en-US" sz="2000" b="1" i="0" u="none" dirty="0"/>
              <a:t>8</a:t>
            </a:r>
          </a:p>
        </p:txBody>
      </p:sp>
      <p:sp>
        <p:nvSpPr>
          <p:cNvPr id="29736" name="Oval 39"/>
          <p:cNvSpPr>
            <a:spLocks noChangeArrowheads="1"/>
          </p:cNvSpPr>
          <p:nvPr/>
        </p:nvSpPr>
        <p:spPr bwMode="auto">
          <a:xfrm>
            <a:off x="8153400" y="4953000"/>
            <a:ext cx="457200" cy="365125"/>
          </a:xfrm>
          <a:prstGeom prst="ellipse">
            <a:avLst/>
          </a:prstGeom>
          <a:noFill/>
          <a:ln w="9525">
            <a:solidFill>
              <a:schemeClr val="tx1"/>
            </a:solidFill>
            <a:round/>
            <a:headEnd/>
            <a:tailEnd/>
          </a:ln>
        </p:spPr>
        <p:txBody>
          <a:bodyPr wrap="none" anchor="ctr"/>
          <a:lstStyle/>
          <a:p>
            <a:r>
              <a:rPr lang="en-US" sz="2000" i="0" u="none" dirty="0"/>
              <a:t> </a:t>
            </a:r>
            <a:r>
              <a:rPr lang="en-US" sz="2000" b="1" i="0" u="none" dirty="0"/>
              <a:t>5</a:t>
            </a:r>
          </a:p>
        </p:txBody>
      </p:sp>
      <p:sp>
        <p:nvSpPr>
          <p:cNvPr id="29737" name="Oval 40"/>
          <p:cNvSpPr>
            <a:spLocks noChangeArrowheads="1"/>
          </p:cNvSpPr>
          <p:nvPr/>
        </p:nvSpPr>
        <p:spPr bwMode="auto">
          <a:xfrm>
            <a:off x="5943600" y="5715000"/>
            <a:ext cx="457200" cy="365125"/>
          </a:xfrm>
          <a:prstGeom prst="ellipse">
            <a:avLst/>
          </a:prstGeom>
          <a:noFill/>
          <a:ln w="9525">
            <a:solidFill>
              <a:schemeClr val="tx1"/>
            </a:solidFill>
            <a:round/>
            <a:headEnd/>
            <a:tailEnd/>
          </a:ln>
        </p:spPr>
        <p:txBody>
          <a:bodyPr wrap="none" anchor="ctr"/>
          <a:lstStyle/>
          <a:p>
            <a:r>
              <a:rPr lang="en-US" sz="2000" i="0" u="none" dirty="0"/>
              <a:t> </a:t>
            </a:r>
            <a:r>
              <a:rPr lang="en-US" sz="2000" b="1" i="0" u="none" dirty="0"/>
              <a:t>9</a:t>
            </a:r>
          </a:p>
        </p:txBody>
      </p:sp>
      <p:sp>
        <p:nvSpPr>
          <p:cNvPr id="29738" name="Oval 41"/>
          <p:cNvSpPr>
            <a:spLocks noChangeArrowheads="1"/>
          </p:cNvSpPr>
          <p:nvPr/>
        </p:nvSpPr>
        <p:spPr bwMode="auto">
          <a:xfrm>
            <a:off x="6934200" y="6324600"/>
            <a:ext cx="457200" cy="365125"/>
          </a:xfrm>
          <a:prstGeom prst="ellipse">
            <a:avLst/>
          </a:prstGeom>
          <a:noFill/>
          <a:ln w="9525">
            <a:solidFill>
              <a:schemeClr val="tx1"/>
            </a:solidFill>
            <a:round/>
            <a:headEnd/>
            <a:tailEnd/>
          </a:ln>
        </p:spPr>
        <p:txBody>
          <a:bodyPr wrap="none" anchor="ctr"/>
          <a:lstStyle/>
          <a:p>
            <a:pPr algn="ctr"/>
            <a:r>
              <a:rPr lang="en-US" sz="2000" i="0" u="none" dirty="0"/>
              <a:t> </a:t>
            </a:r>
            <a:r>
              <a:rPr lang="en-US" sz="2000" b="1" i="0" u="none" dirty="0"/>
              <a:t>10</a:t>
            </a:r>
          </a:p>
        </p:txBody>
      </p:sp>
      <p:sp>
        <p:nvSpPr>
          <p:cNvPr id="29739" name="Oval 42"/>
          <p:cNvSpPr>
            <a:spLocks noChangeArrowheads="1"/>
          </p:cNvSpPr>
          <p:nvPr/>
        </p:nvSpPr>
        <p:spPr bwMode="auto">
          <a:xfrm>
            <a:off x="4876800" y="6215082"/>
            <a:ext cx="457200" cy="365125"/>
          </a:xfrm>
          <a:prstGeom prst="ellipse">
            <a:avLst/>
          </a:prstGeom>
          <a:noFill/>
          <a:ln w="9525">
            <a:solidFill>
              <a:schemeClr val="tx1"/>
            </a:solidFill>
            <a:round/>
            <a:headEnd/>
            <a:tailEnd/>
          </a:ln>
        </p:spPr>
        <p:txBody>
          <a:bodyPr wrap="none" anchor="ctr"/>
          <a:lstStyle/>
          <a:p>
            <a:pPr algn="ctr"/>
            <a:r>
              <a:rPr lang="en-US" sz="2000" i="0" u="none" dirty="0"/>
              <a:t> </a:t>
            </a:r>
            <a:r>
              <a:rPr lang="en-US" sz="2000" b="1" i="0" u="none" dirty="0"/>
              <a:t>11</a:t>
            </a:r>
          </a:p>
        </p:txBody>
      </p:sp>
      <p:sp>
        <p:nvSpPr>
          <p:cNvPr id="29740" name="Line 43"/>
          <p:cNvSpPr>
            <a:spLocks noChangeShapeType="1"/>
          </p:cNvSpPr>
          <p:nvPr/>
        </p:nvSpPr>
        <p:spPr bwMode="auto">
          <a:xfrm>
            <a:off x="7086600" y="2286000"/>
            <a:ext cx="0" cy="381000"/>
          </a:xfrm>
          <a:prstGeom prst="line">
            <a:avLst/>
          </a:prstGeom>
          <a:noFill/>
          <a:ln w="9525">
            <a:solidFill>
              <a:schemeClr val="tx1"/>
            </a:solidFill>
            <a:round/>
            <a:headEnd/>
            <a:tailEnd type="triangle" w="med" len="med"/>
          </a:ln>
        </p:spPr>
        <p:txBody>
          <a:bodyPr/>
          <a:lstStyle/>
          <a:p>
            <a:endParaRPr lang="en-IN"/>
          </a:p>
        </p:txBody>
      </p:sp>
      <p:sp>
        <p:nvSpPr>
          <p:cNvPr id="29741" name="Line 44"/>
          <p:cNvSpPr>
            <a:spLocks noChangeShapeType="1"/>
          </p:cNvSpPr>
          <p:nvPr/>
        </p:nvSpPr>
        <p:spPr bwMode="auto">
          <a:xfrm>
            <a:off x="7086600" y="3048000"/>
            <a:ext cx="0" cy="381000"/>
          </a:xfrm>
          <a:prstGeom prst="line">
            <a:avLst/>
          </a:prstGeom>
          <a:noFill/>
          <a:ln w="9525">
            <a:solidFill>
              <a:schemeClr val="tx1"/>
            </a:solidFill>
            <a:round/>
            <a:headEnd/>
            <a:tailEnd type="triangle" w="med" len="med"/>
          </a:ln>
        </p:spPr>
        <p:txBody>
          <a:bodyPr/>
          <a:lstStyle/>
          <a:p>
            <a:endParaRPr lang="en-IN"/>
          </a:p>
        </p:txBody>
      </p:sp>
      <p:sp>
        <p:nvSpPr>
          <p:cNvPr id="29742" name="Line 45"/>
          <p:cNvSpPr>
            <a:spLocks noChangeShapeType="1"/>
          </p:cNvSpPr>
          <p:nvPr/>
        </p:nvSpPr>
        <p:spPr bwMode="auto">
          <a:xfrm flipH="1">
            <a:off x="6248400" y="3733800"/>
            <a:ext cx="685800" cy="381000"/>
          </a:xfrm>
          <a:prstGeom prst="line">
            <a:avLst/>
          </a:prstGeom>
          <a:noFill/>
          <a:ln w="9525">
            <a:solidFill>
              <a:schemeClr val="tx1"/>
            </a:solidFill>
            <a:round/>
            <a:headEnd/>
            <a:tailEnd type="triangle" w="med" len="med"/>
          </a:ln>
        </p:spPr>
        <p:txBody>
          <a:bodyPr/>
          <a:lstStyle/>
          <a:p>
            <a:endParaRPr lang="en-IN"/>
          </a:p>
        </p:txBody>
      </p:sp>
      <p:sp>
        <p:nvSpPr>
          <p:cNvPr id="29743" name="Line 46"/>
          <p:cNvSpPr>
            <a:spLocks noChangeShapeType="1"/>
          </p:cNvSpPr>
          <p:nvPr/>
        </p:nvSpPr>
        <p:spPr bwMode="auto">
          <a:xfrm>
            <a:off x="7315200" y="3733800"/>
            <a:ext cx="914400" cy="457200"/>
          </a:xfrm>
          <a:prstGeom prst="line">
            <a:avLst/>
          </a:prstGeom>
          <a:noFill/>
          <a:ln w="9525">
            <a:solidFill>
              <a:schemeClr val="tx1"/>
            </a:solidFill>
            <a:round/>
            <a:headEnd/>
            <a:tailEnd type="triangle" w="med" len="med"/>
          </a:ln>
        </p:spPr>
        <p:txBody>
          <a:bodyPr/>
          <a:lstStyle/>
          <a:p>
            <a:endParaRPr lang="en-IN"/>
          </a:p>
        </p:txBody>
      </p:sp>
      <p:sp>
        <p:nvSpPr>
          <p:cNvPr id="29744" name="Line 47"/>
          <p:cNvSpPr>
            <a:spLocks noChangeShapeType="1"/>
          </p:cNvSpPr>
          <p:nvPr/>
        </p:nvSpPr>
        <p:spPr bwMode="auto">
          <a:xfrm flipH="1">
            <a:off x="5486400" y="4343400"/>
            <a:ext cx="381000" cy="609600"/>
          </a:xfrm>
          <a:prstGeom prst="line">
            <a:avLst/>
          </a:prstGeom>
          <a:noFill/>
          <a:ln w="9525">
            <a:solidFill>
              <a:schemeClr val="tx1"/>
            </a:solidFill>
            <a:round/>
            <a:headEnd/>
            <a:tailEnd type="triangle" w="med" len="med"/>
          </a:ln>
        </p:spPr>
        <p:txBody>
          <a:bodyPr/>
          <a:lstStyle/>
          <a:p>
            <a:endParaRPr lang="en-IN"/>
          </a:p>
        </p:txBody>
      </p:sp>
      <p:sp>
        <p:nvSpPr>
          <p:cNvPr id="29745" name="Line 48"/>
          <p:cNvSpPr>
            <a:spLocks noChangeShapeType="1"/>
          </p:cNvSpPr>
          <p:nvPr/>
        </p:nvSpPr>
        <p:spPr bwMode="auto">
          <a:xfrm>
            <a:off x="6172200" y="4343400"/>
            <a:ext cx="457200" cy="609600"/>
          </a:xfrm>
          <a:prstGeom prst="line">
            <a:avLst/>
          </a:prstGeom>
          <a:noFill/>
          <a:ln w="9525">
            <a:solidFill>
              <a:schemeClr val="tx1"/>
            </a:solidFill>
            <a:round/>
            <a:headEnd/>
            <a:tailEnd type="triangle" w="med" len="med"/>
          </a:ln>
        </p:spPr>
        <p:txBody>
          <a:bodyPr/>
          <a:lstStyle/>
          <a:p>
            <a:endParaRPr lang="en-IN"/>
          </a:p>
        </p:txBody>
      </p:sp>
      <p:sp>
        <p:nvSpPr>
          <p:cNvPr id="29746" name="Line 49"/>
          <p:cNvSpPr>
            <a:spLocks noChangeShapeType="1"/>
          </p:cNvSpPr>
          <p:nvPr/>
        </p:nvSpPr>
        <p:spPr bwMode="auto">
          <a:xfrm>
            <a:off x="5486400" y="5334000"/>
            <a:ext cx="533400" cy="457200"/>
          </a:xfrm>
          <a:prstGeom prst="line">
            <a:avLst/>
          </a:prstGeom>
          <a:noFill/>
          <a:ln w="9525">
            <a:solidFill>
              <a:schemeClr val="tx1"/>
            </a:solidFill>
            <a:round/>
            <a:headEnd/>
            <a:tailEnd type="triangle" w="med" len="med"/>
          </a:ln>
        </p:spPr>
        <p:txBody>
          <a:bodyPr/>
          <a:lstStyle/>
          <a:p>
            <a:endParaRPr lang="en-IN"/>
          </a:p>
        </p:txBody>
      </p:sp>
      <p:sp>
        <p:nvSpPr>
          <p:cNvPr id="29747" name="Line 50"/>
          <p:cNvSpPr>
            <a:spLocks noChangeShapeType="1"/>
          </p:cNvSpPr>
          <p:nvPr/>
        </p:nvSpPr>
        <p:spPr bwMode="auto">
          <a:xfrm flipH="1">
            <a:off x="6324600" y="5334000"/>
            <a:ext cx="304800" cy="381000"/>
          </a:xfrm>
          <a:prstGeom prst="line">
            <a:avLst/>
          </a:prstGeom>
          <a:noFill/>
          <a:ln w="9525">
            <a:solidFill>
              <a:schemeClr val="tx1"/>
            </a:solidFill>
            <a:round/>
            <a:headEnd/>
            <a:tailEnd type="triangle" w="med" len="med"/>
          </a:ln>
        </p:spPr>
        <p:txBody>
          <a:bodyPr/>
          <a:lstStyle/>
          <a:p>
            <a:endParaRPr lang="en-IN"/>
          </a:p>
        </p:txBody>
      </p:sp>
      <p:sp>
        <p:nvSpPr>
          <p:cNvPr id="29748" name="Line 51"/>
          <p:cNvSpPr>
            <a:spLocks noChangeShapeType="1"/>
          </p:cNvSpPr>
          <p:nvPr/>
        </p:nvSpPr>
        <p:spPr bwMode="auto">
          <a:xfrm>
            <a:off x="6400800" y="6019800"/>
            <a:ext cx="533400" cy="381000"/>
          </a:xfrm>
          <a:prstGeom prst="line">
            <a:avLst/>
          </a:prstGeom>
          <a:noFill/>
          <a:ln w="9525">
            <a:solidFill>
              <a:schemeClr val="tx1"/>
            </a:solidFill>
            <a:round/>
            <a:headEnd/>
            <a:tailEnd type="triangle" w="med" len="med"/>
          </a:ln>
        </p:spPr>
        <p:txBody>
          <a:bodyPr/>
          <a:lstStyle/>
          <a:p>
            <a:endParaRPr lang="en-IN"/>
          </a:p>
        </p:txBody>
      </p:sp>
      <p:sp>
        <p:nvSpPr>
          <p:cNvPr id="29749" name="Line 52"/>
          <p:cNvSpPr>
            <a:spLocks noChangeShapeType="1"/>
          </p:cNvSpPr>
          <p:nvPr/>
        </p:nvSpPr>
        <p:spPr bwMode="auto">
          <a:xfrm flipH="1">
            <a:off x="7315200" y="5334000"/>
            <a:ext cx="990600" cy="990600"/>
          </a:xfrm>
          <a:prstGeom prst="line">
            <a:avLst/>
          </a:prstGeom>
          <a:noFill/>
          <a:ln w="9525">
            <a:solidFill>
              <a:schemeClr val="tx1"/>
            </a:solidFill>
            <a:round/>
            <a:headEnd/>
            <a:tailEnd type="triangle" w="med" len="med"/>
          </a:ln>
        </p:spPr>
        <p:txBody>
          <a:bodyPr/>
          <a:lstStyle/>
          <a:p>
            <a:endParaRPr lang="en-IN"/>
          </a:p>
        </p:txBody>
      </p:sp>
      <p:sp>
        <p:nvSpPr>
          <p:cNvPr id="29750" name="Line 53"/>
          <p:cNvSpPr>
            <a:spLocks noChangeShapeType="1"/>
          </p:cNvSpPr>
          <p:nvPr/>
        </p:nvSpPr>
        <p:spPr bwMode="auto">
          <a:xfrm>
            <a:off x="8382000" y="4495800"/>
            <a:ext cx="0" cy="457200"/>
          </a:xfrm>
          <a:prstGeom prst="line">
            <a:avLst/>
          </a:prstGeom>
          <a:noFill/>
          <a:ln w="9525">
            <a:solidFill>
              <a:schemeClr val="tx1"/>
            </a:solidFill>
            <a:round/>
            <a:headEnd/>
            <a:tailEnd type="triangle" w="med" len="med"/>
          </a:ln>
        </p:spPr>
        <p:txBody>
          <a:bodyPr/>
          <a:lstStyle/>
          <a:p>
            <a:endParaRPr lang="en-IN"/>
          </a:p>
        </p:txBody>
      </p:sp>
      <p:sp>
        <p:nvSpPr>
          <p:cNvPr id="29751" name="Line 54"/>
          <p:cNvSpPr>
            <a:spLocks noChangeShapeType="1"/>
          </p:cNvSpPr>
          <p:nvPr/>
        </p:nvSpPr>
        <p:spPr bwMode="auto">
          <a:xfrm flipH="1">
            <a:off x="5029200" y="2057400"/>
            <a:ext cx="1828800" cy="0"/>
          </a:xfrm>
          <a:prstGeom prst="line">
            <a:avLst/>
          </a:prstGeom>
          <a:noFill/>
          <a:ln w="9525">
            <a:solidFill>
              <a:schemeClr val="tx1"/>
            </a:solidFill>
            <a:round/>
            <a:headEnd/>
            <a:tailEnd type="triangle" w="med" len="med"/>
          </a:ln>
        </p:spPr>
        <p:txBody>
          <a:bodyPr/>
          <a:lstStyle/>
          <a:p>
            <a:endParaRPr lang="en-IN"/>
          </a:p>
        </p:txBody>
      </p:sp>
      <p:sp>
        <p:nvSpPr>
          <p:cNvPr id="29752" name="Line 55"/>
          <p:cNvSpPr>
            <a:spLocks noChangeShapeType="1"/>
          </p:cNvSpPr>
          <p:nvPr/>
        </p:nvSpPr>
        <p:spPr bwMode="auto">
          <a:xfrm>
            <a:off x="5029200" y="2057400"/>
            <a:ext cx="0" cy="4191000"/>
          </a:xfrm>
          <a:prstGeom prst="line">
            <a:avLst/>
          </a:prstGeom>
          <a:noFill/>
          <a:ln w="9525">
            <a:solidFill>
              <a:schemeClr val="tx1"/>
            </a:solidFill>
            <a:round/>
            <a:headEnd/>
            <a:tailEnd type="triangle" w="med" len="med"/>
          </a:ln>
        </p:spPr>
        <p:txBody>
          <a:bodyPr/>
          <a:lstStyle/>
          <a:p>
            <a:endParaRPr lang="en-IN"/>
          </a:p>
        </p:txBody>
      </p:sp>
      <p:sp>
        <p:nvSpPr>
          <p:cNvPr id="29753" name="Line 56"/>
          <p:cNvSpPr>
            <a:spLocks noChangeShapeType="1"/>
          </p:cNvSpPr>
          <p:nvPr/>
        </p:nvSpPr>
        <p:spPr bwMode="auto">
          <a:xfrm flipV="1">
            <a:off x="7391400" y="5638800"/>
            <a:ext cx="1524000" cy="838200"/>
          </a:xfrm>
          <a:prstGeom prst="line">
            <a:avLst/>
          </a:prstGeom>
          <a:noFill/>
          <a:ln w="9525">
            <a:solidFill>
              <a:schemeClr val="tx1"/>
            </a:solidFill>
            <a:round/>
            <a:headEnd/>
            <a:tailEnd type="triangle" w="med" len="med"/>
          </a:ln>
        </p:spPr>
        <p:txBody>
          <a:bodyPr/>
          <a:lstStyle/>
          <a:p>
            <a:endParaRPr lang="en-IN"/>
          </a:p>
        </p:txBody>
      </p:sp>
      <p:sp>
        <p:nvSpPr>
          <p:cNvPr id="29754" name="Line 57"/>
          <p:cNvSpPr>
            <a:spLocks noChangeShapeType="1"/>
          </p:cNvSpPr>
          <p:nvPr/>
        </p:nvSpPr>
        <p:spPr bwMode="auto">
          <a:xfrm flipV="1">
            <a:off x="8915400" y="2971800"/>
            <a:ext cx="0" cy="2667000"/>
          </a:xfrm>
          <a:prstGeom prst="line">
            <a:avLst/>
          </a:prstGeom>
          <a:noFill/>
          <a:ln w="9525">
            <a:solidFill>
              <a:schemeClr val="tx1"/>
            </a:solidFill>
            <a:round/>
            <a:headEnd/>
            <a:tailEnd type="triangle" w="med" len="med"/>
          </a:ln>
        </p:spPr>
        <p:txBody>
          <a:bodyPr/>
          <a:lstStyle/>
          <a:p>
            <a:endParaRPr lang="en-IN"/>
          </a:p>
        </p:txBody>
      </p:sp>
      <p:sp>
        <p:nvSpPr>
          <p:cNvPr id="29755" name="Line 58"/>
          <p:cNvSpPr>
            <a:spLocks noChangeShapeType="1"/>
          </p:cNvSpPr>
          <p:nvPr/>
        </p:nvSpPr>
        <p:spPr bwMode="auto">
          <a:xfrm flipH="1" flipV="1">
            <a:off x="7315200" y="2133600"/>
            <a:ext cx="1600200" cy="838200"/>
          </a:xfrm>
          <a:prstGeom prst="line">
            <a:avLst/>
          </a:prstGeom>
          <a:noFill/>
          <a:ln w="9525">
            <a:solidFill>
              <a:schemeClr val="tx1"/>
            </a:solidFill>
            <a:round/>
            <a:headEnd/>
            <a:tailEnd type="triangle" w="med" len="med"/>
          </a:ln>
        </p:spPr>
        <p:txBody>
          <a:bodyPr/>
          <a:lstStyle/>
          <a:p>
            <a:endParaRPr lang="en-IN"/>
          </a:p>
        </p:txBody>
      </p:sp>
      <p:sp>
        <p:nvSpPr>
          <p:cNvPr id="29756" name="Text Box 59"/>
          <p:cNvSpPr txBox="1">
            <a:spLocks noChangeArrowheads="1"/>
          </p:cNvSpPr>
          <p:nvPr/>
        </p:nvSpPr>
        <p:spPr bwMode="auto">
          <a:xfrm>
            <a:off x="5791200" y="4918075"/>
            <a:ext cx="539750" cy="457200"/>
          </a:xfrm>
          <a:prstGeom prst="rect">
            <a:avLst/>
          </a:prstGeom>
          <a:noFill/>
          <a:ln w="9525">
            <a:noFill/>
            <a:miter lim="800000"/>
            <a:headEnd/>
            <a:tailEnd/>
          </a:ln>
        </p:spPr>
        <p:txBody>
          <a:bodyPr wrap="none">
            <a:spAutoFit/>
          </a:bodyPr>
          <a:lstStyle/>
          <a:p>
            <a:r>
              <a:rPr lang="en-US" i="0" u="none"/>
              <a:t>R1</a:t>
            </a:r>
          </a:p>
        </p:txBody>
      </p:sp>
      <p:sp>
        <p:nvSpPr>
          <p:cNvPr id="29757" name="Text Box 60"/>
          <p:cNvSpPr txBox="1">
            <a:spLocks noChangeArrowheads="1"/>
          </p:cNvSpPr>
          <p:nvPr/>
        </p:nvSpPr>
        <p:spPr bwMode="auto">
          <a:xfrm>
            <a:off x="7162800" y="4419600"/>
            <a:ext cx="539750" cy="457200"/>
          </a:xfrm>
          <a:prstGeom prst="rect">
            <a:avLst/>
          </a:prstGeom>
          <a:noFill/>
          <a:ln w="9525">
            <a:noFill/>
            <a:miter lim="800000"/>
            <a:headEnd/>
            <a:tailEnd/>
          </a:ln>
        </p:spPr>
        <p:txBody>
          <a:bodyPr wrap="none">
            <a:spAutoFit/>
          </a:bodyPr>
          <a:lstStyle/>
          <a:p>
            <a:r>
              <a:rPr lang="en-US" i="0" u="none"/>
              <a:t>R2</a:t>
            </a:r>
          </a:p>
        </p:txBody>
      </p:sp>
      <p:sp>
        <p:nvSpPr>
          <p:cNvPr id="29758" name="Text Box 61"/>
          <p:cNvSpPr txBox="1">
            <a:spLocks noChangeArrowheads="1"/>
          </p:cNvSpPr>
          <p:nvPr/>
        </p:nvSpPr>
        <p:spPr bwMode="auto">
          <a:xfrm>
            <a:off x="7772400" y="3124200"/>
            <a:ext cx="539750" cy="457200"/>
          </a:xfrm>
          <a:prstGeom prst="rect">
            <a:avLst/>
          </a:prstGeom>
          <a:noFill/>
          <a:ln w="9525">
            <a:noFill/>
            <a:miter lim="800000"/>
            <a:headEnd/>
            <a:tailEnd/>
          </a:ln>
        </p:spPr>
        <p:txBody>
          <a:bodyPr wrap="none">
            <a:spAutoFit/>
          </a:bodyPr>
          <a:lstStyle/>
          <a:p>
            <a:r>
              <a:rPr lang="en-US" i="0" u="none"/>
              <a:t>R3</a:t>
            </a:r>
          </a:p>
        </p:txBody>
      </p:sp>
      <p:sp>
        <p:nvSpPr>
          <p:cNvPr id="29759" name="Text Box 62"/>
          <p:cNvSpPr txBox="1">
            <a:spLocks noChangeArrowheads="1"/>
          </p:cNvSpPr>
          <p:nvPr/>
        </p:nvSpPr>
        <p:spPr bwMode="auto">
          <a:xfrm>
            <a:off x="8229600" y="1676400"/>
            <a:ext cx="539750" cy="457200"/>
          </a:xfrm>
          <a:prstGeom prst="rect">
            <a:avLst/>
          </a:prstGeom>
          <a:noFill/>
          <a:ln w="9525">
            <a:noFill/>
            <a:miter lim="800000"/>
            <a:headEnd/>
            <a:tailEnd/>
          </a:ln>
        </p:spPr>
        <p:txBody>
          <a:bodyPr wrap="none">
            <a:spAutoFit/>
          </a:bodyPr>
          <a:lstStyle/>
          <a:p>
            <a:r>
              <a:rPr lang="en-US" i="0" u="none"/>
              <a:t>R4</a:t>
            </a:r>
          </a:p>
        </p:txBody>
      </p:sp>
      <p:sp>
        <p:nvSpPr>
          <p:cNvPr id="29760" name="Text Box 63"/>
          <p:cNvSpPr txBox="1">
            <a:spLocks noChangeArrowheads="1"/>
          </p:cNvSpPr>
          <p:nvPr/>
        </p:nvSpPr>
        <p:spPr bwMode="auto">
          <a:xfrm>
            <a:off x="1092200" y="711200"/>
            <a:ext cx="2643188" cy="519113"/>
          </a:xfrm>
          <a:prstGeom prst="rect">
            <a:avLst/>
          </a:prstGeom>
          <a:noFill/>
          <a:ln w="9525">
            <a:noFill/>
            <a:miter lim="800000"/>
            <a:headEnd/>
            <a:tailEnd/>
          </a:ln>
        </p:spPr>
        <p:txBody>
          <a:bodyPr wrap="none">
            <a:spAutoFit/>
          </a:bodyPr>
          <a:lstStyle/>
          <a:p>
            <a:r>
              <a:rPr lang="en-US" sz="2800" b="1" i="0"/>
              <a:t>FLOW CHART</a:t>
            </a:r>
          </a:p>
        </p:txBody>
      </p:sp>
      <p:sp>
        <p:nvSpPr>
          <p:cNvPr id="29761" name="Text Box 64"/>
          <p:cNvSpPr txBox="1">
            <a:spLocks noChangeArrowheads="1"/>
          </p:cNvSpPr>
          <p:nvPr/>
        </p:nvSpPr>
        <p:spPr bwMode="auto">
          <a:xfrm>
            <a:off x="5627688" y="711200"/>
            <a:ext cx="2643187" cy="519113"/>
          </a:xfrm>
          <a:prstGeom prst="rect">
            <a:avLst/>
          </a:prstGeom>
          <a:noFill/>
          <a:ln w="9525">
            <a:noFill/>
            <a:miter lim="800000"/>
            <a:headEnd/>
            <a:tailEnd/>
          </a:ln>
        </p:spPr>
        <p:txBody>
          <a:bodyPr wrap="none">
            <a:spAutoFit/>
          </a:bodyPr>
          <a:lstStyle/>
          <a:p>
            <a:r>
              <a:rPr lang="en-US" sz="2800" b="1" i="0"/>
              <a:t>FLOW GRAPH</a:t>
            </a:r>
          </a:p>
        </p:txBody>
      </p:sp>
      <p:sp>
        <p:nvSpPr>
          <p:cNvPr id="29762" name="Oval 65"/>
          <p:cNvSpPr>
            <a:spLocks noChangeArrowheads="1"/>
          </p:cNvSpPr>
          <p:nvPr/>
        </p:nvSpPr>
        <p:spPr bwMode="auto">
          <a:xfrm>
            <a:off x="6829444" y="1219200"/>
            <a:ext cx="457200" cy="365125"/>
          </a:xfrm>
          <a:prstGeom prst="ellipse">
            <a:avLst/>
          </a:prstGeom>
          <a:noFill/>
          <a:ln w="9525">
            <a:solidFill>
              <a:schemeClr val="tx1"/>
            </a:solidFill>
            <a:round/>
            <a:headEnd/>
            <a:tailEnd/>
          </a:ln>
        </p:spPr>
        <p:txBody>
          <a:bodyPr wrap="none" anchor="ctr"/>
          <a:lstStyle/>
          <a:p>
            <a:r>
              <a:rPr lang="en-US" sz="2000" i="0" u="none" dirty="0"/>
              <a:t> </a:t>
            </a:r>
            <a:r>
              <a:rPr lang="en-US" sz="2000" b="1" i="0" u="none" dirty="0"/>
              <a:t>0</a:t>
            </a:r>
          </a:p>
        </p:txBody>
      </p:sp>
      <p:sp>
        <p:nvSpPr>
          <p:cNvPr id="29763" name="Line 66"/>
          <p:cNvSpPr>
            <a:spLocks noChangeShapeType="1"/>
          </p:cNvSpPr>
          <p:nvPr/>
        </p:nvSpPr>
        <p:spPr bwMode="auto">
          <a:xfrm>
            <a:off x="7086600" y="1600200"/>
            <a:ext cx="0" cy="304800"/>
          </a:xfrm>
          <a:prstGeom prst="line">
            <a:avLst/>
          </a:prstGeom>
          <a:noFill/>
          <a:ln w="9525">
            <a:solidFill>
              <a:schemeClr val="tx1"/>
            </a:solidFill>
            <a:round/>
            <a:headEnd/>
            <a:tailEnd type="triangle" w="med" len="med"/>
          </a:ln>
        </p:spPr>
        <p:txBody>
          <a:bodyPr/>
          <a:lstStyle/>
          <a:p>
            <a:endParaRPr lang="en-IN"/>
          </a:p>
        </p:txBody>
      </p:sp>
      <p:sp>
        <p:nvSpPr>
          <p:cNvPr id="68" name="Footer Placeholder 67"/>
          <p:cNvSpPr>
            <a:spLocks noGrp="1"/>
          </p:cNvSpPr>
          <p:nvPr>
            <p:ph type="ftr" sz="quarter" idx="11"/>
          </p:nvPr>
        </p:nvSpPr>
        <p:spPr>
          <a:xfrm>
            <a:off x="3124200" y="6564337"/>
            <a:ext cx="2895600" cy="365125"/>
          </a:xfrm>
        </p:spPr>
        <p:txBody>
          <a:bodyPr/>
          <a:lstStyle/>
          <a:p>
            <a:r>
              <a:rPr lang="en-IN" dirty="0" smtClean="0"/>
              <a:t>Prof. </a:t>
            </a:r>
            <a:r>
              <a:rPr lang="en-IN" dirty="0" err="1" smtClean="0"/>
              <a:t>Anjana</a:t>
            </a:r>
            <a:r>
              <a:rPr lang="en-IN" dirty="0" smtClean="0"/>
              <a:t> </a:t>
            </a:r>
            <a:r>
              <a:rPr lang="en-IN" dirty="0" err="1" smtClean="0"/>
              <a:t>Verma</a:t>
            </a:r>
            <a:endParaRPr lang="en-IN" dirty="0"/>
          </a:p>
        </p:txBody>
      </p:sp>
      <p:sp>
        <p:nvSpPr>
          <p:cNvPr id="69" name="Slide Number Placeholder 68"/>
          <p:cNvSpPr>
            <a:spLocks noGrp="1"/>
          </p:cNvSpPr>
          <p:nvPr>
            <p:ph type="sldNum" sz="quarter" idx="12"/>
          </p:nvPr>
        </p:nvSpPr>
        <p:spPr>
          <a:xfrm>
            <a:off x="6553200" y="6635775"/>
            <a:ext cx="2133600" cy="365125"/>
          </a:xfrm>
        </p:spPr>
        <p:txBody>
          <a:bodyPr/>
          <a:lstStyle/>
          <a:p>
            <a:fld id="{49549E9F-9F6E-4CAF-8BBD-34C43FD5C9E9}" type="slidenum">
              <a:rPr lang="en-IN" smtClean="0"/>
              <a:pPr/>
              <a:t>25</a:t>
            </a:fld>
            <a:endParaRPr lang="en-I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85800" y="-142900"/>
            <a:ext cx="7772400" cy="1143000"/>
          </a:xfrm>
        </p:spPr>
        <p:txBody>
          <a:bodyPr>
            <a:normAutofit/>
          </a:bodyPr>
          <a:lstStyle/>
          <a:p>
            <a:pPr eaLnBrk="1" hangingPunct="1"/>
            <a:r>
              <a:rPr lang="en-US" sz="4000" b="1" dirty="0" smtClean="0">
                <a:latin typeface="Times New Roman" pitchFamily="18" charset="0"/>
                <a:cs typeface="Times New Roman" pitchFamily="18" charset="0"/>
              </a:rPr>
              <a:t>Independent Program Paths</a:t>
            </a:r>
          </a:p>
        </p:txBody>
      </p:sp>
      <p:sp>
        <p:nvSpPr>
          <p:cNvPr id="30724" name="Rectangle 3"/>
          <p:cNvSpPr>
            <a:spLocks noGrp="1" noChangeArrowheads="1"/>
          </p:cNvSpPr>
          <p:nvPr>
            <p:ph type="body" idx="1"/>
          </p:nvPr>
        </p:nvSpPr>
        <p:spPr>
          <a:xfrm>
            <a:off x="428596" y="1071546"/>
            <a:ext cx="8429684" cy="4500578"/>
          </a:xfrm>
        </p:spPr>
        <p:txBody>
          <a:bodyPr>
            <a:noAutofit/>
          </a:bodyPr>
          <a:lstStyle/>
          <a:p>
            <a:pPr algn="just" eaLnBrk="1" hangingPunct="1">
              <a:lnSpc>
                <a:spcPct val="90000"/>
              </a:lnSpc>
            </a:pPr>
            <a:r>
              <a:rPr lang="en-US" sz="2800" b="1" dirty="0" smtClean="0">
                <a:latin typeface="Times New Roman" pitchFamily="18" charset="0"/>
                <a:cs typeface="Times New Roman" pitchFamily="18" charset="0"/>
              </a:rPr>
              <a:t>Defined as a path through the program from the start node until the end node that introduces at least one new set of processing statements or a new condition (i.e., new nodes)</a:t>
            </a:r>
          </a:p>
          <a:p>
            <a:pPr algn="just" eaLnBrk="1" hangingPunct="1">
              <a:lnSpc>
                <a:spcPct val="90000"/>
              </a:lnSpc>
            </a:pPr>
            <a:r>
              <a:rPr lang="en-US" sz="2800" b="1" dirty="0" smtClean="0">
                <a:latin typeface="Times New Roman" pitchFamily="18" charset="0"/>
                <a:cs typeface="Times New Roman" pitchFamily="18" charset="0"/>
              </a:rPr>
              <a:t>Must move along </a:t>
            </a:r>
            <a:r>
              <a:rPr lang="en-US" sz="2800" b="1" u="sng" dirty="0" smtClean="0">
                <a:latin typeface="Times New Roman" pitchFamily="18" charset="0"/>
                <a:cs typeface="Times New Roman" pitchFamily="18" charset="0"/>
              </a:rPr>
              <a:t>at least one</a:t>
            </a:r>
            <a:r>
              <a:rPr lang="en-US" sz="2800" b="1" dirty="0" smtClean="0">
                <a:latin typeface="Times New Roman" pitchFamily="18" charset="0"/>
                <a:cs typeface="Times New Roman" pitchFamily="18" charset="0"/>
              </a:rPr>
              <a:t> edge that has not been traversed before by a previous path</a:t>
            </a:r>
          </a:p>
          <a:p>
            <a:pPr algn="just" eaLnBrk="1" hangingPunct="1">
              <a:lnSpc>
                <a:spcPct val="90000"/>
              </a:lnSpc>
            </a:pPr>
            <a:r>
              <a:rPr lang="en-US" sz="2800" b="1" dirty="0" smtClean="0">
                <a:latin typeface="Times New Roman" pitchFamily="18" charset="0"/>
                <a:cs typeface="Times New Roman" pitchFamily="18" charset="0"/>
              </a:rPr>
              <a:t>Basis set for flow graph on previous slide</a:t>
            </a:r>
          </a:p>
          <a:p>
            <a:pPr lvl="1" algn="just" eaLnBrk="1" hangingPunct="1">
              <a:lnSpc>
                <a:spcPct val="90000"/>
              </a:lnSpc>
            </a:pPr>
            <a:r>
              <a:rPr lang="en-US" b="1" dirty="0" smtClean="0">
                <a:latin typeface="Times New Roman" pitchFamily="18" charset="0"/>
                <a:cs typeface="Times New Roman" pitchFamily="18" charset="0"/>
              </a:rPr>
              <a:t>Path 1: 0-1-11</a:t>
            </a:r>
          </a:p>
          <a:p>
            <a:pPr lvl="1" algn="just" eaLnBrk="1" hangingPunct="1">
              <a:lnSpc>
                <a:spcPct val="90000"/>
              </a:lnSpc>
            </a:pPr>
            <a:r>
              <a:rPr lang="en-US" b="1" dirty="0" smtClean="0">
                <a:latin typeface="Times New Roman" pitchFamily="18" charset="0"/>
                <a:cs typeface="Times New Roman" pitchFamily="18" charset="0"/>
              </a:rPr>
              <a:t>Path 2: 0-1-2-3-4-5-10-1-11</a:t>
            </a:r>
          </a:p>
          <a:p>
            <a:pPr lvl="1" algn="just" eaLnBrk="1" hangingPunct="1">
              <a:lnSpc>
                <a:spcPct val="90000"/>
              </a:lnSpc>
            </a:pPr>
            <a:r>
              <a:rPr lang="en-US" b="1" dirty="0" smtClean="0">
                <a:latin typeface="Times New Roman" pitchFamily="18" charset="0"/>
                <a:cs typeface="Times New Roman" pitchFamily="18" charset="0"/>
              </a:rPr>
              <a:t>Path 3: 0-1-2-3-6-8-9-10-1-11</a:t>
            </a:r>
          </a:p>
          <a:p>
            <a:pPr lvl="1" algn="just" eaLnBrk="1" hangingPunct="1">
              <a:lnSpc>
                <a:spcPct val="90000"/>
              </a:lnSpc>
            </a:pPr>
            <a:r>
              <a:rPr lang="en-US" b="1" dirty="0" smtClean="0">
                <a:latin typeface="Times New Roman" pitchFamily="18" charset="0"/>
                <a:cs typeface="Times New Roman" pitchFamily="18" charset="0"/>
              </a:rPr>
              <a:t>Path 4: 0-1-2-3-6-7-9-10-1-11</a:t>
            </a:r>
          </a:p>
          <a:p>
            <a:pPr algn="just" eaLnBrk="1" hangingPunct="1">
              <a:lnSpc>
                <a:spcPct val="90000"/>
              </a:lnSpc>
            </a:pPr>
            <a:r>
              <a:rPr lang="en-US" sz="2800" b="1" dirty="0" smtClean="0">
                <a:latin typeface="Times New Roman" pitchFamily="18" charset="0"/>
                <a:cs typeface="Times New Roman" pitchFamily="18" charset="0"/>
              </a:rPr>
              <a:t>The </a:t>
            </a:r>
            <a:r>
              <a:rPr lang="en-US" sz="2800" b="1" u="sng" dirty="0" smtClean="0">
                <a:latin typeface="Times New Roman" pitchFamily="18" charset="0"/>
                <a:cs typeface="Times New Roman" pitchFamily="18" charset="0"/>
              </a:rPr>
              <a:t>number of paths</a:t>
            </a:r>
            <a:r>
              <a:rPr lang="en-US" sz="2800" b="1" dirty="0" smtClean="0">
                <a:latin typeface="Times New Roman" pitchFamily="18" charset="0"/>
                <a:cs typeface="Times New Roman" pitchFamily="18" charset="0"/>
              </a:rPr>
              <a:t> in the basis set is determined by the </a:t>
            </a:r>
            <a:r>
              <a:rPr lang="en-US" sz="2800" b="1" u="sng" dirty="0" err="1" smtClean="0">
                <a:latin typeface="Times New Roman" pitchFamily="18" charset="0"/>
                <a:cs typeface="Times New Roman" pitchFamily="18" charset="0"/>
              </a:rPr>
              <a:t>cyclomatic</a:t>
            </a:r>
            <a:r>
              <a:rPr lang="en-US" sz="2800" b="1" u="sng" dirty="0" smtClean="0">
                <a:latin typeface="Times New Roman" pitchFamily="18" charset="0"/>
                <a:cs typeface="Times New Roman" pitchFamily="18" charset="0"/>
              </a:rPr>
              <a:t> complexity</a:t>
            </a: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26</a:t>
            </a:fld>
            <a:endParaRPr lang="en-IN"/>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304800" y="-428652"/>
            <a:ext cx="8839200" cy="1143000"/>
          </a:xfrm>
        </p:spPr>
        <p:txBody>
          <a:bodyPr>
            <a:normAutofit/>
          </a:bodyPr>
          <a:lstStyle/>
          <a:p>
            <a:pPr eaLnBrk="1" hangingPunct="1"/>
            <a:r>
              <a:rPr lang="en-US" sz="3600" b="1" dirty="0" err="1" smtClean="0">
                <a:latin typeface="Times New Roman" pitchFamily="18" charset="0"/>
                <a:cs typeface="Times New Roman" pitchFamily="18" charset="0"/>
              </a:rPr>
              <a:t>Cyclomatic</a:t>
            </a:r>
            <a:r>
              <a:rPr lang="en-US" sz="3600" b="1" dirty="0" smtClean="0">
                <a:latin typeface="Times New Roman" pitchFamily="18" charset="0"/>
                <a:cs typeface="Times New Roman" pitchFamily="18" charset="0"/>
              </a:rPr>
              <a:t> Complexity</a:t>
            </a:r>
          </a:p>
        </p:txBody>
      </p:sp>
      <p:sp>
        <p:nvSpPr>
          <p:cNvPr id="31748" name="Rectangle 3"/>
          <p:cNvSpPr>
            <a:spLocks noGrp="1" noChangeArrowheads="1"/>
          </p:cNvSpPr>
          <p:nvPr>
            <p:ph type="body" idx="1"/>
          </p:nvPr>
        </p:nvSpPr>
        <p:spPr>
          <a:xfrm>
            <a:off x="0" y="385770"/>
            <a:ext cx="9144000" cy="4114800"/>
          </a:xfrm>
        </p:spPr>
        <p:txBody>
          <a:bodyPr>
            <a:noAutofit/>
          </a:bodyPr>
          <a:lstStyle/>
          <a:p>
            <a:pPr algn="just">
              <a:lnSpc>
                <a:spcPct val="90000"/>
              </a:lnSpc>
            </a:pPr>
            <a:r>
              <a:rPr lang="en-IN" sz="2400" b="1" dirty="0" err="1" smtClean="0">
                <a:latin typeface="Times New Roman" pitchFamily="18" charset="0"/>
                <a:cs typeface="Times New Roman" pitchFamily="18" charset="0"/>
              </a:rPr>
              <a:t>Cyclomatic</a:t>
            </a:r>
            <a:r>
              <a:rPr lang="en-IN" sz="2400" b="1" dirty="0" smtClean="0">
                <a:latin typeface="Times New Roman" pitchFamily="18" charset="0"/>
                <a:cs typeface="Times New Roman" pitchFamily="18" charset="0"/>
              </a:rPr>
              <a:t> complexity is a software metric, used to indicate the complexity of a program. It is a quantitative measure of the number of linearly independent paths through a program's source code.</a:t>
            </a:r>
            <a:endParaRPr lang="en-US" sz="2400" b="1" dirty="0" smtClean="0">
              <a:latin typeface="Times New Roman" pitchFamily="18" charset="0"/>
              <a:cs typeface="Times New Roman" pitchFamily="18" charset="0"/>
            </a:endParaRPr>
          </a:p>
          <a:p>
            <a:pPr algn="just" eaLnBrk="1" hangingPunct="1">
              <a:lnSpc>
                <a:spcPct val="90000"/>
              </a:lnSpc>
            </a:pPr>
            <a:r>
              <a:rPr lang="en-US" sz="2400" b="1" dirty="0" smtClean="0">
                <a:latin typeface="Times New Roman" pitchFamily="18" charset="0"/>
                <a:cs typeface="Times New Roman" pitchFamily="18" charset="0"/>
              </a:rPr>
              <a:t>Provides a quantitative measure of the </a:t>
            </a:r>
            <a:r>
              <a:rPr lang="en-US" sz="2400" b="1" u="sng" dirty="0" smtClean="0">
                <a:latin typeface="Times New Roman" pitchFamily="18" charset="0"/>
                <a:cs typeface="Times New Roman" pitchFamily="18" charset="0"/>
              </a:rPr>
              <a:t>logical complexity</a:t>
            </a:r>
            <a:r>
              <a:rPr lang="en-US" sz="2400" b="1" dirty="0" smtClean="0">
                <a:latin typeface="Times New Roman" pitchFamily="18" charset="0"/>
                <a:cs typeface="Times New Roman" pitchFamily="18" charset="0"/>
              </a:rPr>
              <a:t> of a program</a:t>
            </a:r>
          </a:p>
          <a:p>
            <a:pPr algn="just" eaLnBrk="1" hangingPunct="1">
              <a:lnSpc>
                <a:spcPct val="90000"/>
              </a:lnSpc>
            </a:pPr>
            <a:r>
              <a:rPr lang="en-US" sz="2400" b="1" dirty="0" smtClean="0">
                <a:latin typeface="Times New Roman" pitchFamily="18" charset="0"/>
                <a:cs typeface="Times New Roman" pitchFamily="18" charset="0"/>
              </a:rPr>
              <a:t>Defines the </a:t>
            </a:r>
            <a:r>
              <a:rPr lang="en-US" sz="2400" b="1" u="sng" dirty="0" smtClean="0">
                <a:latin typeface="Times New Roman" pitchFamily="18" charset="0"/>
                <a:cs typeface="Times New Roman" pitchFamily="18" charset="0"/>
              </a:rPr>
              <a:t>number of independent paths</a:t>
            </a:r>
            <a:r>
              <a:rPr lang="en-US" sz="2400" b="1" dirty="0" smtClean="0">
                <a:latin typeface="Times New Roman" pitchFamily="18" charset="0"/>
                <a:cs typeface="Times New Roman" pitchFamily="18" charset="0"/>
              </a:rPr>
              <a:t> in the basis set</a:t>
            </a:r>
          </a:p>
          <a:p>
            <a:pPr algn="just" eaLnBrk="1" hangingPunct="1">
              <a:lnSpc>
                <a:spcPct val="90000"/>
              </a:lnSpc>
            </a:pPr>
            <a:r>
              <a:rPr lang="en-US" sz="2400" b="1" dirty="0" smtClean="0">
                <a:latin typeface="Times New Roman" pitchFamily="18" charset="0"/>
                <a:cs typeface="Times New Roman" pitchFamily="18" charset="0"/>
              </a:rPr>
              <a:t>Can be computed </a:t>
            </a:r>
            <a:r>
              <a:rPr lang="en-US" sz="2400" b="1" u="sng" dirty="0" smtClean="0">
                <a:latin typeface="Times New Roman" pitchFamily="18" charset="0"/>
                <a:cs typeface="Times New Roman" pitchFamily="18" charset="0"/>
              </a:rPr>
              <a:t>three</a:t>
            </a:r>
            <a:r>
              <a:rPr lang="en-US" sz="2400" b="1" dirty="0" smtClean="0">
                <a:latin typeface="Times New Roman" pitchFamily="18" charset="0"/>
                <a:cs typeface="Times New Roman" pitchFamily="18" charset="0"/>
              </a:rPr>
              <a:t> ways</a:t>
            </a:r>
          </a:p>
          <a:p>
            <a:pPr lvl="1" algn="just" eaLnBrk="1" hangingPunct="1">
              <a:lnSpc>
                <a:spcPct val="90000"/>
              </a:lnSpc>
            </a:pPr>
            <a:r>
              <a:rPr lang="en-US" sz="2400" b="1" dirty="0" smtClean="0">
                <a:latin typeface="Times New Roman" pitchFamily="18" charset="0"/>
                <a:cs typeface="Times New Roman" pitchFamily="18" charset="0"/>
              </a:rPr>
              <a:t>The number of regions</a:t>
            </a:r>
          </a:p>
          <a:p>
            <a:pPr lvl="1" algn="just" eaLnBrk="1" hangingPunct="1">
              <a:lnSpc>
                <a:spcPct val="90000"/>
              </a:lnSpc>
            </a:pPr>
            <a:r>
              <a:rPr lang="en-US" sz="2400" b="1" dirty="0" smtClean="0">
                <a:latin typeface="Times New Roman" pitchFamily="18" charset="0"/>
                <a:cs typeface="Times New Roman" pitchFamily="18" charset="0"/>
              </a:rPr>
              <a:t>V(G) = E – N + 2, where E is the number of edges and N is the number of nodes in graph G</a:t>
            </a:r>
          </a:p>
          <a:p>
            <a:pPr lvl="1" algn="just" eaLnBrk="1" hangingPunct="1">
              <a:lnSpc>
                <a:spcPct val="90000"/>
              </a:lnSpc>
            </a:pPr>
            <a:r>
              <a:rPr lang="en-US" sz="2400" b="1" dirty="0" smtClean="0">
                <a:latin typeface="Times New Roman" pitchFamily="18" charset="0"/>
                <a:cs typeface="Times New Roman" pitchFamily="18" charset="0"/>
              </a:rPr>
              <a:t>V(G) = P + 1, where P is the number of predicate nodes in the flow graph G</a:t>
            </a:r>
          </a:p>
          <a:p>
            <a:pPr algn="just" eaLnBrk="1" hangingPunct="1">
              <a:lnSpc>
                <a:spcPct val="90000"/>
              </a:lnSpc>
            </a:pPr>
            <a:r>
              <a:rPr lang="en-US" sz="2400" b="1" dirty="0" smtClean="0">
                <a:latin typeface="Times New Roman" pitchFamily="18" charset="0"/>
                <a:cs typeface="Times New Roman" pitchFamily="18" charset="0"/>
              </a:rPr>
              <a:t>Results in the following equations for the example flow graph</a:t>
            </a:r>
          </a:p>
          <a:p>
            <a:pPr lvl="1" algn="just" eaLnBrk="1" hangingPunct="1">
              <a:lnSpc>
                <a:spcPct val="90000"/>
              </a:lnSpc>
            </a:pPr>
            <a:r>
              <a:rPr lang="en-US" sz="2400" b="1" dirty="0" smtClean="0">
                <a:latin typeface="Times New Roman" pitchFamily="18" charset="0"/>
                <a:cs typeface="Times New Roman" pitchFamily="18" charset="0"/>
              </a:rPr>
              <a:t>Number of regions = 4</a:t>
            </a:r>
          </a:p>
          <a:p>
            <a:pPr lvl="1" algn="just" eaLnBrk="1" hangingPunct="1">
              <a:lnSpc>
                <a:spcPct val="90000"/>
              </a:lnSpc>
            </a:pPr>
            <a:r>
              <a:rPr lang="en-US" sz="2400" b="1" dirty="0" smtClean="0">
                <a:latin typeface="Times New Roman" pitchFamily="18" charset="0"/>
                <a:cs typeface="Times New Roman" pitchFamily="18" charset="0"/>
              </a:rPr>
              <a:t>V(G) = 14 edges – 12 nodes + 2 = 4</a:t>
            </a:r>
          </a:p>
          <a:p>
            <a:pPr lvl="1" algn="just" eaLnBrk="1" hangingPunct="1">
              <a:lnSpc>
                <a:spcPct val="90000"/>
              </a:lnSpc>
            </a:pPr>
            <a:r>
              <a:rPr lang="en-US" sz="2400" b="1" dirty="0" smtClean="0">
                <a:latin typeface="Times New Roman" pitchFamily="18" charset="0"/>
                <a:cs typeface="Times New Roman" pitchFamily="18" charset="0"/>
              </a:rPr>
              <a:t>V(G) = 3 predicate nodes + 1 = 4</a:t>
            </a: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27</a:t>
            </a:fld>
            <a:endParaRPr lang="en-IN"/>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685800" y="-261958"/>
            <a:ext cx="7772400" cy="762000"/>
          </a:xfrm>
        </p:spPr>
        <p:txBody>
          <a:bodyPr/>
          <a:lstStyle/>
          <a:p>
            <a:pPr eaLnBrk="1" hangingPunct="1"/>
            <a:r>
              <a:rPr lang="en-US" sz="3600" b="1" dirty="0" smtClean="0">
                <a:latin typeface="Times New Roman" pitchFamily="18" charset="0"/>
                <a:cs typeface="Times New Roman" pitchFamily="18" charset="0"/>
              </a:rPr>
              <a:t>A Second Flow Graph Example</a:t>
            </a:r>
          </a:p>
        </p:txBody>
      </p:sp>
      <p:sp>
        <p:nvSpPr>
          <p:cNvPr id="33796" name="Text Box 3"/>
          <p:cNvSpPr txBox="1">
            <a:spLocks noChangeArrowheads="1"/>
          </p:cNvSpPr>
          <p:nvPr/>
        </p:nvSpPr>
        <p:spPr bwMode="auto">
          <a:xfrm>
            <a:off x="214282" y="285728"/>
            <a:ext cx="5899372" cy="6740307"/>
          </a:xfrm>
          <a:prstGeom prst="rect">
            <a:avLst/>
          </a:prstGeom>
          <a:noFill/>
          <a:ln w="9525">
            <a:solidFill>
              <a:srgbClr val="000000"/>
            </a:solidFill>
            <a:miter lim="800000"/>
            <a:headEnd/>
            <a:tailEnd/>
          </a:ln>
        </p:spPr>
        <p:txBody>
          <a:bodyPr wrap="none">
            <a:spAutoFit/>
          </a:bodyPr>
          <a:lstStyle/>
          <a:p>
            <a:pPr marL="457200" indent="-457200" algn="l"/>
            <a:r>
              <a:rPr lang="en-US" sz="2400" b="1" i="0" u="none" dirty="0">
                <a:latin typeface="Courier New" pitchFamily="49" charset="0"/>
              </a:rPr>
              <a:t> 1  </a:t>
            </a:r>
            <a:r>
              <a:rPr lang="en-US" sz="2400" b="1" i="0" u="none" dirty="0" err="1">
                <a:latin typeface="Courier New" pitchFamily="49" charset="0"/>
              </a:rPr>
              <a:t>int</a:t>
            </a:r>
            <a:r>
              <a:rPr lang="en-US" sz="2400" b="1" i="0" u="none" dirty="0">
                <a:latin typeface="Courier New" pitchFamily="49" charset="0"/>
              </a:rPr>
              <a:t> </a:t>
            </a:r>
            <a:r>
              <a:rPr lang="en-US" sz="2400" b="1" i="0" u="none" dirty="0" err="1">
                <a:latin typeface="Courier New" pitchFamily="49" charset="0"/>
              </a:rPr>
              <a:t>functionY</a:t>
            </a:r>
            <a:r>
              <a:rPr lang="en-US" sz="2400" b="1" i="0" u="none" dirty="0">
                <a:latin typeface="Courier New" pitchFamily="49" charset="0"/>
              </a:rPr>
              <a:t>(void)</a:t>
            </a:r>
          </a:p>
          <a:p>
            <a:pPr marL="457200" indent="-457200" algn="l"/>
            <a:r>
              <a:rPr lang="en-US" sz="2400" b="1" i="0" u="none" dirty="0">
                <a:latin typeface="Courier New" pitchFamily="49" charset="0"/>
              </a:rPr>
              <a:t> 2  {</a:t>
            </a:r>
          </a:p>
          <a:p>
            <a:pPr marL="457200" indent="-457200" algn="l"/>
            <a:r>
              <a:rPr lang="en-US" sz="2400" b="1" i="0" u="none" dirty="0">
                <a:latin typeface="Courier New" pitchFamily="49" charset="0"/>
              </a:rPr>
              <a:t> 3     </a:t>
            </a:r>
            <a:r>
              <a:rPr lang="en-US" sz="2400" b="1" i="0" u="none" dirty="0" err="1">
                <a:latin typeface="Courier New" pitchFamily="49" charset="0"/>
              </a:rPr>
              <a:t>int</a:t>
            </a:r>
            <a:r>
              <a:rPr lang="en-US" sz="2400" b="1" i="0" u="none" dirty="0">
                <a:latin typeface="Courier New" pitchFamily="49" charset="0"/>
              </a:rPr>
              <a:t> x = 0;</a:t>
            </a:r>
          </a:p>
          <a:p>
            <a:pPr marL="457200" indent="-457200" algn="l"/>
            <a:r>
              <a:rPr lang="en-US" sz="2400" b="1" i="0" u="none" dirty="0">
                <a:latin typeface="Courier New" pitchFamily="49" charset="0"/>
              </a:rPr>
              <a:t> 4     </a:t>
            </a:r>
            <a:r>
              <a:rPr lang="en-US" sz="2400" b="1" i="0" u="none" dirty="0" err="1">
                <a:latin typeface="Courier New" pitchFamily="49" charset="0"/>
              </a:rPr>
              <a:t>int</a:t>
            </a:r>
            <a:r>
              <a:rPr lang="en-US" sz="2400" b="1" i="0" u="none" dirty="0">
                <a:latin typeface="Courier New" pitchFamily="49" charset="0"/>
              </a:rPr>
              <a:t> y = 19;     </a:t>
            </a:r>
          </a:p>
          <a:p>
            <a:pPr marL="457200" indent="-457200" algn="l"/>
            <a:r>
              <a:rPr lang="en-US" sz="2400" b="1" i="0" u="none" dirty="0">
                <a:latin typeface="Courier New" pitchFamily="49" charset="0"/>
              </a:rPr>
              <a:t> 5  A: x++;</a:t>
            </a:r>
          </a:p>
          <a:p>
            <a:pPr marL="457200" indent="-457200" algn="l"/>
            <a:r>
              <a:rPr lang="en-US" sz="2400" b="1" i="0" u="none" dirty="0">
                <a:latin typeface="Courier New" pitchFamily="49" charset="0"/>
              </a:rPr>
              <a:t> 6     if (x &gt; 999) </a:t>
            </a:r>
          </a:p>
          <a:p>
            <a:pPr marL="457200" indent="-457200" algn="l"/>
            <a:r>
              <a:rPr lang="en-US" sz="2400" b="1" i="0" u="none" dirty="0">
                <a:latin typeface="Courier New" pitchFamily="49" charset="0"/>
              </a:rPr>
              <a:t> 7        </a:t>
            </a:r>
            <a:r>
              <a:rPr lang="en-US" sz="2400" b="1" i="0" u="none" dirty="0" err="1">
                <a:latin typeface="Courier New" pitchFamily="49" charset="0"/>
              </a:rPr>
              <a:t>goto</a:t>
            </a:r>
            <a:r>
              <a:rPr lang="en-US" sz="2400" b="1" i="0" u="none" dirty="0">
                <a:latin typeface="Courier New" pitchFamily="49" charset="0"/>
              </a:rPr>
              <a:t> D;</a:t>
            </a:r>
          </a:p>
          <a:p>
            <a:pPr marL="457200" indent="-457200" algn="l"/>
            <a:r>
              <a:rPr lang="en-US" sz="2400" b="1" i="0" u="none" dirty="0">
                <a:latin typeface="Courier New" pitchFamily="49" charset="0"/>
              </a:rPr>
              <a:t> 8     if (x % 11 == 0) </a:t>
            </a:r>
          </a:p>
          <a:p>
            <a:pPr marL="457200" indent="-457200" algn="l"/>
            <a:r>
              <a:rPr lang="en-US" sz="2400" b="1" i="0" u="none" dirty="0">
                <a:latin typeface="Courier New" pitchFamily="49" charset="0"/>
              </a:rPr>
              <a:t> 9        </a:t>
            </a:r>
            <a:r>
              <a:rPr lang="en-US" sz="2400" b="1" i="0" u="none" dirty="0" err="1">
                <a:latin typeface="Courier New" pitchFamily="49" charset="0"/>
              </a:rPr>
              <a:t>goto</a:t>
            </a:r>
            <a:r>
              <a:rPr lang="en-US" sz="2400" b="1" i="0" u="none" dirty="0">
                <a:latin typeface="Courier New" pitchFamily="49" charset="0"/>
              </a:rPr>
              <a:t> B;</a:t>
            </a:r>
          </a:p>
          <a:p>
            <a:pPr marL="457200" indent="-457200" algn="l"/>
            <a:r>
              <a:rPr lang="en-US" sz="2400" b="1" i="0" u="none" dirty="0">
                <a:latin typeface="Courier New" pitchFamily="49" charset="0"/>
              </a:rPr>
              <a:t>10     else </a:t>
            </a:r>
            <a:r>
              <a:rPr lang="en-US" sz="2400" b="1" i="0" u="none" dirty="0" err="1">
                <a:latin typeface="Courier New" pitchFamily="49" charset="0"/>
              </a:rPr>
              <a:t>goto</a:t>
            </a:r>
            <a:r>
              <a:rPr lang="en-US" sz="2400" b="1" i="0" u="none" dirty="0">
                <a:latin typeface="Courier New" pitchFamily="49" charset="0"/>
              </a:rPr>
              <a:t> A</a:t>
            </a:r>
            <a:r>
              <a:rPr lang="en-US" sz="2400" b="1" i="0" u="none" dirty="0" smtClean="0">
                <a:latin typeface="Courier New" pitchFamily="49" charset="0"/>
              </a:rPr>
              <a:t>;</a:t>
            </a:r>
            <a:endParaRPr lang="en-US" sz="2400" b="1" i="0" u="none" dirty="0">
              <a:latin typeface="Courier New" pitchFamily="49" charset="0"/>
            </a:endParaRPr>
          </a:p>
          <a:p>
            <a:pPr marL="457200" indent="-457200" algn="l"/>
            <a:r>
              <a:rPr lang="en-US" sz="2400" b="1" i="0" u="none" dirty="0">
                <a:latin typeface="Courier New" pitchFamily="49" charset="0"/>
              </a:rPr>
              <a:t>11  B: if (x % y == 0) </a:t>
            </a:r>
          </a:p>
          <a:p>
            <a:pPr marL="457200" indent="-457200" algn="l"/>
            <a:r>
              <a:rPr lang="en-US" sz="2400" b="1" i="0" u="none" dirty="0">
                <a:latin typeface="Courier New" pitchFamily="49" charset="0"/>
              </a:rPr>
              <a:t>12        </a:t>
            </a:r>
            <a:r>
              <a:rPr lang="en-US" sz="2400" b="1" i="0" u="none" dirty="0" err="1">
                <a:latin typeface="Courier New" pitchFamily="49" charset="0"/>
              </a:rPr>
              <a:t>goto</a:t>
            </a:r>
            <a:r>
              <a:rPr lang="en-US" sz="2400" b="1" i="0" u="none" dirty="0">
                <a:latin typeface="Courier New" pitchFamily="49" charset="0"/>
              </a:rPr>
              <a:t> C;</a:t>
            </a:r>
          </a:p>
          <a:p>
            <a:pPr marL="457200" indent="-457200" algn="l"/>
            <a:r>
              <a:rPr lang="en-US" sz="2400" b="1" i="0" u="none" dirty="0">
                <a:latin typeface="Courier New" pitchFamily="49" charset="0"/>
              </a:rPr>
              <a:t>13     else </a:t>
            </a:r>
            <a:r>
              <a:rPr lang="en-US" sz="2400" b="1" i="0" u="none" dirty="0" err="1">
                <a:latin typeface="Courier New" pitchFamily="49" charset="0"/>
              </a:rPr>
              <a:t>goto</a:t>
            </a:r>
            <a:r>
              <a:rPr lang="en-US" sz="2400" b="1" i="0" u="none" dirty="0">
                <a:latin typeface="Courier New" pitchFamily="49" charset="0"/>
              </a:rPr>
              <a:t> A</a:t>
            </a:r>
            <a:r>
              <a:rPr lang="en-US" sz="2400" b="1" i="0" u="none" dirty="0" smtClean="0">
                <a:latin typeface="Courier New" pitchFamily="49" charset="0"/>
              </a:rPr>
              <a:t>;</a:t>
            </a:r>
            <a:endParaRPr lang="en-US" sz="2400" b="1" i="0" u="none" dirty="0">
              <a:latin typeface="Courier New" pitchFamily="49" charset="0"/>
            </a:endParaRPr>
          </a:p>
          <a:p>
            <a:pPr marL="457200" indent="-457200" algn="l"/>
            <a:r>
              <a:rPr lang="en-US" sz="2400" b="1" i="0" u="none" dirty="0">
                <a:latin typeface="Courier New" pitchFamily="49" charset="0"/>
              </a:rPr>
              <a:t>14  C: </a:t>
            </a:r>
            <a:r>
              <a:rPr lang="en-US" sz="2400" b="1" i="0" u="none" dirty="0" err="1">
                <a:latin typeface="Courier New" pitchFamily="49" charset="0"/>
              </a:rPr>
              <a:t>printf</a:t>
            </a:r>
            <a:r>
              <a:rPr lang="en-US" sz="2400" b="1" i="0" u="none" dirty="0">
                <a:latin typeface="Courier New" pitchFamily="49" charset="0"/>
              </a:rPr>
              <a:t>("%d\n", x);</a:t>
            </a:r>
          </a:p>
          <a:p>
            <a:pPr marL="457200" indent="-457200" algn="l"/>
            <a:r>
              <a:rPr lang="en-US" sz="2400" b="1" i="0" u="none" dirty="0">
                <a:latin typeface="Courier New" pitchFamily="49" charset="0"/>
              </a:rPr>
              <a:t>15     </a:t>
            </a:r>
            <a:r>
              <a:rPr lang="en-US" sz="2400" b="1" i="0" u="none" dirty="0" err="1">
                <a:latin typeface="Courier New" pitchFamily="49" charset="0"/>
              </a:rPr>
              <a:t>goto</a:t>
            </a:r>
            <a:r>
              <a:rPr lang="en-US" sz="2400" b="1" i="0" u="none" dirty="0">
                <a:latin typeface="Courier New" pitchFamily="49" charset="0"/>
              </a:rPr>
              <a:t> A</a:t>
            </a:r>
            <a:r>
              <a:rPr lang="en-US" sz="2400" b="1" i="0" u="none" dirty="0" smtClean="0">
                <a:latin typeface="Courier New" pitchFamily="49" charset="0"/>
              </a:rPr>
              <a:t>;</a:t>
            </a:r>
            <a:endParaRPr lang="en-US" sz="2400" b="1" i="0" u="none" dirty="0">
              <a:latin typeface="Courier New" pitchFamily="49" charset="0"/>
            </a:endParaRPr>
          </a:p>
          <a:p>
            <a:pPr marL="457200" indent="-457200" algn="l"/>
            <a:r>
              <a:rPr lang="en-US" sz="2400" b="1" i="0" u="none" dirty="0">
                <a:latin typeface="Courier New" pitchFamily="49" charset="0"/>
              </a:rPr>
              <a:t>16  D: </a:t>
            </a:r>
            <a:r>
              <a:rPr lang="en-US" sz="2400" b="1" i="0" u="none" dirty="0" err="1">
                <a:latin typeface="Courier New" pitchFamily="49" charset="0"/>
              </a:rPr>
              <a:t>printf</a:t>
            </a:r>
            <a:r>
              <a:rPr lang="en-US" sz="2400" b="1" i="0" u="none" dirty="0">
                <a:latin typeface="Courier New" pitchFamily="49" charset="0"/>
              </a:rPr>
              <a:t>("End of list\n");</a:t>
            </a:r>
          </a:p>
          <a:p>
            <a:pPr marL="457200" indent="-457200" algn="l"/>
            <a:r>
              <a:rPr lang="en-US" sz="2400" b="1" i="0" u="none" dirty="0">
                <a:latin typeface="Courier New" pitchFamily="49" charset="0"/>
              </a:rPr>
              <a:t>17     return 0;</a:t>
            </a:r>
          </a:p>
          <a:p>
            <a:pPr marL="457200" indent="-457200" algn="l"/>
            <a:r>
              <a:rPr lang="en-US" sz="2400" b="1" i="0" u="none" dirty="0">
                <a:latin typeface="Courier New" pitchFamily="49" charset="0"/>
              </a:rPr>
              <a:t>18  </a:t>
            </a:r>
            <a:r>
              <a:rPr lang="en-US" sz="2400" b="1" i="0" u="none" dirty="0" smtClean="0">
                <a:latin typeface="Courier New" pitchFamily="49" charset="0"/>
              </a:rPr>
              <a:t>} 17-15</a:t>
            </a:r>
            <a:endParaRPr lang="en-US" sz="2400" b="1" i="0" u="none" dirty="0">
              <a:latin typeface="Courier New" pitchFamily="49" charset="0"/>
            </a:endParaRPr>
          </a:p>
        </p:txBody>
      </p:sp>
      <p:grpSp>
        <p:nvGrpSpPr>
          <p:cNvPr id="43" name="Group 42"/>
          <p:cNvGrpSpPr/>
          <p:nvPr/>
        </p:nvGrpSpPr>
        <p:grpSpPr>
          <a:xfrm>
            <a:off x="5419756" y="428604"/>
            <a:ext cx="3509962" cy="6286520"/>
            <a:chOff x="5419756" y="571480"/>
            <a:chExt cx="3200400" cy="5943600"/>
          </a:xfrm>
        </p:grpSpPr>
        <p:sp>
          <p:nvSpPr>
            <p:cNvPr id="33797" name="Oval 4"/>
            <p:cNvSpPr>
              <a:spLocks noChangeArrowheads="1"/>
            </p:cNvSpPr>
            <p:nvPr/>
          </p:nvSpPr>
          <p:spPr bwMode="auto">
            <a:xfrm>
              <a:off x="7248556" y="571480"/>
              <a:ext cx="533400" cy="381000"/>
            </a:xfrm>
            <a:prstGeom prst="ellipse">
              <a:avLst/>
            </a:prstGeom>
            <a:noFill/>
            <a:ln w="9525">
              <a:solidFill>
                <a:schemeClr val="tx1"/>
              </a:solidFill>
              <a:round/>
              <a:headEnd/>
              <a:tailEnd/>
            </a:ln>
          </p:spPr>
          <p:txBody>
            <a:bodyPr wrap="none" anchor="ctr"/>
            <a:lstStyle/>
            <a:p>
              <a:r>
                <a:rPr lang="en-US" sz="2400" b="1" i="0" u="none" dirty="0" smtClean="0"/>
                <a:t>3</a:t>
              </a:r>
              <a:endParaRPr lang="en-US" sz="2000" b="1" i="0" u="none" dirty="0"/>
            </a:p>
          </p:txBody>
        </p:sp>
        <p:sp>
          <p:nvSpPr>
            <p:cNvPr id="33798" name="Oval 5"/>
            <p:cNvSpPr>
              <a:spLocks noChangeArrowheads="1"/>
            </p:cNvSpPr>
            <p:nvPr/>
          </p:nvSpPr>
          <p:spPr bwMode="auto">
            <a:xfrm>
              <a:off x="7248556" y="1181080"/>
              <a:ext cx="533400" cy="381000"/>
            </a:xfrm>
            <a:prstGeom prst="ellipse">
              <a:avLst/>
            </a:prstGeom>
            <a:noFill/>
            <a:ln w="9525">
              <a:solidFill>
                <a:schemeClr val="tx1"/>
              </a:solidFill>
              <a:round/>
              <a:headEnd/>
              <a:tailEnd/>
            </a:ln>
          </p:spPr>
          <p:txBody>
            <a:bodyPr wrap="none" anchor="ctr"/>
            <a:lstStyle/>
            <a:p>
              <a:r>
                <a:rPr lang="en-IN" sz="2400" b="1" dirty="0" smtClean="0"/>
                <a:t>4</a:t>
              </a:r>
              <a:endParaRPr lang="en-US" sz="2400" b="1" dirty="0"/>
            </a:p>
          </p:txBody>
        </p:sp>
        <p:sp>
          <p:nvSpPr>
            <p:cNvPr id="33799" name="Oval 6"/>
            <p:cNvSpPr>
              <a:spLocks noChangeArrowheads="1"/>
            </p:cNvSpPr>
            <p:nvPr/>
          </p:nvSpPr>
          <p:spPr bwMode="auto">
            <a:xfrm>
              <a:off x="7248556" y="1866880"/>
              <a:ext cx="533400" cy="381000"/>
            </a:xfrm>
            <a:prstGeom prst="ellipse">
              <a:avLst/>
            </a:prstGeom>
            <a:noFill/>
            <a:ln w="9525">
              <a:solidFill>
                <a:schemeClr val="tx1"/>
              </a:solidFill>
              <a:round/>
              <a:headEnd/>
              <a:tailEnd/>
            </a:ln>
          </p:spPr>
          <p:txBody>
            <a:bodyPr wrap="none" anchor="ctr"/>
            <a:lstStyle/>
            <a:p>
              <a:r>
                <a:rPr lang="en-US" sz="2400" b="1" i="0" u="none" dirty="0" smtClean="0"/>
                <a:t>5</a:t>
              </a:r>
              <a:endParaRPr lang="en-US" sz="2000" b="1" i="0" u="none" dirty="0"/>
            </a:p>
          </p:txBody>
        </p:sp>
        <p:sp>
          <p:nvSpPr>
            <p:cNvPr id="33800" name="Oval 7"/>
            <p:cNvSpPr>
              <a:spLocks noChangeArrowheads="1"/>
            </p:cNvSpPr>
            <p:nvPr/>
          </p:nvSpPr>
          <p:spPr bwMode="auto">
            <a:xfrm>
              <a:off x="7248556" y="2552680"/>
              <a:ext cx="533400" cy="381000"/>
            </a:xfrm>
            <a:prstGeom prst="ellipse">
              <a:avLst/>
            </a:prstGeom>
            <a:noFill/>
            <a:ln w="38100" cmpd="dbl">
              <a:solidFill>
                <a:schemeClr val="tx1"/>
              </a:solidFill>
              <a:round/>
              <a:headEnd/>
              <a:tailEnd/>
            </a:ln>
          </p:spPr>
          <p:txBody>
            <a:bodyPr wrap="none" anchor="ctr"/>
            <a:lstStyle/>
            <a:p>
              <a:r>
                <a:rPr lang="en-US" sz="2000" b="1" dirty="0" smtClean="0">
                  <a:latin typeface="Times New Roman" pitchFamily="18" charset="0"/>
                  <a:cs typeface="Times New Roman" pitchFamily="18" charset="0"/>
                </a:rPr>
                <a:t>6</a:t>
              </a:r>
              <a:endParaRPr lang="en-US" sz="2000" b="1" dirty="0">
                <a:latin typeface="Times New Roman" pitchFamily="18" charset="0"/>
                <a:cs typeface="Times New Roman" pitchFamily="18" charset="0"/>
              </a:endParaRPr>
            </a:p>
          </p:txBody>
        </p:sp>
        <p:sp>
          <p:nvSpPr>
            <p:cNvPr id="33801" name="Oval 8"/>
            <p:cNvSpPr>
              <a:spLocks noChangeArrowheads="1"/>
            </p:cNvSpPr>
            <p:nvPr/>
          </p:nvSpPr>
          <p:spPr bwMode="auto">
            <a:xfrm>
              <a:off x="8067732" y="3009880"/>
              <a:ext cx="533400" cy="381000"/>
            </a:xfrm>
            <a:prstGeom prst="ellipse">
              <a:avLst/>
            </a:prstGeom>
            <a:noFill/>
            <a:ln w="9525">
              <a:solidFill>
                <a:schemeClr val="tx1"/>
              </a:solidFill>
              <a:round/>
              <a:headEnd/>
              <a:tailEnd/>
            </a:ln>
          </p:spPr>
          <p:txBody>
            <a:bodyPr wrap="none" anchor="ctr"/>
            <a:lstStyle/>
            <a:p>
              <a:r>
                <a:rPr lang="en-US" sz="2400" b="1" i="0" u="none" dirty="0" smtClean="0"/>
                <a:t>7</a:t>
              </a:r>
              <a:endParaRPr lang="en-US" b="1" i="0" u="none" dirty="0"/>
            </a:p>
          </p:txBody>
        </p:sp>
        <p:sp>
          <p:nvSpPr>
            <p:cNvPr id="33802" name="Oval 9"/>
            <p:cNvSpPr>
              <a:spLocks noChangeArrowheads="1"/>
            </p:cNvSpPr>
            <p:nvPr/>
          </p:nvSpPr>
          <p:spPr bwMode="auto">
            <a:xfrm>
              <a:off x="8086756" y="3619480"/>
              <a:ext cx="533400" cy="381000"/>
            </a:xfrm>
            <a:prstGeom prst="ellipse">
              <a:avLst/>
            </a:prstGeom>
            <a:noFill/>
            <a:ln w="9525">
              <a:solidFill>
                <a:schemeClr val="tx1"/>
              </a:solidFill>
              <a:round/>
              <a:headEnd/>
              <a:tailEnd/>
            </a:ln>
          </p:spPr>
          <p:txBody>
            <a:bodyPr wrap="none" anchor="ctr"/>
            <a:lstStyle/>
            <a:p>
              <a:r>
                <a:rPr lang="en-US" sz="2000" b="1" dirty="0" smtClean="0"/>
                <a:t>16</a:t>
              </a:r>
              <a:endParaRPr lang="en-US" sz="2000" b="1" dirty="0"/>
            </a:p>
          </p:txBody>
        </p:sp>
        <p:sp>
          <p:nvSpPr>
            <p:cNvPr id="33803" name="Oval 10"/>
            <p:cNvSpPr>
              <a:spLocks noChangeArrowheads="1"/>
            </p:cNvSpPr>
            <p:nvPr/>
          </p:nvSpPr>
          <p:spPr bwMode="auto">
            <a:xfrm>
              <a:off x="8086756" y="4229080"/>
              <a:ext cx="533400" cy="381000"/>
            </a:xfrm>
            <a:prstGeom prst="ellipse">
              <a:avLst/>
            </a:prstGeom>
            <a:noFill/>
            <a:ln w="9525">
              <a:solidFill>
                <a:schemeClr val="tx1"/>
              </a:solidFill>
              <a:round/>
              <a:headEnd/>
              <a:tailEnd/>
            </a:ln>
          </p:spPr>
          <p:txBody>
            <a:bodyPr wrap="none" anchor="ctr"/>
            <a:lstStyle/>
            <a:p>
              <a:r>
                <a:rPr lang="en-US" sz="2000" b="1" dirty="0" smtClean="0"/>
                <a:t>17</a:t>
              </a:r>
              <a:endParaRPr lang="en-US" sz="2000" b="1" dirty="0"/>
            </a:p>
          </p:txBody>
        </p:sp>
        <p:sp>
          <p:nvSpPr>
            <p:cNvPr id="33804" name="Oval 11"/>
            <p:cNvSpPr>
              <a:spLocks noChangeArrowheads="1"/>
            </p:cNvSpPr>
            <p:nvPr/>
          </p:nvSpPr>
          <p:spPr bwMode="auto">
            <a:xfrm>
              <a:off x="6486556" y="3009880"/>
              <a:ext cx="533400" cy="381000"/>
            </a:xfrm>
            <a:prstGeom prst="ellipse">
              <a:avLst/>
            </a:prstGeom>
            <a:noFill/>
            <a:ln w="38100" cmpd="dbl">
              <a:solidFill>
                <a:schemeClr val="tx1"/>
              </a:solidFill>
              <a:round/>
              <a:headEnd/>
              <a:tailEnd/>
            </a:ln>
          </p:spPr>
          <p:txBody>
            <a:bodyPr wrap="none" anchor="ctr"/>
            <a:lstStyle/>
            <a:p>
              <a:r>
                <a:rPr lang="en-US" sz="2000" b="1" dirty="0"/>
                <a:t>8</a:t>
              </a:r>
            </a:p>
          </p:txBody>
        </p:sp>
        <p:sp>
          <p:nvSpPr>
            <p:cNvPr id="33805" name="Oval 12"/>
            <p:cNvSpPr>
              <a:spLocks noChangeArrowheads="1"/>
            </p:cNvSpPr>
            <p:nvPr/>
          </p:nvSpPr>
          <p:spPr bwMode="auto">
            <a:xfrm>
              <a:off x="6486556" y="3619480"/>
              <a:ext cx="533400" cy="381000"/>
            </a:xfrm>
            <a:prstGeom prst="ellipse">
              <a:avLst/>
            </a:prstGeom>
            <a:noFill/>
            <a:ln w="9525">
              <a:solidFill>
                <a:schemeClr val="tx1"/>
              </a:solidFill>
              <a:round/>
              <a:headEnd/>
              <a:tailEnd/>
            </a:ln>
          </p:spPr>
          <p:txBody>
            <a:bodyPr wrap="none" anchor="ctr"/>
            <a:lstStyle/>
            <a:p>
              <a:r>
                <a:rPr lang="en-US" sz="2000" b="1" dirty="0"/>
                <a:t>9</a:t>
              </a:r>
            </a:p>
          </p:txBody>
        </p:sp>
        <p:sp>
          <p:nvSpPr>
            <p:cNvPr id="33806" name="Oval 13"/>
            <p:cNvSpPr>
              <a:spLocks noChangeArrowheads="1"/>
            </p:cNvSpPr>
            <p:nvPr/>
          </p:nvSpPr>
          <p:spPr bwMode="auto">
            <a:xfrm>
              <a:off x="6486556" y="4229080"/>
              <a:ext cx="533400" cy="381000"/>
            </a:xfrm>
            <a:prstGeom prst="ellipse">
              <a:avLst/>
            </a:prstGeom>
            <a:noFill/>
            <a:ln w="38100" cmpd="dbl">
              <a:solidFill>
                <a:schemeClr val="tx1"/>
              </a:solidFill>
              <a:round/>
              <a:headEnd/>
              <a:tailEnd/>
            </a:ln>
          </p:spPr>
          <p:txBody>
            <a:bodyPr wrap="none" anchor="ctr"/>
            <a:lstStyle/>
            <a:p>
              <a:r>
                <a:rPr lang="en-US" sz="2000" b="1" dirty="0"/>
                <a:t>11</a:t>
              </a:r>
            </a:p>
          </p:txBody>
        </p:sp>
        <p:sp>
          <p:nvSpPr>
            <p:cNvPr id="33807" name="Oval 14"/>
            <p:cNvSpPr>
              <a:spLocks noChangeArrowheads="1"/>
            </p:cNvSpPr>
            <p:nvPr/>
          </p:nvSpPr>
          <p:spPr bwMode="auto">
            <a:xfrm>
              <a:off x="6486556" y="4838680"/>
              <a:ext cx="533400" cy="381000"/>
            </a:xfrm>
            <a:prstGeom prst="ellipse">
              <a:avLst/>
            </a:prstGeom>
            <a:noFill/>
            <a:ln w="9525">
              <a:solidFill>
                <a:schemeClr val="tx1"/>
              </a:solidFill>
              <a:round/>
              <a:headEnd/>
              <a:tailEnd/>
            </a:ln>
          </p:spPr>
          <p:txBody>
            <a:bodyPr wrap="none" anchor="ctr"/>
            <a:lstStyle/>
            <a:p>
              <a:r>
                <a:rPr lang="en-US" sz="2000" b="1" dirty="0"/>
                <a:t>12</a:t>
              </a:r>
            </a:p>
          </p:txBody>
        </p:sp>
        <p:sp>
          <p:nvSpPr>
            <p:cNvPr id="33808" name="Oval 15"/>
            <p:cNvSpPr>
              <a:spLocks noChangeArrowheads="1"/>
            </p:cNvSpPr>
            <p:nvPr/>
          </p:nvSpPr>
          <p:spPr bwMode="auto">
            <a:xfrm>
              <a:off x="6486556" y="5524480"/>
              <a:ext cx="533400" cy="381000"/>
            </a:xfrm>
            <a:prstGeom prst="ellipse">
              <a:avLst/>
            </a:prstGeom>
            <a:noFill/>
            <a:ln w="9525">
              <a:solidFill>
                <a:schemeClr val="tx1"/>
              </a:solidFill>
              <a:round/>
              <a:headEnd/>
              <a:tailEnd/>
            </a:ln>
          </p:spPr>
          <p:txBody>
            <a:bodyPr wrap="none" anchor="ctr"/>
            <a:lstStyle/>
            <a:p>
              <a:r>
                <a:rPr lang="en-US" sz="2000" b="1" i="0" u="none" dirty="0"/>
                <a:t>14</a:t>
              </a:r>
            </a:p>
          </p:txBody>
        </p:sp>
        <p:sp>
          <p:nvSpPr>
            <p:cNvPr id="33809" name="Oval 16"/>
            <p:cNvSpPr>
              <a:spLocks noChangeArrowheads="1"/>
            </p:cNvSpPr>
            <p:nvPr/>
          </p:nvSpPr>
          <p:spPr bwMode="auto">
            <a:xfrm>
              <a:off x="6486556" y="6134080"/>
              <a:ext cx="533400" cy="381000"/>
            </a:xfrm>
            <a:prstGeom prst="ellipse">
              <a:avLst/>
            </a:prstGeom>
            <a:noFill/>
            <a:ln w="9525">
              <a:solidFill>
                <a:schemeClr val="tx1"/>
              </a:solidFill>
              <a:round/>
              <a:headEnd/>
              <a:tailEnd/>
            </a:ln>
          </p:spPr>
          <p:txBody>
            <a:bodyPr wrap="none" anchor="ctr"/>
            <a:lstStyle/>
            <a:p>
              <a:r>
                <a:rPr lang="en-US" sz="2000" b="1" dirty="0"/>
                <a:t>15</a:t>
              </a:r>
            </a:p>
          </p:txBody>
        </p:sp>
        <p:sp>
          <p:nvSpPr>
            <p:cNvPr id="33810" name="Oval 17"/>
            <p:cNvSpPr>
              <a:spLocks noChangeArrowheads="1"/>
            </p:cNvSpPr>
            <p:nvPr/>
          </p:nvSpPr>
          <p:spPr bwMode="auto">
            <a:xfrm>
              <a:off x="5419756" y="4838680"/>
              <a:ext cx="533400" cy="381000"/>
            </a:xfrm>
            <a:prstGeom prst="ellipse">
              <a:avLst/>
            </a:prstGeom>
            <a:noFill/>
            <a:ln w="9525">
              <a:solidFill>
                <a:schemeClr val="tx1"/>
              </a:solidFill>
              <a:round/>
              <a:headEnd/>
              <a:tailEnd/>
            </a:ln>
          </p:spPr>
          <p:txBody>
            <a:bodyPr wrap="none" anchor="ctr"/>
            <a:lstStyle/>
            <a:p>
              <a:r>
                <a:rPr lang="en-US" sz="2000" b="1" dirty="0"/>
                <a:t>13</a:t>
              </a:r>
            </a:p>
          </p:txBody>
        </p:sp>
        <p:sp>
          <p:nvSpPr>
            <p:cNvPr id="33811" name="Oval 18"/>
            <p:cNvSpPr>
              <a:spLocks noChangeArrowheads="1"/>
            </p:cNvSpPr>
            <p:nvPr/>
          </p:nvSpPr>
          <p:spPr bwMode="auto">
            <a:xfrm>
              <a:off x="5419756" y="3619480"/>
              <a:ext cx="533400" cy="381000"/>
            </a:xfrm>
            <a:prstGeom prst="ellipse">
              <a:avLst/>
            </a:prstGeom>
            <a:noFill/>
            <a:ln w="9525">
              <a:solidFill>
                <a:schemeClr val="tx1"/>
              </a:solidFill>
              <a:round/>
              <a:headEnd/>
              <a:tailEnd/>
            </a:ln>
          </p:spPr>
          <p:txBody>
            <a:bodyPr wrap="none" anchor="ctr"/>
            <a:lstStyle/>
            <a:p>
              <a:r>
                <a:rPr lang="en-US" sz="2000" b="1" dirty="0"/>
                <a:t>10</a:t>
              </a:r>
            </a:p>
          </p:txBody>
        </p:sp>
        <p:cxnSp>
          <p:nvCxnSpPr>
            <p:cNvPr id="33812" name="AutoShape 19"/>
            <p:cNvCxnSpPr>
              <a:cxnSpLocks noChangeShapeType="1"/>
              <a:stCxn id="33797" idx="4"/>
              <a:endCxn id="33798" idx="0"/>
            </p:cNvCxnSpPr>
            <p:nvPr/>
          </p:nvCxnSpPr>
          <p:spPr bwMode="auto">
            <a:xfrm>
              <a:off x="7515256" y="952480"/>
              <a:ext cx="0" cy="228600"/>
            </a:xfrm>
            <a:prstGeom prst="straightConnector1">
              <a:avLst/>
            </a:prstGeom>
            <a:noFill/>
            <a:ln w="28575">
              <a:solidFill>
                <a:schemeClr val="tx1"/>
              </a:solidFill>
              <a:round/>
              <a:headEnd/>
              <a:tailEnd type="triangle" w="med" len="med"/>
            </a:ln>
          </p:spPr>
        </p:cxnSp>
        <p:cxnSp>
          <p:nvCxnSpPr>
            <p:cNvPr id="33813" name="AutoShape 20"/>
            <p:cNvCxnSpPr>
              <a:cxnSpLocks noChangeShapeType="1"/>
              <a:stCxn id="33798" idx="4"/>
              <a:endCxn id="33799" idx="0"/>
            </p:cNvCxnSpPr>
            <p:nvPr/>
          </p:nvCxnSpPr>
          <p:spPr bwMode="auto">
            <a:xfrm>
              <a:off x="7515256" y="1562080"/>
              <a:ext cx="0" cy="304800"/>
            </a:xfrm>
            <a:prstGeom prst="straightConnector1">
              <a:avLst/>
            </a:prstGeom>
            <a:noFill/>
            <a:ln w="28575">
              <a:solidFill>
                <a:schemeClr val="tx1"/>
              </a:solidFill>
              <a:round/>
              <a:headEnd/>
              <a:tailEnd type="triangle" w="med" len="med"/>
            </a:ln>
          </p:spPr>
        </p:cxnSp>
        <p:cxnSp>
          <p:nvCxnSpPr>
            <p:cNvPr id="33814" name="AutoShape 21"/>
            <p:cNvCxnSpPr>
              <a:cxnSpLocks noChangeShapeType="1"/>
              <a:stCxn id="33799" idx="4"/>
              <a:endCxn id="33800" idx="0"/>
            </p:cNvCxnSpPr>
            <p:nvPr/>
          </p:nvCxnSpPr>
          <p:spPr bwMode="auto">
            <a:xfrm>
              <a:off x="7515256" y="2247880"/>
              <a:ext cx="0" cy="285750"/>
            </a:xfrm>
            <a:prstGeom prst="straightConnector1">
              <a:avLst/>
            </a:prstGeom>
            <a:noFill/>
            <a:ln w="28575">
              <a:solidFill>
                <a:schemeClr val="tx1"/>
              </a:solidFill>
              <a:round/>
              <a:headEnd/>
              <a:tailEnd type="triangle" w="med" len="med"/>
            </a:ln>
          </p:spPr>
        </p:cxnSp>
        <p:cxnSp>
          <p:nvCxnSpPr>
            <p:cNvPr id="33815" name="AutoShape 22"/>
            <p:cNvCxnSpPr>
              <a:cxnSpLocks noChangeShapeType="1"/>
              <a:stCxn id="33800" idx="3"/>
              <a:endCxn id="33804" idx="7"/>
            </p:cNvCxnSpPr>
            <p:nvPr/>
          </p:nvCxnSpPr>
          <p:spPr bwMode="auto">
            <a:xfrm flipH="1">
              <a:off x="6942169" y="2897168"/>
              <a:ext cx="384175" cy="149225"/>
            </a:xfrm>
            <a:prstGeom prst="straightConnector1">
              <a:avLst/>
            </a:prstGeom>
            <a:noFill/>
            <a:ln w="28575">
              <a:solidFill>
                <a:schemeClr val="tx1"/>
              </a:solidFill>
              <a:round/>
              <a:headEnd/>
              <a:tailEnd type="triangle" w="med" len="med"/>
            </a:ln>
          </p:spPr>
        </p:cxnSp>
        <p:cxnSp>
          <p:nvCxnSpPr>
            <p:cNvPr id="33816" name="AutoShape 23"/>
            <p:cNvCxnSpPr>
              <a:cxnSpLocks noChangeShapeType="1"/>
              <a:stCxn id="33800" idx="5"/>
              <a:endCxn id="33801" idx="1"/>
            </p:cNvCxnSpPr>
            <p:nvPr/>
          </p:nvCxnSpPr>
          <p:spPr bwMode="auto">
            <a:xfrm rot="16200000" flipH="1">
              <a:off x="7830948" y="2750777"/>
              <a:ext cx="187792" cy="442006"/>
            </a:xfrm>
            <a:prstGeom prst="straightConnector1">
              <a:avLst/>
            </a:prstGeom>
            <a:noFill/>
            <a:ln w="28575">
              <a:solidFill>
                <a:schemeClr val="tx1"/>
              </a:solidFill>
              <a:round/>
              <a:headEnd/>
              <a:tailEnd type="triangle" w="med" len="med"/>
            </a:ln>
          </p:spPr>
        </p:cxnSp>
        <p:cxnSp>
          <p:nvCxnSpPr>
            <p:cNvPr id="33817" name="AutoShape 24"/>
            <p:cNvCxnSpPr>
              <a:cxnSpLocks noChangeShapeType="1"/>
              <a:stCxn id="33804" idx="4"/>
              <a:endCxn id="33805" idx="0"/>
            </p:cNvCxnSpPr>
            <p:nvPr/>
          </p:nvCxnSpPr>
          <p:spPr bwMode="auto">
            <a:xfrm>
              <a:off x="6753256" y="3409930"/>
              <a:ext cx="0" cy="209550"/>
            </a:xfrm>
            <a:prstGeom prst="straightConnector1">
              <a:avLst/>
            </a:prstGeom>
            <a:noFill/>
            <a:ln w="28575">
              <a:solidFill>
                <a:schemeClr val="tx1"/>
              </a:solidFill>
              <a:round/>
              <a:headEnd/>
              <a:tailEnd type="triangle" w="med" len="med"/>
            </a:ln>
          </p:spPr>
        </p:cxnSp>
        <p:cxnSp>
          <p:nvCxnSpPr>
            <p:cNvPr id="33818" name="AutoShape 25"/>
            <p:cNvCxnSpPr>
              <a:cxnSpLocks noChangeShapeType="1"/>
              <a:stCxn id="33801" idx="4"/>
              <a:endCxn id="33802" idx="0"/>
            </p:cNvCxnSpPr>
            <p:nvPr/>
          </p:nvCxnSpPr>
          <p:spPr bwMode="auto">
            <a:xfrm rot="16200000" flipH="1">
              <a:off x="8229644" y="3495668"/>
              <a:ext cx="228600" cy="19024"/>
            </a:xfrm>
            <a:prstGeom prst="straightConnector1">
              <a:avLst/>
            </a:prstGeom>
            <a:noFill/>
            <a:ln w="28575">
              <a:solidFill>
                <a:schemeClr val="tx1"/>
              </a:solidFill>
              <a:round/>
              <a:headEnd/>
              <a:tailEnd type="triangle" w="med" len="med"/>
            </a:ln>
          </p:spPr>
        </p:cxnSp>
        <p:cxnSp>
          <p:nvCxnSpPr>
            <p:cNvPr id="33819" name="AutoShape 26"/>
            <p:cNvCxnSpPr>
              <a:cxnSpLocks noChangeShapeType="1"/>
              <a:stCxn id="33802" idx="4"/>
              <a:endCxn id="33803" idx="0"/>
            </p:cNvCxnSpPr>
            <p:nvPr/>
          </p:nvCxnSpPr>
          <p:spPr bwMode="auto">
            <a:xfrm>
              <a:off x="8353456" y="4000480"/>
              <a:ext cx="0" cy="228600"/>
            </a:xfrm>
            <a:prstGeom prst="straightConnector1">
              <a:avLst/>
            </a:prstGeom>
            <a:noFill/>
            <a:ln w="28575">
              <a:solidFill>
                <a:schemeClr val="tx1"/>
              </a:solidFill>
              <a:round/>
              <a:headEnd/>
              <a:tailEnd type="triangle" w="med" len="med"/>
            </a:ln>
          </p:spPr>
        </p:cxnSp>
        <p:cxnSp>
          <p:nvCxnSpPr>
            <p:cNvPr id="33820" name="AutoShape 27"/>
            <p:cNvCxnSpPr>
              <a:cxnSpLocks noChangeShapeType="1"/>
              <a:stCxn id="33805" idx="4"/>
              <a:endCxn id="33806" idx="0"/>
            </p:cNvCxnSpPr>
            <p:nvPr/>
          </p:nvCxnSpPr>
          <p:spPr bwMode="auto">
            <a:xfrm>
              <a:off x="6753256" y="4000480"/>
              <a:ext cx="0" cy="209550"/>
            </a:xfrm>
            <a:prstGeom prst="straightConnector1">
              <a:avLst/>
            </a:prstGeom>
            <a:noFill/>
            <a:ln w="28575">
              <a:solidFill>
                <a:schemeClr val="tx1"/>
              </a:solidFill>
              <a:round/>
              <a:headEnd/>
              <a:tailEnd type="triangle" w="med" len="med"/>
            </a:ln>
          </p:spPr>
        </p:cxnSp>
        <p:cxnSp>
          <p:nvCxnSpPr>
            <p:cNvPr id="33821" name="AutoShape 28"/>
            <p:cNvCxnSpPr>
              <a:cxnSpLocks noChangeShapeType="1"/>
              <a:stCxn id="33806" idx="4"/>
              <a:endCxn id="33807" idx="0"/>
            </p:cNvCxnSpPr>
            <p:nvPr/>
          </p:nvCxnSpPr>
          <p:spPr bwMode="auto">
            <a:xfrm>
              <a:off x="6753256" y="4629130"/>
              <a:ext cx="0" cy="209550"/>
            </a:xfrm>
            <a:prstGeom prst="straightConnector1">
              <a:avLst/>
            </a:prstGeom>
            <a:noFill/>
            <a:ln w="28575">
              <a:solidFill>
                <a:schemeClr val="tx1"/>
              </a:solidFill>
              <a:round/>
              <a:headEnd/>
              <a:tailEnd type="triangle" w="med" len="med"/>
            </a:ln>
          </p:spPr>
        </p:cxnSp>
        <p:cxnSp>
          <p:nvCxnSpPr>
            <p:cNvPr id="33822" name="AutoShape 29"/>
            <p:cNvCxnSpPr>
              <a:cxnSpLocks noChangeShapeType="1"/>
              <a:stCxn id="33807" idx="4"/>
              <a:endCxn id="33808" idx="0"/>
            </p:cNvCxnSpPr>
            <p:nvPr/>
          </p:nvCxnSpPr>
          <p:spPr bwMode="auto">
            <a:xfrm>
              <a:off x="6753256" y="5219680"/>
              <a:ext cx="0" cy="304800"/>
            </a:xfrm>
            <a:prstGeom prst="straightConnector1">
              <a:avLst/>
            </a:prstGeom>
            <a:noFill/>
            <a:ln w="28575">
              <a:solidFill>
                <a:schemeClr val="tx1"/>
              </a:solidFill>
              <a:round/>
              <a:headEnd/>
              <a:tailEnd type="triangle" w="med" len="med"/>
            </a:ln>
          </p:spPr>
        </p:cxnSp>
        <p:cxnSp>
          <p:nvCxnSpPr>
            <p:cNvPr id="33823" name="AutoShape 30"/>
            <p:cNvCxnSpPr>
              <a:cxnSpLocks noChangeShapeType="1"/>
              <a:stCxn id="33808" idx="4"/>
              <a:endCxn id="33809" idx="0"/>
            </p:cNvCxnSpPr>
            <p:nvPr/>
          </p:nvCxnSpPr>
          <p:spPr bwMode="auto">
            <a:xfrm>
              <a:off x="6753256" y="5905480"/>
              <a:ext cx="0" cy="228600"/>
            </a:xfrm>
            <a:prstGeom prst="straightConnector1">
              <a:avLst/>
            </a:prstGeom>
            <a:noFill/>
            <a:ln w="28575">
              <a:solidFill>
                <a:schemeClr val="tx1"/>
              </a:solidFill>
              <a:round/>
              <a:headEnd/>
              <a:tailEnd type="triangle" w="med" len="med"/>
            </a:ln>
          </p:spPr>
        </p:cxnSp>
        <p:cxnSp>
          <p:nvCxnSpPr>
            <p:cNvPr id="33824" name="AutoShape 31"/>
            <p:cNvCxnSpPr>
              <a:cxnSpLocks noChangeShapeType="1"/>
              <a:stCxn id="33804" idx="3"/>
              <a:endCxn id="33811" idx="7"/>
            </p:cNvCxnSpPr>
            <p:nvPr/>
          </p:nvCxnSpPr>
          <p:spPr bwMode="auto">
            <a:xfrm flipH="1">
              <a:off x="5875369" y="3354368"/>
              <a:ext cx="688975" cy="320675"/>
            </a:xfrm>
            <a:prstGeom prst="straightConnector1">
              <a:avLst/>
            </a:prstGeom>
            <a:noFill/>
            <a:ln w="28575">
              <a:solidFill>
                <a:schemeClr val="tx1"/>
              </a:solidFill>
              <a:round/>
              <a:headEnd/>
              <a:tailEnd type="triangle" w="med" len="med"/>
            </a:ln>
          </p:spPr>
        </p:cxnSp>
        <p:cxnSp>
          <p:nvCxnSpPr>
            <p:cNvPr id="33825" name="AutoShape 32"/>
            <p:cNvCxnSpPr>
              <a:cxnSpLocks noChangeShapeType="1"/>
              <a:stCxn id="33811" idx="0"/>
              <a:endCxn id="33799" idx="3"/>
            </p:cNvCxnSpPr>
            <p:nvPr/>
          </p:nvCxnSpPr>
          <p:spPr bwMode="auto">
            <a:xfrm rot="-5400000">
              <a:off x="5792819" y="2085955"/>
              <a:ext cx="1427162" cy="1639888"/>
            </a:xfrm>
            <a:prstGeom prst="curvedConnector3">
              <a:avLst>
                <a:gd name="adj1" fmla="val 74190"/>
              </a:avLst>
            </a:prstGeom>
            <a:noFill/>
            <a:ln w="28575">
              <a:solidFill>
                <a:schemeClr val="tx1"/>
              </a:solidFill>
              <a:round/>
              <a:headEnd/>
              <a:tailEnd type="triangle" w="med" len="med"/>
            </a:ln>
          </p:spPr>
        </p:cxnSp>
        <p:cxnSp>
          <p:nvCxnSpPr>
            <p:cNvPr id="33826" name="AutoShape 33"/>
            <p:cNvCxnSpPr>
              <a:cxnSpLocks noChangeShapeType="1"/>
              <a:stCxn id="33810" idx="2"/>
              <a:endCxn id="33799" idx="2"/>
            </p:cNvCxnSpPr>
            <p:nvPr/>
          </p:nvCxnSpPr>
          <p:spPr bwMode="auto">
            <a:xfrm rot="10800000" flipH="1">
              <a:off x="5419756" y="2057380"/>
              <a:ext cx="1828800" cy="2971800"/>
            </a:xfrm>
            <a:prstGeom prst="curvedConnector3">
              <a:avLst>
                <a:gd name="adj1" fmla="val -12500"/>
              </a:avLst>
            </a:prstGeom>
            <a:noFill/>
            <a:ln w="28575">
              <a:solidFill>
                <a:schemeClr val="tx1"/>
              </a:solidFill>
              <a:round/>
              <a:headEnd/>
              <a:tailEnd type="triangle" w="med" len="med"/>
            </a:ln>
          </p:spPr>
        </p:cxnSp>
        <p:cxnSp>
          <p:nvCxnSpPr>
            <p:cNvPr id="33827" name="AutoShape 34"/>
            <p:cNvCxnSpPr>
              <a:cxnSpLocks noChangeShapeType="1"/>
              <a:stCxn id="33809" idx="2"/>
              <a:endCxn id="33799" idx="1"/>
            </p:cNvCxnSpPr>
            <p:nvPr/>
          </p:nvCxnSpPr>
          <p:spPr bwMode="auto">
            <a:xfrm rot="10800000" flipH="1">
              <a:off x="6486556" y="1922443"/>
              <a:ext cx="839788" cy="4402137"/>
            </a:xfrm>
            <a:prstGeom prst="curvedConnector4">
              <a:avLst>
                <a:gd name="adj1" fmla="val -210588"/>
                <a:gd name="adj2" fmla="val 106454"/>
              </a:avLst>
            </a:prstGeom>
            <a:noFill/>
            <a:ln w="28575">
              <a:solidFill>
                <a:schemeClr val="tx1"/>
              </a:solidFill>
              <a:round/>
              <a:headEnd/>
              <a:tailEnd type="triangle" w="med" len="med"/>
            </a:ln>
          </p:spPr>
        </p:cxnSp>
        <p:cxnSp>
          <p:nvCxnSpPr>
            <p:cNvPr id="33828" name="AutoShape 35"/>
            <p:cNvCxnSpPr>
              <a:cxnSpLocks noChangeShapeType="1"/>
              <a:stCxn id="33806" idx="3"/>
              <a:endCxn id="33810" idx="7"/>
            </p:cNvCxnSpPr>
            <p:nvPr/>
          </p:nvCxnSpPr>
          <p:spPr bwMode="auto">
            <a:xfrm flipH="1">
              <a:off x="5875369" y="4573568"/>
              <a:ext cx="688975" cy="320675"/>
            </a:xfrm>
            <a:prstGeom prst="straightConnector1">
              <a:avLst/>
            </a:prstGeom>
            <a:noFill/>
            <a:ln w="28575">
              <a:solidFill>
                <a:schemeClr val="tx1"/>
              </a:solidFill>
              <a:round/>
              <a:headEnd/>
              <a:tailEnd type="triangle" w="med" len="med"/>
            </a:ln>
          </p:spPr>
        </p:cxnSp>
      </p:grpSp>
      <p:sp>
        <p:nvSpPr>
          <p:cNvPr id="36" name="Footer Placeholder 35"/>
          <p:cNvSpPr>
            <a:spLocks noGrp="1"/>
          </p:cNvSpPr>
          <p:nvPr>
            <p:ph type="ftr" sz="quarter" idx="11"/>
          </p:nvPr>
        </p:nvSpPr>
        <p:spPr/>
        <p:txBody>
          <a:bodyPr/>
          <a:lstStyle/>
          <a:p>
            <a:r>
              <a:rPr lang="en-IN" smtClean="0"/>
              <a:t>Prof. Anjana Verma</a:t>
            </a:r>
            <a:endParaRPr lang="en-IN"/>
          </a:p>
        </p:txBody>
      </p:sp>
      <p:sp>
        <p:nvSpPr>
          <p:cNvPr id="37" name="Slide Number Placeholder 36"/>
          <p:cNvSpPr>
            <a:spLocks noGrp="1"/>
          </p:cNvSpPr>
          <p:nvPr>
            <p:ph type="sldNum" sz="quarter" idx="12"/>
          </p:nvPr>
        </p:nvSpPr>
        <p:spPr>
          <a:xfrm>
            <a:off x="6867556" y="6165830"/>
            <a:ext cx="2133600" cy="365125"/>
          </a:xfrm>
        </p:spPr>
        <p:txBody>
          <a:bodyPr/>
          <a:lstStyle/>
          <a:p>
            <a:fld id="{49549E9F-9F6E-4CAF-8BBD-34C43FD5C9E9}" type="slidenum">
              <a:rPr lang="en-IN" smtClean="0"/>
              <a:pPr/>
              <a:t>28</a:t>
            </a:fld>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normAutofit/>
          </a:bodyPr>
          <a:lstStyle/>
          <a:p>
            <a:pPr eaLnBrk="1" hangingPunct="1"/>
            <a:r>
              <a:rPr lang="en-US" sz="3200" b="1" dirty="0" smtClean="0">
                <a:latin typeface="Times New Roman" pitchFamily="18" charset="0"/>
                <a:cs typeface="Times New Roman" pitchFamily="18" charset="0"/>
              </a:rPr>
              <a:t>3. </a:t>
            </a:r>
            <a:r>
              <a:rPr lang="en-US" sz="3200" b="1" u="sng" dirty="0" smtClean="0">
                <a:latin typeface="Times New Roman" pitchFamily="18" charset="0"/>
                <a:cs typeface="Times New Roman" pitchFamily="18" charset="0"/>
              </a:rPr>
              <a:t>TESTING OF LOOP</a:t>
            </a:r>
            <a:r>
              <a:rPr lang="en-US" sz="3200" b="1" dirty="0" smtClean="0">
                <a:latin typeface="Times New Roman" pitchFamily="18" charset="0"/>
                <a:cs typeface="Times New Roman" pitchFamily="18" charset="0"/>
              </a:rPr>
              <a:t/>
            </a:r>
            <a:br>
              <a:rPr lang="en-US" sz="3200" b="1" dirty="0" smtClean="0">
                <a:latin typeface="Times New Roman" pitchFamily="18" charset="0"/>
                <a:cs typeface="Times New Roman" pitchFamily="18" charset="0"/>
              </a:rPr>
            </a:br>
            <a:r>
              <a:rPr lang="en-US" sz="3200" b="1" dirty="0" smtClean="0">
                <a:latin typeface="Times New Roman" pitchFamily="18" charset="0"/>
                <a:cs typeface="Times New Roman" pitchFamily="18" charset="0"/>
              </a:rPr>
              <a:t>a)Testing of Simple Loops</a:t>
            </a:r>
          </a:p>
        </p:txBody>
      </p:sp>
      <p:sp>
        <p:nvSpPr>
          <p:cNvPr id="37892" name="Rectangle 3"/>
          <p:cNvSpPr>
            <a:spLocks noGrp="1" noChangeArrowheads="1"/>
          </p:cNvSpPr>
          <p:nvPr>
            <p:ph type="body" idx="1"/>
          </p:nvPr>
        </p:nvSpPr>
        <p:spPr>
          <a:xfrm>
            <a:off x="414366" y="1285860"/>
            <a:ext cx="8229600" cy="4525963"/>
          </a:xfrm>
        </p:spPr>
        <p:txBody>
          <a:bodyPr>
            <a:normAutofit fontScale="92500" lnSpcReduction="10000"/>
          </a:bodyPr>
          <a:lstStyle/>
          <a:p>
            <a:pPr marL="609600" indent="-609600" eaLnBrk="1" hangingPunct="1">
              <a:buFontTx/>
              <a:buAutoNum type="arabicParenR"/>
            </a:pPr>
            <a:r>
              <a:rPr lang="en-US" b="1" dirty="0" smtClean="0">
                <a:latin typeface="Times New Roman" pitchFamily="18" charset="0"/>
                <a:cs typeface="Times New Roman" pitchFamily="18" charset="0"/>
              </a:rPr>
              <a:t>Skip the loop entirely</a:t>
            </a:r>
          </a:p>
          <a:p>
            <a:pPr marL="609600" indent="-609600" eaLnBrk="1" hangingPunct="1">
              <a:buFontTx/>
              <a:buAutoNum type="arabicParenR"/>
            </a:pPr>
            <a:r>
              <a:rPr lang="en-US" b="1" dirty="0" smtClean="0">
                <a:latin typeface="Times New Roman" pitchFamily="18" charset="0"/>
                <a:cs typeface="Times New Roman" pitchFamily="18" charset="0"/>
              </a:rPr>
              <a:t>Only one pass through the loop</a:t>
            </a:r>
          </a:p>
          <a:p>
            <a:pPr marL="609600" indent="-609600" eaLnBrk="1" hangingPunct="1">
              <a:buFontTx/>
              <a:buAutoNum type="arabicParenR"/>
            </a:pPr>
            <a:r>
              <a:rPr lang="en-US" b="1" dirty="0" smtClean="0">
                <a:latin typeface="Times New Roman" pitchFamily="18" charset="0"/>
                <a:cs typeface="Times New Roman" pitchFamily="18" charset="0"/>
              </a:rPr>
              <a:t>Two passes through the loop</a:t>
            </a:r>
          </a:p>
          <a:p>
            <a:pPr marL="609600" indent="-609600" eaLnBrk="1" hangingPunct="1">
              <a:buFontTx/>
              <a:buAutoNum type="arabicParenR"/>
            </a:pPr>
            <a:r>
              <a:rPr lang="en-US" b="1" dirty="0" smtClean="0">
                <a:latin typeface="Times New Roman" pitchFamily="18" charset="0"/>
                <a:cs typeface="Times New Roman" pitchFamily="18" charset="0"/>
              </a:rPr>
              <a:t>m passes through the loop, where m &lt; n</a:t>
            </a:r>
          </a:p>
          <a:p>
            <a:pPr marL="609600" indent="-609600" eaLnBrk="1" hangingPunct="1">
              <a:buFontTx/>
              <a:buAutoNum type="arabicParenR"/>
            </a:pPr>
            <a:r>
              <a:rPr lang="en-US" b="1" dirty="0" smtClean="0">
                <a:latin typeface="Times New Roman" pitchFamily="18" charset="0"/>
                <a:cs typeface="Times New Roman" pitchFamily="18" charset="0"/>
              </a:rPr>
              <a:t>n –1, n, n + 1 passes through the loop</a:t>
            </a:r>
          </a:p>
          <a:p>
            <a:pPr marL="609600" indent="-609600" algn="ctr">
              <a:buNone/>
            </a:pPr>
            <a:r>
              <a:rPr lang="en-US" sz="3500" b="1" dirty="0" smtClean="0">
                <a:latin typeface="Times New Roman" pitchFamily="18" charset="0"/>
                <a:cs typeface="Times New Roman" pitchFamily="18" charset="0"/>
              </a:rPr>
              <a:t>b)Testing of Nested Loops</a:t>
            </a:r>
            <a:endParaRPr lang="en-IN" b="1" dirty="0" smtClean="0">
              <a:latin typeface="Times New Roman" pitchFamily="18" charset="0"/>
              <a:cs typeface="Times New Roman" pitchFamily="18" charset="0"/>
            </a:endParaRPr>
          </a:p>
          <a:p>
            <a:pPr marL="533400" indent="-533400">
              <a:buFontTx/>
              <a:buAutoNum type="arabicParenR"/>
            </a:pPr>
            <a:r>
              <a:rPr lang="en-US" b="1" dirty="0" smtClean="0">
                <a:latin typeface="Times New Roman" pitchFamily="18" charset="0"/>
                <a:cs typeface="Times New Roman" pitchFamily="18" charset="0"/>
              </a:rPr>
              <a:t>Start at the </a:t>
            </a:r>
            <a:r>
              <a:rPr lang="en-US" b="1" u="sng" dirty="0" smtClean="0">
                <a:latin typeface="Times New Roman" pitchFamily="18" charset="0"/>
                <a:cs typeface="Times New Roman" pitchFamily="18" charset="0"/>
              </a:rPr>
              <a:t>innermost</a:t>
            </a:r>
            <a:r>
              <a:rPr lang="en-US" b="1" dirty="0" smtClean="0">
                <a:latin typeface="Times New Roman" pitchFamily="18" charset="0"/>
                <a:cs typeface="Times New Roman" pitchFamily="18" charset="0"/>
              </a:rPr>
              <a:t> loop; set all other loops to </a:t>
            </a:r>
            <a:r>
              <a:rPr lang="en-US" b="1" u="sng" dirty="0" smtClean="0">
                <a:latin typeface="Times New Roman" pitchFamily="18" charset="0"/>
                <a:cs typeface="Times New Roman" pitchFamily="18" charset="0"/>
              </a:rPr>
              <a:t>minimum</a:t>
            </a:r>
            <a:r>
              <a:rPr lang="en-US" b="1" dirty="0" smtClean="0">
                <a:latin typeface="Times New Roman" pitchFamily="18" charset="0"/>
                <a:cs typeface="Times New Roman" pitchFamily="18" charset="0"/>
              </a:rPr>
              <a:t> values</a:t>
            </a:r>
          </a:p>
          <a:p>
            <a:pPr marL="533400" indent="-533400">
              <a:buFontTx/>
              <a:buAutoNum type="arabicParenR"/>
            </a:pPr>
            <a:r>
              <a:rPr lang="en-US" b="1" dirty="0" smtClean="0">
                <a:latin typeface="Times New Roman" pitchFamily="18" charset="0"/>
                <a:cs typeface="Times New Roman" pitchFamily="18" charset="0"/>
              </a:rPr>
              <a:t>Continue until all loops have been tested</a:t>
            </a:r>
          </a:p>
          <a:p>
            <a:pPr marL="609600" indent="-609600" eaLnBrk="1" hangingPunct="1">
              <a:buFontTx/>
              <a:buAutoNum type="arabicParenR"/>
            </a:pPr>
            <a:endParaRPr lang="en-US" b="1" dirty="0" smtClean="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29</a:t>
            </a:fld>
            <a:endParaRPr lang="en-IN"/>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type="body" idx="1"/>
          </p:nvPr>
        </p:nvSpPr>
        <p:spPr/>
        <p:txBody>
          <a:bodyPr>
            <a:normAutofit/>
          </a:bodyPr>
          <a:lstStyle/>
          <a:p>
            <a:pPr marL="533400" indent="-533400" eaLnBrk="1" hangingPunct="1">
              <a:buFontTx/>
              <a:buAutoNum type="arabicParenR"/>
            </a:pPr>
            <a:endParaRPr lang="en-US" b="1" dirty="0" smtClean="0">
              <a:latin typeface="Times New Roman" pitchFamily="18" charset="0"/>
              <a:cs typeface="Times New Roman" pitchFamily="18" charset="0"/>
            </a:endParaRPr>
          </a:p>
          <a:p>
            <a:pPr marL="533400" indent="-533400">
              <a:buNone/>
            </a:pPr>
            <a:r>
              <a:rPr lang="en-US" b="1" dirty="0" smtClean="0">
                <a:latin typeface="Times New Roman" pitchFamily="18" charset="0"/>
                <a:cs typeface="Times New Roman" pitchFamily="18" charset="0"/>
              </a:rPr>
              <a:t>c) Testing of Concatenated Loops</a:t>
            </a:r>
          </a:p>
          <a:p>
            <a:pPr marL="533400" indent="-533400">
              <a:buNone/>
            </a:pPr>
            <a:endParaRPr lang="en-US" b="1" dirty="0" smtClean="0">
              <a:latin typeface="Times New Roman" pitchFamily="18" charset="0"/>
              <a:cs typeface="Times New Roman" pitchFamily="18" charset="0"/>
            </a:endParaRPr>
          </a:p>
          <a:p>
            <a:pPr marL="533400" indent="-533400">
              <a:buNone/>
            </a:pPr>
            <a:r>
              <a:rPr lang="en-US" b="1" dirty="0" smtClean="0">
                <a:latin typeface="Times New Roman" pitchFamily="18" charset="0"/>
                <a:cs typeface="Times New Roman" pitchFamily="18" charset="0"/>
              </a:rPr>
              <a:t>d) Testing of Unstructured Loops</a:t>
            </a: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30</a:t>
            </a:fld>
            <a:endParaRPr lang="en-IN"/>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642910" y="-16"/>
            <a:ext cx="7772400" cy="1143000"/>
          </a:xfrm>
        </p:spPr>
        <p:txBody>
          <a:bodyPr>
            <a:normAutofit/>
          </a:bodyPr>
          <a:lstStyle/>
          <a:p>
            <a:pPr eaLnBrk="1" hangingPunct="1"/>
            <a:r>
              <a:rPr lang="en-US" sz="3600" b="1" dirty="0" smtClean="0">
                <a:latin typeface="Times New Roman" pitchFamily="18" charset="0"/>
                <a:cs typeface="Times New Roman" pitchFamily="18" charset="0"/>
              </a:rPr>
              <a:t>Black-box Testing</a:t>
            </a:r>
          </a:p>
        </p:txBody>
      </p:sp>
      <p:sp>
        <p:nvSpPr>
          <p:cNvPr id="43012" name="Rectangle 3"/>
          <p:cNvSpPr>
            <a:spLocks noGrp="1" noChangeArrowheads="1"/>
          </p:cNvSpPr>
          <p:nvPr>
            <p:ph type="body" idx="1"/>
          </p:nvPr>
        </p:nvSpPr>
        <p:spPr>
          <a:xfrm>
            <a:off x="142844" y="785794"/>
            <a:ext cx="8858280" cy="4114800"/>
          </a:xfrm>
        </p:spPr>
        <p:txBody>
          <a:bodyPr>
            <a:noAutofit/>
          </a:bodyPr>
          <a:lstStyle/>
          <a:p>
            <a:pPr algn="just">
              <a:lnSpc>
                <a:spcPct val="80000"/>
              </a:lnSpc>
            </a:pPr>
            <a:r>
              <a:rPr lang="en-IN" sz="2800" b="1" dirty="0" smtClean="0">
                <a:latin typeface="Times New Roman" pitchFamily="18" charset="0"/>
                <a:cs typeface="Times New Roman" pitchFamily="18" charset="0"/>
              </a:rPr>
              <a:t>BLACK BOX TESTING, also known as </a:t>
            </a:r>
            <a:r>
              <a:rPr lang="en-IN" sz="2800" b="1" dirty="0" err="1" smtClean="0">
                <a:latin typeface="Times New Roman" pitchFamily="18" charset="0"/>
                <a:cs typeface="Times New Roman" pitchFamily="18" charset="0"/>
              </a:rPr>
              <a:t>Behavioral</a:t>
            </a:r>
            <a:r>
              <a:rPr lang="en-IN" sz="2800" b="1" dirty="0" smtClean="0">
                <a:latin typeface="Times New Roman" pitchFamily="18" charset="0"/>
                <a:cs typeface="Times New Roman" pitchFamily="18" charset="0"/>
              </a:rPr>
              <a:t> Testing, Black Box Testing is a software testing method in which the internal structure/ design/ implementation of the item being tested is NOT known to the tester.</a:t>
            </a:r>
          </a:p>
          <a:p>
            <a:pPr algn="just">
              <a:lnSpc>
                <a:spcPct val="80000"/>
              </a:lnSpc>
            </a:pPr>
            <a:r>
              <a:rPr lang="en-US" sz="2800" b="1" dirty="0" smtClean="0">
                <a:latin typeface="Times New Roman" pitchFamily="18" charset="0"/>
                <a:cs typeface="Times New Roman" pitchFamily="18" charset="0"/>
              </a:rPr>
              <a:t>Focuses on the functional requirements and the information domain of the software</a:t>
            </a:r>
          </a:p>
          <a:p>
            <a:pPr algn="just" eaLnBrk="1" hangingPunct="1">
              <a:lnSpc>
                <a:spcPct val="80000"/>
              </a:lnSpc>
            </a:pPr>
            <a:r>
              <a:rPr lang="en-US" sz="2800" b="1" dirty="0" smtClean="0">
                <a:latin typeface="Times New Roman" pitchFamily="18" charset="0"/>
                <a:cs typeface="Times New Roman" pitchFamily="18" charset="0"/>
              </a:rPr>
              <a:t>Used during the </a:t>
            </a:r>
            <a:r>
              <a:rPr lang="en-US" sz="2800" b="1" u="sng" dirty="0" smtClean="0">
                <a:latin typeface="Times New Roman" pitchFamily="18" charset="0"/>
                <a:cs typeface="Times New Roman" pitchFamily="18" charset="0"/>
              </a:rPr>
              <a:t>later stages</a:t>
            </a:r>
            <a:r>
              <a:rPr lang="en-US" sz="2800" b="1" dirty="0" smtClean="0">
                <a:latin typeface="Times New Roman" pitchFamily="18" charset="0"/>
                <a:cs typeface="Times New Roman" pitchFamily="18" charset="0"/>
              </a:rPr>
              <a:t> of testing after white box testing has been performed</a:t>
            </a:r>
          </a:p>
          <a:p>
            <a:pPr algn="just">
              <a:lnSpc>
                <a:spcPct val="80000"/>
              </a:lnSpc>
              <a:buNone/>
            </a:pPr>
            <a:r>
              <a:rPr lang="en-US" sz="2800" b="1" u="sng" dirty="0" smtClean="0">
                <a:latin typeface="Times New Roman" pitchFamily="18" charset="0"/>
                <a:cs typeface="Times New Roman" pitchFamily="18" charset="0"/>
              </a:rPr>
              <a:t>Black-box Testing Categories</a:t>
            </a:r>
          </a:p>
          <a:p>
            <a:pPr>
              <a:spcBef>
                <a:spcPts val="300"/>
              </a:spcBef>
            </a:pPr>
            <a:r>
              <a:rPr lang="en-US" sz="2800" b="1" dirty="0" smtClean="0">
                <a:latin typeface="Times New Roman" pitchFamily="18" charset="0"/>
                <a:cs typeface="Times New Roman" pitchFamily="18" charset="0"/>
              </a:rPr>
              <a:t>Incorrect or missing functions</a:t>
            </a:r>
          </a:p>
          <a:p>
            <a:pPr>
              <a:spcBef>
                <a:spcPts val="300"/>
              </a:spcBef>
            </a:pPr>
            <a:r>
              <a:rPr lang="en-US" sz="2800" b="1" dirty="0" smtClean="0">
                <a:latin typeface="Times New Roman" pitchFamily="18" charset="0"/>
                <a:cs typeface="Times New Roman" pitchFamily="18" charset="0"/>
              </a:rPr>
              <a:t>Interface errors</a:t>
            </a:r>
          </a:p>
          <a:p>
            <a:pPr>
              <a:spcBef>
                <a:spcPts val="300"/>
              </a:spcBef>
            </a:pPr>
            <a:r>
              <a:rPr lang="en-US" sz="2800" b="1" dirty="0" smtClean="0">
                <a:latin typeface="Times New Roman" pitchFamily="18" charset="0"/>
                <a:cs typeface="Times New Roman" pitchFamily="18" charset="0"/>
              </a:rPr>
              <a:t>Errors in data structures or external data base access</a:t>
            </a:r>
          </a:p>
          <a:p>
            <a:pPr>
              <a:spcBef>
                <a:spcPts val="300"/>
              </a:spcBef>
            </a:pPr>
            <a:r>
              <a:rPr lang="en-US" sz="2800" b="1" dirty="0" smtClean="0">
                <a:latin typeface="Times New Roman" pitchFamily="18" charset="0"/>
                <a:cs typeface="Times New Roman" pitchFamily="18" charset="0"/>
              </a:rPr>
              <a:t>Behavior or performance errors</a:t>
            </a:r>
          </a:p>
          <a:p>
            <a:pPr>
              <a:spcBef>
                <a:spcPts val="300"/>
              </a:spcBef>
            </a:pPr>
            <a:r>
              <a:rPr lang="en-US" sz="2800" b="1" dirty="0" smtClean="0">
                <a:latin typeface="Times New Roman" pitchFamily="18" charset="0"/>
                <a:cs typeface="Times New Roman" pitchFamily="18" charset="0"/>
              </a:rPr>
              <a:t>Initialization and termination errors</a:t>
            </a:r>
          </a:p>
          <a:p>
            <a:pPr algn="just">
              <a:lnSpc>
                <a:spcPct val="80000"/>
              </a:lnSpc>
            </a:pPr>
            <a:endParaRPr lang="en-US" sz="2800" b="1" dirty="0" smtClean="0">
              <a:latin typeface="Times New Roman" pitchFamily="18" charset="0"/>
              <a:cs typeface="Times New Roman" pitchFamily="18" charset="0"/>
            </a:endParaRPr>
          </a:p>
        </p:txBody>
      </p:sp>
      <p:sp>
        <p:nvSpPr>
          <p:cNvPr id="6" name="TextBox 5"/>
          <p:cNvSpPr txBox="1"/>
          <p:nvPr/>
        </p:nvSpPr>
        <p:spPr>
          <a:xfrm>
            <a:off x="3643306" y="0"/>
            <a:ext cx="2571768"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LECTURE   -  5</a:t>
            </a:r>
            <a:endParaRPr lang="en-IN" sz="2400" b="1" dirty="0">
              <a:latin typeface="Times New Roman" pitchFamily="18" charset="0"/>
              <a:cs typeface="Times New Roman" pitchFamily="18" charset="0"/>
            </a:endParaRPr>
          </a:p>
        </p:txBody>
      </p:sp>
      <p:sp>
        <p:nvSpPr>
          <p:cNvPr id="7" name="Footer Placeholder 6"/>
          <p:cNvSpPr>
            <a:spLocks noGrp="1"/>
          </p:cNvSpPr>
          <p:nvPr>
            <p:ph type="ftr" sz="quarter" idx="11"/>
          </p:nvPr>
        </p:nvSpPr>
        <p:spPr/>
        <p:txBody>
          <a:bodyPr/>
          <a:lstStyle/>
          <a:p>
            <a:r>
              <a:rPr lang="en-IN" smtClean="0"/>
              <a:t>Prof. Anjana Verma</a:t>
            </a:r>
            <a:endParaRPr lang="en-IN"/>
          </a:p>
        </p:txBody>
      </p:sp>
      <p:sp>
        <p:nvSpPr>
          <p:cNvPr id="8" name="Slide Number Placeholder 7"/>
          <p:cNvSpPr>
            <a:spLocks noGrp="1"/>
          </p:cNvSpPr>
          <p:nvPr>
            <p:ph type="sldNum" sz="quarter" idx="12"/>
          </p:nvPr>
        </p:nvSpPr>
        <p:spPr/>
        <p:txBody>
          <a:bodyPr/>
          <a:lstStyle/>
          <a:p>
            <a:fld id="{49549E9F-9F6E-4CAF-8BBD-34C43FD5C9E9}" type="slidenum">
              <a:rPr lang="en-IN" smtClean="0"/>
              <a:pPr/>
              <a:t>31</a:t>
            </a:fld>
            <a:endParaRPr lang="en-IN"/>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685800" y="152400"/>
            <a:ext cx="7772400" cy="1143000"/>
          </a:xfrm>
        </p:spPr>
        <p:txBody>
          <a:bodyPr>
            <a:normAutofit/>
          </a:bodyPr>
          <a:lstStyle/>
          <a:p>
            <a:pPr eaLnBrk="1" hangingPunct="1"/>
            <a:r>
              <a:rPr lang="en-US" sz="3600" b="1" u="sng" dirty="0" smtClean="0">
                <a:latin typeface="Times New Roman" pitchFamily="18" charset="0"/>
                <a:cs typeface="Times New Roman" pitchFamily="18" charset="0"/>
              </a:rPr>
              <a:t>Equivalence Partitioning</a:t>
            </a:r>
          </a:p>
        </p:txBody>
      </p:sp>
      <p:sp>
        <p:nvSpPr>
          <p:cNvPr id="46084" name="Rectangle 3"/>
          <p:cNvSpPr>
            <a:spLocks noGrp="1" noChangeArrowheads="1"/>
          </p:cNvSpPr>
          <p:nvPr>
            <p:ph type="body" idx="1"/>
          </p:nvPr>
        </p:nvSpPr>
        <p:spPr>
          <a:xfrm>
            <a:off x="304800" y="1219200"/>
            <a:ext cx="8153400" cy="4114800"/>
          </a:xfrm>
        </p:spPr>
        <p:txBody>
          <a:bodyPr>
            <a:normAutofit/>
          </a:bodyPr>
          <a:lstStyle/>
          <a:p>
            <a:pPr algn="just" eaLnBrk="1" hangingPunct="1">
              <a:lnSpc>
                <a:spcPct val="90000"/>
              </a:lnSpc>
            </a:pPr>
            <a:r>
              <a:rPr lang="en-US" b="1" dirty="0" smtClean="0">
                <a:latin typeface="Times New Roman" pitchFamily="18" charset="0"/>
                <a:cs typeface="Times New Roman" pitchFamily="18" charset="0"/>
              </a:rPr>
              <a:t>A black-box testing method that </a:t>
            </a:r>
            <a:r>
              <a:rPr lang="en-US" b="1" u="sng" dirty="0" smtClean="0">
                <a:latin typeface="Times New Roman" pitchFamily="18" charset="0"/>
                <a:cs typeface="Times New Roman" pitchFamily="18" charset="0"/>
              </a:rPr>
              <a:t>divides the input domain</a:t>
            </a:r>
            <a:r>
              <a:rPr lang="en-US" b="1" dirty="0" smtClean="0">
                <a:latin typeface="Times New Roman" pitchFamily="18" charset="0"/>
                <a:cs typeface="Times New Roman" pitchFamily="18" charset="0"/>
              </a:rPr>
              <a:t> of a program </a:t>
            </a:r>
            <a:r>
              <a:rPr lang="en-US" b="1" u="sng" dirty="0" smtClean="0">
                <a:latin typeface="Times New Roman" pitchFamily="18" charset="0"/>
                <a:cs typeface="Times New Roman" pitchFamily="18" charset="0"/>
              </a:rPr>
              <a:t>into classes</a:t>
            </a:r>
            <a:r>
              <a:rPr lang="en-US" b="1" dirty="0" smtClean="0">
                <a:latin typeface="Times New Roman" pitchFamily="18" charset="0"/>
                <a:cs typeface="Times New Roman" pitchFamily="18" charset="0"/>
              </a:rPr>
              <a:t> of data from which test cases are derived</a:t>
            </a:r>
          </a:p>
          <a:p>
            <a:pPr algn="just" eaLnBrk="1" hangingPunct="1">
              <a:lnSpc>
                <a:spcPct val="90000"/>
              </a:lnSpc>
            </a:pPr>
            <a:r>
              <a:rPr lang="en-US" b="1" dirty="0" smtClean="0">
                <a:latin typeface="Times New Roman" pitchFamily="18" charset="0"/>
                <a:cs typeface="Times New Roman" pitchFamily="18" charset="0"/>
              </a:rPr>
              <a:t>An equivalence class represents a </a:t>
            </a:r>
            <a:r>
              <a:rPr lang="en-US" b="1" u="sng" dirty="0" smtClean="0">
                <a:latin typeface="Times New Roman" pitchFamily="18" charset="0"/>
                <a:cs typeface="Times New Roman" pitchFamily="18" charset="0"/>
              </a:rPr>
              <a:t>set of valid or invalid states</a:t>
            </a:r>
            <a:r>
              <a:rPr lang="en-US" b="1" dirty="0" smtClean="0">
                <a:latin typeface="Times New Roman" pitchFamily="18" charset="0"/>
                <a:cs typeface="Times New Roman" pitchFamily="18" charset="0"/>
              </a:rPr>
              <a:t> for input conditions</a:t>
            </a:r>
          </a:p>
          <a:p>
            <a:pPr algn="just" eaLnBrk="1" hangingPunct="1">
              <a:lnSpc>
                <a:spcPct val="90000"/>
              </a:lnSpc>
            </a:pPr>
            <a:endParaRPr lang="en-US" b="1" dirty="0" smtClean="0">
              <a:latin typeface="Times New Roman" pitchFamily="18" charset="0"/>
              <a:cs typeface="Times New Roman" pitchFamily="18" charset="0"/>
            </a:endParaRPr>
          </a:p>
          <a:p>
            <a:pPr algn="just" eaLnBrk="1" hangingPunct="1">
              <a:lnSpc>
                <a:spcPct val="90000"/>
              </a:lnSpc>
            </a:pPr>
            <a:endParaRPr lang="en-US" b="1" dirty="0" smtClean="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32</a:t>
            </a:fld>
            <a:endParaRPr lang="en-IN"/>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214346" y="-357214"/>
            <a:ext cx="9358346" cy="1143000"/>
          </a:xfrm>
        </p:spPr>
        <p:txBody>
          <a:bodyPr>
            <a:normAutofit/>
          </a:bodyPr>
          <a:lstStyle/>
          <a:p>
            <a:pPr eaLnBrk="1" hangingPunct="1"/>
            <a:r>
              <a:rPr lang="en-US" sz="2800" b="1" dirty="0" smtClean="0">
                <a:latin typeface="Times New Roman" pitchFamily="18" charset="0"/>
                <a:cs typeface="Times New Roman" pitchFamily="18" charset="0"/>
              </a:rPr>
              <a:t>Guidelines for Defining Equivalence Classes</a:t>
            </a:r>
          </a:p>
        </p:txBody>
      </p:sp>
      <p:sp>
        <p:nvSpPr>
          <p:cNvPr id="47108" name="Rectangle 3"/>
          <p:cNvSpPr>
            <a:spLocks noGrp="1" noChangeArrowheads="1"/>
          </p:cNvSpPr>
          <p:nvPr>
            <p:ph type="body" idx="1"/>
          </p:nvPr>
        </p:nvSpPr>
        <p:spPr>
          <a:xfrm>
            <a:off x="0" y="528646"/>
            <a:ext cx="8991600" cy="4114800"/>
          </a:xfrm>
        </p:spPr>
        <p:txBody>
          <a:bodyPr>
            <a:noAutofit/>
          </a:bodyPr>
          <a:lstStyle/>
          <a:p>
            <a:pPr eaLnBrk="1" hangingPunct="1">
              <a:lnSpc>
                <a:spcPct val="90000"/>
              </a:lnSpc>
              <a:spcBef>
                <a:spcPts val="0"/>
              </a:spcBef>
            </a:pPr>
            <a:r>
              <a:rPr lang="en-US" sz="2800" b="1" dirty="0" smtClean="0">
                <a:latin typeface="Times New Roman" pitchFamily="18" charset="0"/>
                <a:cs typeface="Times New Roman" pitchFamily="18" charset="0"/>
              </a:rPr>
              <a:t>If an input condition specifies </a:t>
            </a:r>
            <a:r>
              <a:rPr lang="en-US" sz="2800" b="1" u="sng" dirty="0" smtClean="0">
                <a:latin typeface="Times New Roman" pitchFamily="18" charset="0"/>
                <a:cs typeface="Times New Roman" pitchFamily="18" charset="0"/>
              </a:rPr>
              <a:t>a range</a:t>
            </a:r>
            <a:r>
              <a:rPr lang="en-US" sz="2800" b="1" dirty="0" smtClean="0">
                <a:latin typeface="Times New Roman" pitchFamily="18" charset="0"/>
                <a:cs typeface="Times New Roman" pitchFamily="18" charset="0"/>
              </a:rPr>
              <a:t>, one valid and two invalid equivalence classes are defined</a:t>
            </a:r>
          </a:p>
          <a:p>
            <a:pPr lvl="1" eaLnBrk="1" hangingPunct="1">
              <a:lnSpc>
                <a:spcPct val="90000"/>
              </a:lnSpc>
              <a:spcBef>
                <a:spcPts val="0"/>
              </a:spcBef>
            </a:pPr>
            <a:r>
              <a:rPr lang="en-US" b="1" dirty="0" smtClean="0">
                <a:latin typeface="Times New Roman" pitchFamily="18" charset="0"/>
                <a:cs typeface="Times New Roman" pitchFamily="18" charset="0"/>
              </a:rPr>
              <a:t>Input range: 1 – 10	</a:t>
            </a:r>
            <a:r>
              <a:rPr lang="en-US" b="1" dirty="0" err="1" smtClean="0">
                <a:latin typeface="Times New Roman" pitchFamily="18" charset="0"/>
                <a:cs typeface="Times New Roman" pitchFamily="18" charset="0"/>
              </a:rPr>
              <a:t>Eq</a:t>
            </a:r>
            <a:r>
              <a:rPr lang="en-US" b="1" dirty="0" smtClean="0">
                <a:latin typeface="Times New Roman" pitchFamily="18" charset="0"/>
                <a:cs typeface="Times New Roman" pitchFamily="18" charset="0"/>
              </a:rPr>
              <a:t> classes: {1..10}, {x &lt; 1}, {x &gt; 10}</a:t>
            </a:r>
          </a:p>
          <a:p>
            <a:pPr eaLnBrk="1" hangingPunct="1">
              <a:lnSpc>
                <a:spcPct val="90000"/>
              </a:lnSpc>
              <a:spcBef>
                <a:spcPts val="0"/>
              </a:spcBef>
            </a:pPr>
            <a:r>
              <a:rPr lang="en-US" sz="2800" b="1" dirty="0" smtClean="0">
                <a:latin typeface="Times New Roman" pitchFamily="18" charset="0"/>
                <a:cs typeface="Times New Roman" pitchFamily="18" charset="0"/>
              </a:rPr>
              <a:t>If an input condition requires </a:t>
            </a:r>
            <a:r>
              <a:rPr lang="en-US" sz="2800" b="1" u="sng" dirty="0" smtClean="0">
                <a:latin typeface="Times New Roman" pitchFamily="18" charset="0"/>
                <a:cs typeface="Times New Roman" pitchFamily="18" charset="0"/>
              </a:rPr>
              <a:t>a specific value</a:t>
            </a:r>
            <a:r>
              <a:rPr lang="en-US" sz="2800" b="1" dirty="0" smtClean="0">
                <a:latin typeface="Times New Roman" pitchFamily="18" charset="0"/>
                <a:cs typeface="Times New Roman" pitchFamily="18" charset="0"/>
              </a:rPr>
              <a:t>, one valid and two invalid equivalence classes are defined</a:t>
            </a:r>
          </a:p>
          <a:p>
            <a:pPr lvl="1" eaLnBrk="1" hangingPunct="1">
              <a:lnSpc>
                <a:spcPct val="90000"/>
              </a:lnSpc>
              <a:spcBef>
                <a:spcPts val="0"/>
              </a:spcBef>
            </a:pPr>
            <a:r>
              <a:rPr lang="en-US" b="1" dirty="0" smtClean="0">
                <a:latin typeface="Times New Roman" pitchFamily="18" charset="0"/>
                <a:cs typeface="Times New Roman" pitchFamily="18" charset="0"/>
              </a:rPr>
              <a:t>Input value: 250	</a:t>
            </a:r>
            <a:r>
              <a:rPr lang="en-US" b="1" dirty="0" err="1" smtClean="0">
                <a:latin typeface="Times New Roman" pitchFamily="18" charset="0"/>
                <a:cs typeface="Times New Roman" pitchFamily="18" charset="0"/>
              </a:rPr>
              <a:t>Eq</a:t>
            </a:r>
            <a:r>
              <a:rPr lang="en-US" b="1" dirty="0" smtClean="0">
                <a:latin typeface="Times New Roman" pitchFamily="18" charset="0"/>
                <a:cs typeface="Times New Roman" pitchFamily="18" charset="0"/>
              </a:rPr>
              <a:t> classes: {250}, {x &lt; 250}, {x &gt; 250}</a:t>
            </a:r>
          </a:p>
          <a:p>
            <a:pPr eaLnBrk="1" hangingPunct="1">
              <a:lnSpc>
                <a:spcPct val="90000"/>
              </a:lnSpc>
              <a:spcBef>
                <a:spcPts val="0"/>
              </a:spcBef>
            </a:pPr>
            <a:r>
              <a:rPr lang="en-US" sz="2800" b="1" dirty="0" smtClean="0">
                <a:latin typeface="Times New Roman" pitchFamily="18" charset="0"/>
                <a:cs typeface="Times New Roman" pitchFamily="18" charset="0"/>
              </a:rPr>
              <a:t>If an input condition specifies </a:t>
            </a:r>
            <a:r>
              <a:rPr lang="en-US" sz="2800" b="1" u="sng" dirty="0" smtClean="0">
                <a:latin typeface="Times New Roman" pitchFamily="18" charset="0"/>
                <a:cs typeface="Times New Roman" pitchFamily="18" charset="0"/>
              </a:rPr>
              <a:t>a member of a set</a:t>
            </a:r>
            <a:r>
              <a:rPr lang="en-US" sz="2800" b="1" dirty="0" smtClean="0">
                <a:latin typeface="Times New Roman" pitchFamily="18" charset="0"/>
                <a:cs typeface="Times New Roman" pitchFamily="18" charset="0"/>
              </a:rPr>
              <a:t>, one valid and one invalid equivalence class are defined</a:t>
            </a:r>
          </a:p>
          <a:p>
            <a:pPr lvl="1" eaLnBrk="1" hangingPunct="1">
              <a:lnSpc>
                <a:spcPct val="90000"/>
              </a:lnSpc>
              <a:spcBef>
                <a:spcPts val="0"/>
              </a:spcBef>
            </a:pPr>
            <a:r>
              <a:rPr lang="en-US" b="1" dirty="0" smtClean="0">
                <a:latin typeface="Times New Roman" pitchFamily="18" charset="0"/>
                <a:cs typeface="Times New Roman" pitchFamily="18" charset="0"/>
              </a:rPr>
              <a:t>Input set: {-2.5, 7.3, 8.4}  </a:t>
            </a:r>
          </a:p>
          <a:p>
            <a:pPr lvl="1" eaLnBrk="1" hangingPunct="1">
              <a:lnSpc>
                <a:spcPct val="90000"/>
              </a:lnSpc>
              <a:spcBef>
                <a:spcPts val="0"/>
              </a:spcBef>
            </a:pP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Eq</a:t>
            </a:r>
            <a:r>
              <a:rPr lang="en-US" b="1" dirty="0" smtClean="0">
                <a:latin typeface="Times New Roman" pitchFamily="18" charset="0"/>
                <a:cs typeface="Times New Roman" pitchFamily="18" charset="0"/>
              </a:rPr>
              <a:t> classes: {-2.5, 7.3, 8.4}, {any other x}</a:t>
            </a:r>
          </a:p>
          <a:p>
            <a:pPr eaLnBrk="1" hangingPunct="1">
              <a:lnSpc>
                <a:spcPct val="90000"/>
              </a:lnSpc>
              <a:spcBef>
                <a:spcPts val="0"/>
              </a:spcBef>
            </a:pPr>
            <a:r>
              <a:rPr lang="en-US" sz="2800" b="1" dirty="0" smtClean="0">
                <a:latin typeface="Times New Roman" pitchFamily="18" charset="0"/>
                <a:cs typeface="Times New Roman" pitchFamily="18" charset="0"/>
              </a:rPr>
              <a:t>If an input condition is </a:t>
            </a:r>
            <a:r>
              <a:rPr lang="en-US" sz="2800" b="1" u="sng" dirty="0" smtClean="0">
                <a:latin typeface="Times New Roman" pitchFamily="18" charset="0"/>
                <a:cs typeface="Times New Roman" pitchFamily="18" charset="0"/>
              </a:rPr>
              <a:t>a Boolean value</a:t>
            </a:r>
            <a:r>
              <a:rPr lang="en-US" sz="2800" b="1" dirty="0" smtClean="0">
                <a:latin typeface="Times New Roman" pitchFamily="18" charset="0"/>
                <a:cs typeface="Times New Roman" pitchFamily="18" charset="0"/>
              </a:rPr>
              <a:t>, one valid and one invalid class are define</a:t>
            </a:r>
          </a:p>
          <a:p>
            <a:pPr lvl="1" eaLnBrk="1" hangingPunct="1">
              <a:lnSpc>
                <a:spcPct val="90000"/>
              </a:lnSpc>
              <a:spcBef>
                <a:spcPts val="0"/>
              </a:spcBef>
            </a:pPr>
            <a:r>
              <a:rPr lang="en-US" b="1" dirty="0" smtClean="0">
                <a:latin typeface="Times New Roman" pitchFamily="18" charset="0"/>
                <a:cs typeface="Times New Roman" pitchFamily="18" charset="0"/>
              </a:rPr>
              <a:t>Input: {true condition}         </a:t>
            </a:r>
          </a:p>
          <a:p>
            <a:pPr lvl="1" eaLnBrk="1" hangingPunct="1">
              <a:lnSpc>
                <a:spcPct val="90000"/>
              </a:lnSpc>
              <a:spcBef>
                <a:spcPts val="0"/>
              </a:spcBef>
              <a:buNone/>
            </a:pPr>
            <a:r>
              <a:rPr lang="en-US" b="1" dirty="0" err="1" smtClean="0">
                <a:latin typeface="Times New Roman" pitchFamily="18" charset="0"/>
                <a:cs typeface="Times New Roman" pitchFamily="18" charset="0"/>
              </a:rPr>
              <a:t>Eq</a:t>
            </a:r>
            <a:r>
              <a:rPr lang="en-US" b="1" dirty="0" smtClean="0">
                <a:latin typeface="Times New Roman" pitchFamily="18" charset="0"/>
                <a:cs typeface="Times New Roman" pitchFamily="18" charset="0"/>
              </a:rPr>
              <a:t> classes: {true condition}, {false condition}</a:t>
            </a:r>
          </a:p>
          <a:p>
            <a:pPr eaLnBrk="1" hangingPunct="1">
              <a:lnSpc>
                <a:spcPct val="90000"/>
              </a:lnSpc>
              <a:spcBef>
                <a:spcPts val="0"/>
              </a:spcBef>
            </a:pPr>
            <a:endParaRPr lang="en-US" sz="2800" b="1" dirty="0" smtClean="0">
              <a:latin typeface="Times New Roman" pitchFamily="18" charset="0"/>
              <a:cs typeface="Times New Roman" pitchFamily="18" charset="0"/>
            </a:endParaRPr>
          </a:p>
          <a:p>
            <a:pPr eaLnBrk="1" hangingPunct="1">
              <a:lnSpc>
                <a:spcPct val="90000"/>
              </a:lnSpc>
              <a:spcBef>
                <a:spcPts val="0"/>
              </a:spcBef>
            </a:pPr>
            <a:endParaRPr lang="en-US" sz="2800" b="1" dirty="0" smtClean="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33</a:t>
            </a:fld>
            <a:endParaRPr lang="en-IN"/>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a:xfrm>
            <a:off x="685800" y="-214338"/>
            <a:ext cx="7772400" cy="1143000"/>
          </a:xfrm>
        </p:spPr>
        <p:txBody>
          <a:bodyPr>
            <a:normAutofit/>
          </a:bodyPr>
          <a:lstStyle/>
          <a:p>
            <a:pPr eaLnBrk="1" hangingPunct="1"/>
            <a:r>
              <a:rPr lang="en-US" sz="3200" b="1" dirty="0" smtClean="0">
                <a:latin typeface="Times New Roman" pitchFamily="18" charset="0"/>
                <a:cs typeface="Times New Roman" pitchFamily="18" charset="0"/>
              </a:rPr>
              <a:t>Boundary Value Analysis</a:t>
            </a:r>
          </a:p>
        </p:txBody>
      </p:sp>
      <p:sp>
        <p:nvSpPr>
          <p:cNvPr id="48132" name="Rectangle 3"/>
          <p:cNvSpPr>
            <a:spLocks noGrp="1" noChangeArrowheads="1"/>
          </p:cNvSpPr>
          <p:nvPr>
            <p:ph type="body" idx="1"/>
          </p:nvPr>
        </p:nvSpPr>
        <p:spPr>
          <a:xfrm>
            <a:off x="214282" y="1000108"/>
            <a:ext cx="8715436" cy="4525963"/>
          </a:xfrm>
        </p:spPr>
        <p:txBody>
          <a:bodyPr>
            <a:noAutofit/>
          </a:bodyPr>
          <a:lstStyle/>
          <a:p>
            <a:pPr eaLnBrk="1" hangingPunct="1"/>
            <a:r>
              <a:rPr lang="en-US" b="1" dirty="0" smtClean="0">
                <a:latin typeface="Times New Roman" pitchFamily="18" charset="0"/>
                <a:cs typeface="Times New Roman" pitchFamily="18" charset="0"/>
              </a:rPr>
              <a:t>A greater number of errors occur at the </a:t>
            </a:r>
            <a:r>
              <a:rPr lang="en-US" b="1" u="sng" dirty="0" smtClean="0">
                <a:latin typeface="Times New Roman" pitchFamily="18" charset="0"/>
                <a:cs typeface="Times New Roman" pitchFamily="18" charset="0"/>
              </a:rPr>
              <a:t>boundaries</a:t>
            </a:r>
            <a:r>
              <a:rPr lang="en-US" b="1" dirty="0" smtClean="0">
                <a:latin typeface="Times New Roman" pitchFamily="18" charset="0"/>
                <a:cs typeface="Times New Roman" pitchFamily="18" charset="0"/>
              </a:rPr>
              <a:t> of the input domain rather than in the "center"</a:t>
            </a:r>
          </a:p>
          <a:p>
            <a:pPr eaLnBrk="1" hangingPunct="1"/>
            <a:r>
              <a:rPr lang="en-US" b="1" dirty="0" smtClean="0">
                <a:latin typeface="Times New Roman" pitchFamily="18" charset="0"/>
                <a:cs typeface="Times New Roman" pitchFamily="18" charset="0"/>
              </a:rPr>
              <a:t>Boundary value analysis </a:t>
            </a:r>
            <a:r>
              <a:rPr lang="en-US" b="1" u="sng" dirty="0" smtClean="0">
                <a:latin typeface="Times New Roman" pitchFamily="18" charset="0"/>
                <a:cs typeface="Times New Roman" pitchFamily="18" charset="0"/>
              </a:rPr>
              <a:t>complements</a:t>
            </a:r>
            <a:r>
              <a:rPr lang="en-US" b="1" dirty="0" smtClean="0">
                <a:latin typeface="Times New Roman" pitchFamily="18" charset="0"/>
                <a:cs typeface="Times New Roman" pitchFamily="18" charset="0"/>
              </a:rPr>
              <a:t> equivalence partitioning</a:t>
            </a:r>
          </a:p>
          <a:p>
            <a:pPr lvl="1" eaLnBrk="1" hangingPunct="1"/>
            <a:r>
              <a:rPr lang="en-US" sz="3200" b="1" dirty="0" smtClean="0">
                <a:latin typeface="Times New Roman" pitchFamily="18" charset="0"/>
                <a:cs typeface="Times New Roman" pitchFamily="18" charset="0"/>
              </a:rPr>
              <a:t>It selects test cases at the </a:t>
            </a:r>
            <a:r>
              <a:rPr lang="en-US" sz="3200" b="1" u="sng" dirty="0" smtClean="0">
                <a:latin typeface="Times New Roman" pitchFamily="18" charset="0"/>
                <a:cs typeface="Times New Roman" pitchFamily="18" charset="0"/>
              </a:rPr>
              <a:t>edges</a:t>
            </a:r>
            <a:r>
              <a:rPr lang="en-US" sz="3200" b="1" dirty="0" smtClean="0">
                <a:latin typeface="Times New Roman" pitchFamily="18" charset="0"/>
                <a:cs typeface="Times New Roman" pitchFamily="18" charset="0"/>
              </a:rPr>
              <a:t> of a class</a:t>
            </a:r>
          </a:p>
          <a:p>
            <a:pPr lvl="1" eaLnBrk="1" hangingPunct="1"/>
            <a:r>
              <a:rPr lang="en-US" sz="3200" b="1" dirty="0" smtClean="0">
                <a:latin typeface="Times New Roman" pitchFamily="18" charset="0"/>
                <a:cs typeface="Times New Roman" pitchFamily="18" charset="0"/>
              </a:rPr>
              <a:t>It derives test cases from both the input domain and output domain</a:t>
            </a:r>
          </a:p>
        </p:txBody>
      </p:sp>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34</a:t>
            </a:fld>
            <a:endParaRPr lang="en-IN"/>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ChangeArrowheads="1"/>
          </p:cNvSpPr>
          <p:nvPr/>
        </p:nvSpPr>
        <p:spPr bwMode="auto">
          <a:xfrm>
            <a:off x="0" y="474907"/>
            <a:ext cx="9144000" cy="66849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tab pos="2057400" algn="l"/>
              </a:tabLst>
            </a:pPr>
            <a:r>
              <a:rPr kumimoji="0" lang="en-US" sz="28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Unit Testing  Frame Work</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lvl="0">
              <a:lnSpc>
                <a:spcPct val="90000"/>
              </a:lnSpc>
            </a:pPr>
            <a:r>
              <a:rPr lang="en-US" sz="2800" b="1" u="sng" dirty="0" smtClean="0">
                <a:latin typeface="Times New Roman" pitchFamily="18" charset="0"/>
                <a:cs typeface="Times New Roman" pitchFamily="18" charset="0"/>
              </a:rPr>
              <a:t>Module interface</a:t>
            </a:r>
            <a:r>
              <a:rPr lang="en-IN" sz="2800" b="1" u="sng" dirty="0" smtClean="0">
                <a:latin typeface="Times New Roman" pitchFamily="18" charset="0"/>
                <a:cs typeface="Times New Roman" pitchFamily="18" charset="0"/>
              </a:rPr>
              <a:t>-  </a:t>
            </a:r>
          </a:p>
          <a:p>
            <a:pPr lvl="0">
              <a:lnSpc>
                <a:spcPct val="90000"/>
              </a:lnSpc>
            </a:pPr>
            <a:r>
              <a:rPr lang="en-US" sz="2800" b="1" dirty="0" smtClean="0">
                <a:latin typeface="Times New Roman" pitchFamily="18" charset="0"/>
                <a:cs typeface="Times New Roman" pitchFamily="18" charset="0"/>
              </a:rPr>
              <a:t>	Ensure </a:t>
            </a:r>
            <a:r>
              <a:rPr lang="en-US" sz="2800" b="1" dirty="0">
                <a:latin typeface="Times New Roman" pitchFamily="18" charset="0"/>
                <a:cs typeface="Times New Roman" pitchFamily="18" charset="0"/>
              </a:rPr>
              <a:t>that information flows properly into and out of the module</a:t>
            </a:r>
            <a:endParaRPr lang="en-IN" sz="2800" b="1" dirty="0">
              <a:latin typeface="Times New Roman" pitchFamily="18" charset="0"/>
              <a:cs typeface="Times New Roman" pitchFamily="18" charset="0"/>
            </a:endParaRPr>
          </a:p>
          <a:p>
            <a:pPr lvl="0">
              <a:lnSpc>
                <a:spcPct val="90000"/>
              </a:lnSpc>
            </a:pPr>
            <a:r>
              <a:rPr lang="en-US" sz="2800" b="1" u="sng" dirty="0">
                <a:latin typeface="Times New Roman" pitchFamily="18" charset="0"/>
                <a:cs typeface="Times New Roman" pitchFamily="18" charset="0"/>
              </a:rPr>
              <a:t>Local data structures</a:t>
            </a:r>
            <a:endParaRPr lang="en-IN" sz="2800" b="1" u="sng" dirty="0">
              <a:latin typeface="Times New Roman" pitchFamily="18" charset="0"/>
              <a:cs typeface="Times New Roman" pitchFamily="18" charset="0"/>
            </a:endParaRPr>
          </a:p>
          <a:p>
            <a:pPr lvl="0">
              <a:lnSpc>
                <a:spcPct val="90000"/>
              </a:lnSpc>
            </a:pPr>
            <a:r>
              <a:rPr lang="en-US" sz="2800" b="1" dirty="0" smtClean="0">
                <a:latin typeface="Times New Roman" pitchFamily="18" charset="0"/>
                <a:cs typeface="Times New Roman" pitchFamily="18" charset="0"/>
              </a:rPr>
              <a:t>    	Ensure </a:t>
            </a:r>
            <a:r>
              <a:rPr lang="en-US" sz="2800" b="1" dirty="0">
                <a:latin typeface="Times New Roman" pitchFamily="18" charset="0"/>
                <a:cs typeface="Times New Roman" pitchFamily="18" charset="0"/>
              </a:rPr>
              <a:t>that data stored temporarily maintains its integrity </a:t>
            </a:r>
            <a:endParaRPr lang="en-IN" sz="2800" b="1" dirty="0">
              <a:latin typeface="Times New Roman" pitchFamily="18" charset="0"/>
              <a:cs typeface="Times New Roman" pitchFamily="18" charset="0"/>
            </a:endParaRPr>
          </a:p>
          <a:p>
            <a:pPr lvl="0">
              <a:lnSpc>
                <a:spcPct val="90000"/>
              </a:lnSpc>
            </a:pPr>
            <a:r>
              <a:rPr lang="en-US" sz="2800" b="1" u="sng" dirty="0">
                <a:latin typeface="Times New Roman" pitchFamily="18" charset="0"/>
                <a:cs typeface="Times New Roman" pitchFamily="18" charset="0"/>
              </a:rPr>
              <a:t>Boundary conditions</a:t>
            </a:r>
            <a:endParaRPr lang="en-IN" sz="2800" b="1" u="sng" dirty="0">
              <a:latin typeface="Times New Roman" pitchFamily="18" charset="0"/>
              <a:cs typeface="Times New Roman" pitchFamily="18" charset="0"/>
            </a:endParaRPr>
          </a:p>
          <a:p>
            <a:pPr lvl="1">
              <a:lnSpc>
                <a:spcPct val="90000"/>
              </a:lnSpc>
            </a:pPr>
            <a:r>
              <a:rPr lang="en-US" sz="2800" b="1" dirty="0">
                <a:latin typeface="Times New Roman" pitchFamily="18" charset="0"/>
                <a:cs typeface="Times New Roman" pitchFamily="18" charset="0"/>
              </a:rPr>
              <a:t>Ensure that the module operates properly at boundary </a:t>
            </a:r>
            <a:r>
              <a:rPr lang="en-US" sz="2800" b="1" dirty="0" smtClean="0">
                <a:latin typeface="Times New Roman" pitchFamily="18" charset="0"/>
                <a:cs typeface="Times New Roman" pitchFamily="18" charset="0"/>
              </a:rPr>
              <a:t>values</a:t>
            </a:r>
            <a:endParaRPr lang="en-IN" sz="2800" b="1" dirty="0">
              <a:latin typeface="Times New Roman" pitchFamily="18" charset="0"/>
              <a:cs typeface="Times New Roman" pitchFamily="18" charset="0"/>
            </a:endParaRPr>
          </a:p>
          <a:p>
            <a:pPr lvl="0">
              <a:lnSpc>
                <a:spcPct val="90000"/>
              </a:lnSpc>
            </a:pPr>
            <a:r>
              <a:rPr lang="en-US" sz="2800" b="1" u="sng" dirty="0">
                <a:latin typeface="Times New Roman" pitchFamily="18" charset="0"/>
                <a:cs typeface="Times New Roman" pitchFamily="18" charset="0"/>
              </a:rPr>
              <a:t>Independent paths (basis paths)</a:t>
            </a:r>
            <a:endParaRPr lang="en-IN" sz="2800" b="1" u="sng" dirty="0">
              <a:latin typeface="Times New Roman" pitchFamily="18" charset="0"/>
              <a:cs typeface="Times New Roman" pitchFamily="18" charset="0"/>
            </a:endParaRPr>
          </a:p>
          <a:p>
            <a:pPr lvl="1">
              <a:lnSpc>
                <a:spcPct val="90000"/>
              </a:lnSpc>
            </a:pPr>
            <a:r>
              <a:rPr lang="en-US" sz="2800" b="1" dirty="0" smtClean="0">
                <a:latin typeface="Times New Roman" pitchFamily="18" charset="0"/>
                <a:cs typeface="Times New Roman" pitchFamily="18" charset="0"/>
              </a:rPr>
              <a:t>all </a:t>
            </a:r>
            <a:r>
              <a:rPr lang="en-US" sz="2800" b="1" dirty="0">
                <a:latin typeface="Times New Roman" pitchFamily="18" charset="0"/>
                <a:cs typeface="Times New Roman" pitchFamily="18" charset="0"/>
              </a:rPr>
              <a:t>statements in a module have been executed at least once</a:t>
            </a:r>
            <a:endParaRPr lang="en-IN" sz="2800" b="1" dirty="0">
              <a:latin typeface="Times New Roman" pitchFamily="18" charset="0"/>
              <a:cs typeface="Times New Roman" pitchFamily="18" charset="0"/>
            </a:endParaRPr>
          </a:p>
          <a:p>
            <a:pPr lvl="0">
              <a:lnSpc>
                <a:spcPct val="90000"/>
              </a:lnSpc>
            </a:pPr>
            <a:r>
              <a:rPr lang="en-US" sz="2800" b="1" u="sng" dirty="0">
                <a:latin typeface="Times New Roman" pitchFamily="18" charset="0"/>
                <a:cs typeface="Times New Roman" pitchFamily="18" charset="0"/>
              </a:rPr>
              <a:t>Error handling paths</a:t>
            </a:r>
            <a:endParaRPr lang="en-IN" sz="2800" b="1" u="sng" dirty="0">
              <a:latin typeface="Times New Roman" pitchFamily="18" charset="0"/>
              <a:cs typeface="Times New Roman" pitchFamily="18" charset="0"/>
            </a:endParaRPr>
          </a:p>
          <a:p>
            <a:pPr lvl="1">
              <a:lnSpc>
                <a:spcPct val="90000"/>
              </a:lnSpc>
            </a:pPr>
            <a:r>
              <a:rPr lang="en-US" sz="2800" b="1" dirty="0">
                <a:latin typeface="Times New Roman" pitchFamily="18" charset="0"/>
                <a:cs typeface="Times New Roman" pitchFamily="18" charset="0"/>
              </a:rPr>
              <a:t>Ensure that </a:t>
            </a:r>
            <a:r>
              <a:rPr lang="en-US" sz="2800" b="1" dirty="0" err="1">
                <a:latin typeface="Times New Roman" pitchFamily="18" charset="0"/>
                <a:cs typeface="Times New Roman" pitchFamily="18" charset="0"/>
              </a:rPr>
              <a:t>algos</a:t>
            </a:r>
            <a:r>
              <a:rPr lang="en-US" sz="2800" b="1" dirty="0">
                <a:latin typeface="Times New Roman" pitchFamily="18" charset="0"/>
                <a:cs typeface="Times New Roman" pitchFamily="18" charset="0"/>
              </a:rPr>
              <a:t> respond correctly to specific error conditions</a:t>
            </a:r>
            <a:endParaRPr lang="en-IN" sz="2800" b="1" dirty="0">
              <a:latin typeface="Times New Roman" pitchFamily="18" charset="0"/>
              <a:cs typeface="Times New Roman" pitchFamily="18" charset="0"/>
            </a:endParaRPr>
          </a:p>
          <a:p>
            <a:pPr marL="0" marR="0" lvl="0" indent="0" algn="just" defTabSz="914400" rtl="0" eaLnBrk="0" fontAlgn="base" latinLnBrk="0" hangingPunct="0">
              <a:lnSpc>
                <a:spcPct val="90000"/>
              </a:lnSpc>
              <a:spcBef>
                <a:spcPct val="0"/>
              </a:spcBef>
              <a:spcAft>
                <a:spcPct val="0"/>
              </a:spcAft>
              <a:buClrTx/>
              <a:buSzTx/>
              <a:buFontTx/>
              <a:buNone/>
              <a:tabLst>
                <a:tab pos="2057400" algn="l"/>
              </a:tabLst>
            </a:pP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4" name="Rectangle 3"/>
          <p:cNvSpPr/>
          <p:nvPr/>
        </p:nvSpPr>
        <p:spPr>
          <a:xfrm>
            <a:off x="3357554" y="0"/>
            <a:ext cx="1896866" cy="461665"/>
          </a:xfrm>
          <a:prstGeom prst="rect">
            <a:avLst/>
          </a:prstGeom>
        </p:spPr>
        <p:txBody>
          <a:bodyPr wrap="none">
            <a:spAutoFit/>
          </a:bodyPr>
          <a:lstStyle/>
          <a:p>
            <a:r>
              <a:rPr lang="en-US" sz="2400" b="1" dirty="0" smtClean="0"/>
              <a:t>LECTURE   -  7</a:t>
            </a:r>
            <a:endParaRPr lang="en-IN" sz="2400" b="1" dirty="0"/>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35</a:t>
            </a:fld>
            <a:endParaRPr lang="en-IN"/>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71406" y="285728"/>
            <a:ext cx="8929718" cy="664797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2057400" algn="l"/>
              </a:tabLst>
            </a:pPr>
            <a:r>
              <a:rPr lang="en-US" sz="4000" b="1" u="sng" dirty="0" smtClean="0">
                <a:latin typeface="Times New Roman" pitchFamily="18" charset="0"/>
                <a:ea typeface="Calibri" pitchFamily="34" charset="0"/>
                <a:cs typeface="Times New Roman" pitchFamily="18" charset="0"/>
              </a:rPr>
              <a:t>2</a:t>
            </a:r>
            <a:r>
              <a:rPr kumimoji="0" lang="en-US" sz="40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Integration Testing</a:t>
            </a:r>
          </a:p>
          <a:p>
            <a:pPr marL="0" marR="0" lvl="0" indent="0" algn="just" defTabSz="914400" rtl="0" eaLnBrk="0" fontAlgn="base" latinLnBrk="0" hangingPunct="0">
              <a:lnSpc>
                <a:spcPct val="100000"/>
              </a:lnSpc>
              <a:spcBef>
                <a:spcPct val="0"/>
              </a:spcBef>
              <a:spcAft>
                <a:spcPct val="0"/>
              </a:spcAft>
              <a:buClrTx/>
              <a:buSzTx/>
              <a:buFontTx/>
              <a:buNone/>
              <a:tabLst>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Focuses on the design and construction of the software architecture . Focuses on inputs and outputs, and how well the components fit together and work together</a:t>
            </a:r>
            <a:r>
              <a:rPr kumimoji="0" lang="en-US" sz="3000" b="1" i="0"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Two Approaches</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Non-incremental Integration Testing</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Incremental Integration Testing</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057400" algn="l"/>
              </a:tabLst>
            </a:pPr>
            <a:r>
              <a:rPr kumimoji="0" lang="en-US" sz="30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Non-incremental  Integration Testing</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Commonly called the “Big Bang” approach</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All components are combined in advance</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The entire program is tested as a whole</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Correction is difficult because isolation of causes is complicated</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4" name="Rectangle 3"/>
          <p:cNvSpPr/>
          <p:nvPr/>
        </p:nvSpPr>
        <p:spPr>
          <a:xfrm>
            <a:off x="3428992" y="0"/>
            <a:ext cx="1896866" cy="461665"/>
          </a:xfrm>
          <a:prstGeom prst="rect">
            <a:avLst/>
          </a:prstGeom>
        </p:spPr>
        <p:txBody>
          <a:bodyPr wrap="none">
            <a:spAutoFit/>
          </a:bodyPr>
          <a:lstStyle/>
          <a:p>
            <a:r>
              <a:rPr lang="en-US" sz="2400" b="1" dirty="0" smtClean="0"/>
              <a:t>LECTURE   -  8</a:t>
            </a:r>
            <a:endParaRPr lang="en-IN" sz="2400" b="1" dirty="0"/>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36</a:t>
            </a:fld>
            <a:endParaRPr lang="en-IN"/>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r="30909"/>
          <a:stretch>
            <a:fillRect/>
          </a:stretch>
        </p:blipFill>
        <p:spPr bwMode="auto">
          <a:xfrm>
            <a:off x="928662" y="2571744"/>
            <a:ext cx="5429288" cy="4286280"/>
          </a:xfrm>
          <a:prstGeom prst="rect">
            <a:avLst/>
          </a:prstGeom>
          <a:noFill/>
          <a:ln w="12700">
            <a:noFill/>
            <a:miter lim="800000"/>
            <a:headEnd/>
            <a:tailEnd/>
          </a:ln>
          <a:effectLst/>
        </p:spPr>
      </p:pic>
      <p:sp>
        <p:nvSpPr>
          <p:cNvPr id="2049" name="Rectangle 1"/>
          <p:cNvSpPr>
            <a:spLocks noChangeArrowheads="1"/>
          </p:cNvSpPr>
          <p:nvPr/>
        </p:nvSpPr>
        <p:spPr bwMode="auto">
          <a:xfrm>
            <a:off x="0" y="71414"/>
            <a:ext cx="9144000" cy="30469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tabLst>
                <a:tab pos="457200" algn="l"/>
                <a:tab pos="2057400" algn="l"/>
              </a:tabLst>
            </a:pPr>
            <a:r>
              <a:rPr kumimoji="0" lang="en-US" sz="32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Incremental Integration Testing</a:t>
            </a:r>
            <a:endParaRPr kumimoji="0" lang="en-US" sz="3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Char char="•"/>
              <a:tabLst>
                <a:tab pos="457200" algn="l"/>
                <a:tab pos="2057400" algn="l"/>
              </a:tabLst>
            </a:pP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Top-down integration</a:t>
            </a:r>
            <a:endParaRPr kumimoji="0" lang="en-US" sz="3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Bottom-up integration</a:t>
            </a:r>
            <a:endParaRPr kumimoji="0" lang="en-US" sz="3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Sandwich integration</a:t>
            </a:r>
            <a:endParaRPr kumimoji="0" lang="en-US" sz="3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The program is constructed and tested in small increments</a:t>
            </a:r>
            <a:endParaRPr kumimoji="0" lang="en-US" sz="32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37</a:t>
            </a:fld>
            <a:endParaRPr lang="en-IN"/>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0"/>
            <a:ext cx="9144000" cy="427809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2057400" algn="l"/>
              </a:tabLst>
            </a:pPr>
            <a:r>
              <a:rPr kumimoji="0" lang="en-US" sz="28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Top-down Integration</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Modules are integrated by moving downward through the control hierarchy, beginning with the main module</a:t>
            </a:r>
          </a:p>
          <a:p>
            <a:pPr lvl="0" algn="just" fontAlgn="base">
              <a:spcBef>
                <a:spcPct val="0"/>
              </a:spcBef>
              <a:spcAft>
                <a:spcPct val="0"/>
              </a:spcAft>
              <a:buFontTx/>
              <a:buChar char="•"/>
              <a:tabLst>
                <a:tab pos="914400" algn="l"/>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Subordinate modules are DF and BF</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lvl="1" algn="just" eaLnBrk="0" fontAlgn="base" hangingPunct="0">
              <a:spcBef>
                <a:spcPct val="0"/>
              </a:spcBef>
              <a:spcAft>
                <a:spcPct val="0"/>
              </a:spcAft>
              <a:buFontTx/>
              <a:buChar char="•"/>
              <a:tabLst>
                <a:tab pos="914400" algn="l"/>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DF: All modules on a major control path are integrated</a:t>
            </a:r>
            <a:endParaRPr kumimoji="0" lang="en-US" sz="2800" b="1" i="0" u="none" strike="noStrike" cap="none" normalizeH="0" baseline="0" dirty="0" smtClean="0">
              <a:ln>
                <a:noFill/>
              </a:ln>
              <a:solidFill>
                <a:schemeClr val="tx1"/>
              </a:solidFill>
              <a:effectLst/>
              <a:latin typeface="Times New Roman" pitchFamily="18" charset="0"/>
              <a:cs typeface="Times New Roman" pitchFamily="18" charset="0"/>
            </a:endParaRPr>
          </a:p>
          <a:p>
            <a:pPr lvl="1" algn="just" eaLnBrk="0" fontAlgn="base" hangingPunct="0">
              <a:spcBef>
                <a:spcPct val="0"/>
              </a:spcBef>
              <a:spcAft>
                <a:spcPct val="0"/>
              </a:spcAft>
              <a:buFontTx/>
              <a:buChar char="•"/>
              <a:tabLst>
                <a:tab pos="914400" algn="l"/>
                <a:tab pos="2057400" algn="l"/>
              </a:tabLst>
            </a:pPr>
            <a:r>
              <a:rPr kumimoji="0" lang="en-US"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BF: All modules directly subordinate at each level are integrated</a:t>
            </a:r>
            <a:endParaRPr lang="en-US" sz="2400" b="1" dirty="0">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 pos="2057400" algn="l"/>
              </a:tabLst>
            </a:pP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 pos="2057400" algn="l"/>
              </a:tabLst>
            </a:pP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3073" name="Picture 3"/>
          <p:cNvPicPr>
            <a:picLocks noChangeAspect="1" noChangeArrowheads="1"/>
          </p:cNvPicPr>
          <p:nvPr/>
        </p:nvPicPr>
        <p:blipFill>
          <a:blip r:embed="rId2"/>
          <a:srcRect/>
          <a:stretch>
            <a:fillRect/>
          </a:stretch>
        </p:blipFill>
        <p:spPr bwMode="auto">
          <a:xfrm>
            <a:off x="142876" y="3500438"/>
            <a:ext cx="8715404" cy="3701253"/>
          </a:xfrm>
          <a:prstGeom prst="rect">
            <a:avLst/>
          </a:prstGeom>
          <a:noFill/>
        </p:spPr>
      </p:pic>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38</a:t>
            </a:fld>
            <a:endParaRPr lang="en-IN"/>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0" y="0"/>
            <a:ext cx="4131259" cy="80021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l" defTabSz="914400" rtl="0" eaLnBrk="1" fontAlgn="base" latinLnBrk="0" hangingPunct="1">
              <a:lnSpc>
                <a:spcPct val="100000"/>
              </a:lnSpc>
              <a:spcBef>
                <a:spcPct val="0"/>
              </a:spcBef>
              <a:spcAft>
                <a:spcPct val="0"/>
              </a:spcAft>
              <a:buClrTx/>
              <a:buSzTx/>
              <a:buFontTx/>
              <a:buNone/>
              <a:tabLst>
                <a:tab pos="2057400" algn="l"/>
              </a:tabLst>
            </a:pPr>
            <a:r>
              <a:rPr kumimoji="0" lang="en-US" sz="28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Bottom-up Integration</a:t>
            </a: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tab pos="2057400" algn="l"/>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21505" name="Picture 2"/>
          <p:cNvPicPr>
            <a:picLocks noChangeAspect="1" noChangeArrowheads="1"/>
          </p:cNvPicPr>
          <p:nvPr/>
        </p:nvPicPr>
        <p:blipFill>
          <a:blip r:embed="rId2"/>
          <a:srcRect/>
          <a:stretch>
            <a:fillRect/>
          </a:stretch>
        </p:blipFill>
        <p:spPr bwMode="auto">
          <a:xfrm>
            <a:off x="0" y="457200"/>
            <a:ext cx="9028928" cy="2400296"/>
          </a:xfrm>
          <a:prstGeom prst="rect">
            <a:avLst/>
          </a:prstGeom>
          <a:noFill/>
        </p:spPr>
      </p:pic>
      <p:sp>
        <p:nvSpPr>
          <p:cNvPr id="21507" name="Rectangle 3"/>
          <p:cNvSpPr>
            <a:spLocks noChangeArrowheads="1"/>
          </p:cNvSpPr>
          <p:nvPr/>
        </p:nvSpPr>
        <p:spPr bwMode="auto">
          <a:xfrm>
            <a:off x="0" y="3251674"/>
            <a:ext cx="9144000" cy="31085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tab pos="228600" algn="l"/>
                <a:tab pos="457200" algn="l"/>
                <a:tab pos="2057400" algn="l"/>
              </a:tabLst>
            </a:pPr>
            <a:r>
              <a:rPr kumimoji="0" lang="en-US" sz="28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Integration &amp; testing starts with the most atomic modules in the control hierarchy </a:t>
            </a:r>
            <a:endParaRPr kumimoji="0" lang="en-US" sz="28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 pos="457200" algn="l"/>
                <a:tab pos="2057400" algn="l"/>
              </a:tabLst>
            </a:pPr>
            <a:r>
              <a:rPr kumimoji="0" lang="en-US" sz="2800" b="1"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Sandwich Integration</a:t>
            </a:r>
            <a:endParaRPr kumimoji="0" lang="en-US" sz="28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 pos="457200" algn="l"/>
                <a:tab pos="2057400" algn="l"/>
              </a:tabLst>
            </a:pPr>
            <a:r>
              <a:rPr kumimoji="0" lang="en-US" sz="28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Consists of a combination of both top-down and bottom-up integration</a:t>
            </a:r>
            <a:endParaRPr kumimoji="0" lang="en-US" sz="28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 pos="457200" algn="l"/>
                <a:tab pos="2057400" algn="l"/>
              </a:tabLst>
            </a:pPr>
            <a:r>
              <a:rPr kumimoji="0" lang="en-US" sz="28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Occurs both at the highest level modules and also at the lowest level modules</a:t>
            </a:r>
            <a:endParaRPr kumimoji="0" lang="en-US" sz="2800" b="1" i="0" u="none" strike="noStrike" cap="none" normalizeH="0" baseline="0" dirty="0" smtClean="0">
              <a:ln>
                <a:noFill/>
              </a:ln>
              <a:solidFill>
                <a:schemeClr val="tx1"/>
              </a:solidFill>
              <a:effectLst/>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39</a:t>
            </a:fld>
            <a:endParaRPr lang="en-IN"/>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285728"/>
            <a:ext cx="8501122" cy="6001643"/>
          </a:xfrm>
          <a:prstGeom prst="rect">
            <a:avLst/>
          </a:prstGeom>
        </p:spPr>
        <p:txBody>
          <a:bodyPr wrap="square">
            <a:spAutoFit/>
          </a:bodyPr>
          <a:lstStyle/>
          <a:p>
            <a:pPr lvl="0" algn="just" eaLnBrk="0" fontAlgn="base" hangingPunct="0">
              <a:spcBef>
                <a:spcPct val="0"/>
              </a:spcBef>
              <a:spcAft>
                <a:spcPct val="0"/>
              </a:spcAft>
              <a:tabLst>
                <a:tab pos="228600" algn="l"/>
                <a:tab pos="457200" algn="l"/>
                <a:tab pos="2057400" algn="l"/>
              </a:tabLst>
            </a:pPr>
            <a:r>
              <a:rPr kumimoji="0" lang="en-US" sz="3200" b="1"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Regression Testing</a:t>
            </a:r>
            <a:endParaRPr kumimoji="0" lang="en-US" sz="3200" b="1" i="0" u="none" strike="noStrike" cap="none" normalizeH="0" baseline="0" dirty="0" smtClean="0">
              <a:ln>
                <a:noFill/>
              </a:ln>
              <a:solidFill>
                <a:schemeClr val="tx1"/>
              </a:solidFill>
              <a:effectLst/>
              <a:latin typeface="Arial" pitchFamily="34" charset="0"/>
              <a:cs typeface="Arial" pitchFamily="34" charset="0"/>
            </a:endParaRPr>
          </a:p>
          <a:p>
            <a:pPr lvl="0" algn="just" eaLnBrk="0" fontAlgn="base" hangingPunct="0">
              <a:spcBef>
                <a:spcPct val="0"/>
              </a:spcBef>
              <a:spcAft>
                <a:spcPct val="0"/>
              </a:spcAft>
              <a:buFontTx/>
              <a:buChar char="•"/>
              <a:tabLst>
                <a:tab pos="228600" algn="l"/>
                <a:tab pos="457200" algn="l"/>
                <a:tab pos="2057400" algn="l"/>
              </a:tabLst>
            </a:pP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Each new </a:t>
            </a:r>
            <a:r>
              <a:rPr kumimoji="0" lang="en-US" sz="32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addition</a:t>
            </a: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or </a:t>
            </a:r>
            <a:r>
              <a:rPr kumimoji="0" lang="en-US" sz="32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change</a:t>
            </a: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to </a:t>
            </a:r>
            <a:r>
              <a:rPr kumimoji="0" lang="en-US" sz="3200" b="1"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baselined</a:t>
            </a: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software may cause problems with functions that previously worked flawlessly</a:t>
            </a:r>
            <a:endParaRPr kumimoji="0" lang="en-US" sz="3200" b="1" i="0" u="none" strike="noStrike" cap="none" normalizeH="0" baseline="0" dirty="0" smtClean="0">
              <a:ln>
                <a:noFill/>
              </a:ln>
              <a:solidFill>
                <a:schemeClr val="tx1"/>
              </a:solidFill>
              <a:effectLst/>
              <a:latin typeface="Times New Roman" pitchFamily="18" charset="0"/>
              <a:cs typeface="Times New Roman" pitchFamily="18" charset="0"/>
            </a:endParaRPr>
          </a:p>
          <a:p>
            <a:pPr lvl="0" algn="just" eaLnBrk="0" fontAlgn="base" hangingPunct="0">
              <a:spcBef>
                <a:spcPct val="0"/>
              </a:spcBef>
              <a:spcAft>
                <a:spcPct val="0"/>
              </a:spcAft>
              <a:buFontTx/>
              <a:buChar char="•"/>
              <a:tabLst>
                <a:tab pos="228600" algn="l"/>
                <a:tab pos="457200" algn="l"/>
                <a:tab pos="2057400" algn="l"/>
              </a:tabLst>
            </a:pP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Regression test suite contains three different classes of test cases</a:t>
            </a:r>
            <a:endParaRPr kumimoji="0" lang="en-US" sz="3200" b="1" i="0" u="none" strike="noStrike" cap="none" normalizeH="0" baseline="0" dirty="0" smtClean="0">
              <a:ln>
                <a:noFill/>
              </a:ln>
              <a:solidFill>
                <a:schemeClr val="tx1"/>
              </a:solidFill>
              <a:effectLst/>
              <a:latin typeface="Times New Roman" pitchFamily="18" charset="0"/>
              <a:cs typeface="Times New Roman" pitchFamily="18" charset="0"/>
            </a:endParaRPr>
          </a:p>
          <a:p>
            <a:pPr lvl="1" algn="just" eaLnBrk="0" fontAlgn="base" hangingPunct="0">
              <a:spcBef>
                <a:spcPct val="0"/>
              </a:spcBef>
              <a:spcAft>
                <a:spcPct val="0"/>
              </a:spcAft>
              <a:buFontTx/>
              <a:buChar char="•"/>
              <a:tabLst>
                <a:tab pos="228600" algn="l"/>
                <a:tab pos="457200" algn="l"/>
                <a:tab pos="2057400" algn="l"/>
              </a:tabLst>
            </a:pP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 sample of tests that will exercise all software </a:t>
            </a:r>
            <a:r>
              <a:rPr kumimoji="0" lang="en-US" sz="3200" b="1"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func</a:t>
            </a:r>
            <a:endParaRPr kumimoji="0" lang="en-US" sz="3200" b="1" i="0" u="none" strike="noStrike" cap="none" normalizeH="0" baseline="0" dirty="0" smtClean="0">
              <a:ln>
                <a:noFill/>
              </a:ln>
              <a:solidFill>
                <a:schemeClr val="tx1"/>
              </a:solidFill>
              <a:effectLst/>
              <a:latin typeface="Times New Roman" pitchFamily="18" charset="0"/>
              <a:cs typeface="Times New Roman" pitchFamily="18" charset="0"/>
            </a:endParaRPr>
          </a:p>
          <a:p>
            <a:pPr lvl="1" algn="just" eaLnBrk="0" fontAlgn="base" hangingPunct="0">
              <a:spcBef>
                <a:spcPct val="0"/>
              </a:spcBef>
              <a:spcAft>
                <a:spcPct val="0"/>
              </a:spcAft>
              <a:buFontTx/>
              <a:buChar char="•"/>
              <a:tabLst>
                <a:tab pos="228600" algn="l"/>
                <a:tab pos="457200" algn="l"/>
                <a:tab pos="2057400" algn="l"/>
              </a:tabLst>
            </a:pP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Additional tests that focus on that are likely to be affected by the change</a:t>
            </a:r>
            <a:endParaRPr kumimoji="0" lang="en-US" sz="3200" b="1" i="0" u="none" strike="noStrike" cap="none" normalizeH="0" baseline="0" dirty="0" smtClean="0">
              <a:ln>
                <a:noFill/>
              </a:ln>
              <a:solidFill>
                <a:schemeClr val="tx1"/>
              </a:solidFill>
              <a:effectLst/>
              <a:latin typeface="Times New Roman" pitchFamily="18" charset="0"/>
              <a:cs typeface="Times New Roman" pitchFamily="18" charset="0"/>
            </a:endParaRPr>
          </a:p>
          <a:p>
            <a:pPr lvl="1" algn="just" eaLnBrk="0" fontAlgn="base" hangingPunct="0">
              <a:spcBef>
                <a:spcPct val="0"/>
              </a:spcBef>
              <a:spcAft>
                <a:spcPct val="0"/>
              </a:spcAft>
              <a:buFontTx/>
              <a:buChar char="•"/>
              <a:tabLst>
                <a:tab pos="228600" algn="l"/>
                <a:tab pos="457200" algn="l"/>
                <a:tab pos="2057400" algn="l"/>
              </a:tabLst>
            </a:pPr>
            <a:r>
              <a:rPr kumimoji="0" lang="en-US"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Tests that focus on the actual SW components that have been changed </a:t>
            </a:r>
            <a:endParaRPr kumimoji="0" lang="en-US" sz="32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smtClean="0"/>
              <a:t>Prof. Anjana Verma</a:t>
            </a:r>
            <a:endParaRPr lang="en-IN"/>
          </a:p>
        </p:txBody>
      </p:sp>
      <p:sp>
        <p:nvSpPr>
          <p:cNvPr id="4" name="Slide Number Placeholder 3"/>
          <p:cNvSpPr>
            <a:spLocks noGrp="1"/>
          </p:cNvSpPr>
          <p:nvPr>
            <p:ph type="sldNum" sz="quarter" idx="12"/>
          </p:nvPr>
        </p:nvSpPr>
        <p:spPr/>
        <p:txBody>
          <a:bodyPr/>
          <a:lstStyle/>
          <a:p>
            <a:fld id="{49549E9F-9F6E-4CAF-8BBD-34C43FD5C9E9}" type="slidenum">
              <a:rPr lang="en-IN" smtClean="0"/>
              <a:pPr/>
              <a:t>40</a:t>
            </a:fld>
            <a:endParaRPr lang="en-IN"/>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ChangeArrowheads="1"/>
          </p:cNvSpPr>
          <p:nvPr/>
        </p:nvSpPr>
        <p:spPr bwMode="auto">
          <a:xfrm>
            <a:off x="0" y="-142900"/>
            <a:ext cx="9144000" cy="655564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spcBef>
                <a:spcPct val="0"/>
              </a:spcBef>
              <a:spcAft>
                <a:spcPct val="0"/>
              </a:spcAft>
              <a:buClrTx/>
              <a:buSzTx/>
              <a:buFontTx/>
              <a:buNone/>
              <a:tabLst>
                <a:tab pos="457200" algn="l"/>
                <a:tab pos="2057400" algn="l"/>
              </a:tabLst>
            </a:pPr>
            <a:r>
              <a:rPr kumimoji="0" lang="en-US" sz="30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Smoke Testing</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spcBef>
                <a:spcPct val="0"/>
              </a:spcBef>
              <a:spcAft>
                <a:spcPct val="0"/>
              </a:spcAft>
              <a:buClrTx/>
              <a:buSzTx/>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Power is applied and a technician checks for sparks, smoke, or other dramatic signs of fundamental  failure</a:t>
            </a:r>
            <a:r>
              <a:rPr lang="en-US" sz="3000" b="1" dirty="0" smtClean="0">
                <a:latin typeface="Times New Roman" pitchFamily="18" charset="0"/>
                <a:ea typeface="Calibri" pitchFamily="34" charset="0"/>
                <a:cs typeface="Times New Roman" pitchFamily="18" charset="0"/>
              </a:rPr>
              <a:t> </a:t>
            </a: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Includes the following activities</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algn="just" eaLnBrk="0" fontAlgn="base" hangingPunct="0">
              <a:spcBef>
                <a:spcPct val="0"/>
              </a:spcBef>
              <a:spcAft>
                <a:spcPct val="0"/>
              </a:spcAft>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The software is compiled and linked into a build</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algn="just" eaLnBrk="0" fontAlgn="base" hangingPunct="0">
              <a:spcBef>
                <a:spcPct val="0"/>
              </a:spcBef>
              <a:spcAft>
                <a:spcPct val="0"/>
              </a:spcAft>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 series of breadth tests is designed to expose errors</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algn="just" eaLnBrk="0" fontAlgn="base" hangingPunct="0">
              <a:spcBef>
                <a:spcPct val="0"/>
              </a:spcBef>
              <a:spcAft>
                <a:spcPct val="0"/>
              </a:spcAft>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The build is integrated with other builds and the entire product is smoke tested daily. </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algn="just" eaLnBrk="0" fontAlgn="base" hangingPunct="0">
              <a:spcBef>
                <a:spcPct val="0"/>
              </a:spcBef>
              <a:spcAft>
                <a:spcPct val="0"/>
              </a:spcAft>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After a smoke test is completed, detailed test scripts are executed</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spcBef>
                <a:spcPct val="0"/>
              </a:spcBef>
              <a:spcAft>
                <a:spcPct val="0"/>
              </a:spcAft>
              <a:buClrTx/>
              <a:buSzTx/>
              <a:buFontTx/>
              <a:buNone/>
              <a:tabLst>
                <a:tab pos="457200" algn="l"/>
                <a:tab pos="2057400" algn="l"/>
              </a:tabLst>
            </a:pPr>
            <a:r>
              <a:rPr kumimoji="0" lang="en-US" sz="30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Benefits of Smoke Testing</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spcBef>
                <a:spcPct val="0"/>
              </a:spcBef>
              <a:spcAft>
                <a:spcPct val="0"/>
              </a:spcAft>
              <a:buClrTx/>
              <a:buSzTx/>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Integration risk is minimized</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spcBef>
                <a:spcPct val="0"/>
              </a:spcBef>
              <a:spcAft>
                <a:spcPct val="0"/>
              </a:spcAft>
              <a:buClrTx/>
              <a:buSzTx/>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uncover both functional errors and architectural and component-level design errors</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smtClean="0"/>
              <a:t>Prof. Anjana Verma</a:t>
            </a:r>
            <a:endParaRPr lang="en-IN"/>
          </a:p>
        </p:txBody>
      </p:sp>
      <p:sp>
        <p:nvSpPr>
          <p:cNvPr id="4" name="Slide Number Placeholder 3"/>
          <p:cNvSpPr>
            <a:spLocks noGrp="1"/>
          </p:cNvSpPr>
          <p:nvPr>
            <p:ph type="sldNum" sz="quarter" idx="12"/>
          </p:nvPr>
        </p:nvSpPr>
        <p:spPr/>
        <p:txBody>
          <a:bodyPr/>
          <a:lstStyle/>
          <a:p>
            <a:fld id="{49549E9F-9F6E-4CAF-8BBD-34C43FD5C9E9}" type="slidenum">
              <a:rPr lang="en-IN" smtClean="0"/>
              <a:pPr/>
              <a:t>41</a:t>
            </a:fld>
            <a:endParaRPr lang="en-IN"/>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71470" y="-36820"/>
            <a:ext cx="9144000" cy="6892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90000"/>
              </a:lnSpc>
              <a:spcBef>
                <a:spcPct val="0"/>
              </a:spcBef>
              <a:spcAft>
                <a:spcPct val="0"/>
              </a:spcAft>
              <a:buClrTx/>
              <a:buSzTx/>
              <a:buFontTx/>
              <a:buNone/>
              <a:tabLst>
                <a:tab pos="457200" algn="l"/>
                <a:tab pos="2057400" algn="l"/>
              </a:tabLst>
            </a:pPr>
            <a:r>
              <a:rPr kumimoji="0" lang="en-US" sz="36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3.Validation Testing</a:t>
            </a:r>
            <a:endParaRPr kumimoji="0" lang="en-US" sz="36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90000"/>
              </a:lnSpc>
              <a:spcBef>
                <a:spcPct val="0"/>
              </a:spcBef>
              <a:spcAft>
                <a:spcPct val="0"/>
              </a:spcAft>
              <a:buClrTx/>
              <a:buSzTx/>
              <a:buFontTx/>
              <a:buChar char="•"/>
              <a:tabLst>
                <a:tab pos="457200" algn="l"/>
                <a:tab pos="2057400" algn="l"/>
              </a:tabLst>
            </a:pPr>
            <a:r>
              <a:rPr kumimoji="0" lang="en-US" sz="27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Validation testing follows integration testing</a:t>
            </a:r>
            <a:endParaRPr kumimoji="0" lang="en-US" sz="27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90000"/>
              </a:lnSpc>
              <a:spcBef>
                <a:spcPct val="0"/>
              </a:spcBef>
              <a:spcAft>
                <a:spcPct val="0"/>
              </a:spcAft>
              <a:buClrTx/>
              <a:buSzTx/>
              <a:buFontTx/>
              <a:buChar char="•"/>
              <a:tabLst>
                <a:tab pos="457200" algn="l"/>
                <a:tab pos="2057400" algn="l"/>
              </a:tabLst>
            </a:pPr>
            <a:r>
              <a:rPr kumimoji="0" lang="en-US" sz="27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Demonstrates conformity with requirements</a:t>
            </a:r>
            <a:endParaRPr kumimoji="0" lang="en-US" sz="27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90000"/>
              </a:lnSpc>
              <a:spcBef>
                <a:spcPct val="0"/>
              </a:spcBef>
              <a:spcAft>
                <a:spcPct val="0"/>
              </a:spcAft>
              <a:buClrTx/>
              <a:buSzTx/>
              <a:buFontTx/>
              <a:buChar char="•"/>
              <a:tabLst>
                <a:tab pos="457200" algn="l"/>
                <a:tab pos="2057400" algn="l"/>
              </a:tabLst>
            </a:pPr>
            <a:r>
              <a:rPr kumimoji="0" lang="en-US" sz="27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Designed to ensure that</a:t>
            </a:r>
            <a:endParaRPr kumimoji="0" lang="en-US" sz="27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90000"/>
              </a:lnSpc>
              <a:spcBef>
                <a:spcPct val="0"/>
              </a:spcBef>
              <a:spcAft>
                <a:spcPct val="0"/>
              </a:spcAft>
              <a:buClrTx/>
              <a:buSzTx/>
              <a:buFontTx/>
              <a:buChar char="•"/>
              <a:tabLst>
                <a:tab pos="457200" algn="l"/>
                <a:tab pos="2057400" algn="l"/>
              </a:tabLst>
            </a:pPr>
            <a:r>
              <a:rPr kumimoji="0" lang="en-US" sz="27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All functional requirements are satisfied</a:t>
            </a:r>
            <a:endParaRPr kumimoji="0" lang="en-US" sz="27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90000"/>
              </a:lnSpc>
              <a:spcBef>
                <a:spcPct val="0"/>
              </a:spcBef>
              <a:spcAft>
                <a:spcPct val="0"/>
              </a:spcAft>
              <a:buClrTx/>
              <a:buSzTx/>
              <a:buFontTx/>
              <a:buChar char="•"/>
              <a:tabLst>
                <a:tab pos="457200" algn="l"/>
                <a:tab pos="2057400" algn="l"/>
              </a:tabLst>
            </a:pPr>
            <a:r>
              <a:rPr kumimoji="0" lang="en-US" sz="27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All behavioral characteristics are achieved</a:t>
            </a:r>
            <a:endParaRPr kumimoji="0" lang="en-US" sz="27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90000"/>
              </a:lnSpc>
              <a:spcBef>
                <a:spcPct val="0"/>
              </a:spcBef>
              <a:spcAft>
                <a:spcPct val="0"/>
              </a:spcAft>
              <a:buClrTx/>
              <a:buSzTx/>
              <a:buFontTx/>
              <a:buChar char="•"/>
              <a:tabLst>
                <a:tab pos="457200" algn="l"/>
                <a:tab pos="2057400" algn="l"/>
              </a:tabLst>
            </a:pPr>
            <a:r>
              <a:rPr kumimoji="0" lang="en-US" sz="27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All performance requirements are attained</a:t>
            </a:r>
            <a:endParaRPr kumimoji="0" lang="en-US" sz="27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90000"/>
              </a:lnSpc>
              <a:spcBef>
                <a:spcPct val="0"/>
              </a:spcBef>
              <a:spcAft>
                <a:spcPct val="0"/>
              </a:spcAft>
              <a:buClrTx/>
              <a:buSzTx/>
              <a:buFontTx/>
              <a:buChar char="•"/>
              <a:tabLst>
                <a:tab pos="457200" algn="l"/>
                <a:tab pos="2057400" algn="l"/>
              </a:tabLst>
            </a:pPr>
            <a:r>
              <a:rPr kumimoji="0" lang="en-US" sz="27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Documentation is correct</a:t>
            </a:r>
            <a:endParaRPr kumimoji="0" lang="en-US" sz="27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90000"/>
              </a:lnSpc>
              <a:spcBef>
                <a:spcPct val="0"/>
              </a:spcBef>
              <a:spcAft>
                <a:spcPct val="0"/>
              </a:spcAft>
              <a:buClrTx/>
              <a:buSzTx/>
              <a:buFontTx/>
              <a:buChar char="•"/>
              <a:tabLst>
                <a:tab pos="457200" algn="l"/>
                <a:tab pos="2057400" algn="l"/>
              </a:tabLst>
            </a:pPr>
            <a:r>
              <a:rPr kumimoji="0" lang="en-US" sz="27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Usability and other requirements are met (e.g., transportability, compatibility, error recovery, maintainability)</a:t>
            </a:r>
            <a:endParaRPr kumimoji="0" lang="en-US" sz="27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90000"/>
              </a:lnSpc>
              <a:spcBef>
                <a:spcPct val="0"/>
              </a:spcBef>
              <a:spcAft>
                <a:spcPct val="0"/>
              </a:spcAft>
              <a:buClrTx/>
              <a:buSzTx/>
              <a:buFontTx/>
              <a:buChar char="•"/>
              <a:tabLst>
                <a:tab pos="457200" algn="l"/>
                <a:tab pos="2057400" algn="l"/>
              </a:tabLst>
            </a:pPr>
            <a:r>
              <a:rPr kumimoji="0" lang="en-US" sz="27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After each validation test</a:t>
            </a:r>
            <a:endParaRPr kumimoji="0" lang="en-US" sz="27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90000"/>
              </a:lnSpc>
              <a:spcBef>
                <a:spcPct val="0"/>
              </a:spcBef>
              <a:spcAft>
                <a:spcPct val="0"/>
              </a:spcAft>
              <a:buClrTx/>
              <a:buSzTx/>
              <a:buFontTx/>
              <a:buChar char="•"/>
              <a:tabLst>
                <a:tab pos="457200" algn="l"/>
                <a:tab pos="2057400" algn="l"/>
              </a:tabLst>
            </a:pPr>
            <a:r>
              <a:rPr kumimoji="0" lang="en-US" sz="27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The function or performance characteristic conforms to specification and is accepted</a:t>
            </a:r>
            <a:endParaRPr kumimoji="0" lang="en-US" sz="2700" b="1"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 defTabSz="914400" rtl="0" eaLnBrk="0" fontAlgn="base" latinLnBrk="0" hangingPunct="0">
              <a:lnSpc>
                <a:spcPct val="90000"/>
              </a:lnSpc>
              <a:spcBef>
                <a:spcPct val="0"/>
              </a:spcBef>
              <a:spcAft>
                <a:spcPct val="0"/>
              </a:spcAft>
              <a:buClrTx/>
              <a:buSzTx/>
              <a:buFontTx/>
              <a:buChar char="•"/>
              <a:tabLst>
                <a:tab pos="457200" algn="l"/>
                <a:tab pos="2057400" algn="l"/>
              </a:tabLst>
            </a:pPr>
            <a:r>
              <a:rPr kumimoji="0" lang="en-US" sz="27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 deviation from specification is uncovered and a deficiency list is created</a:t>
            </a:r>
            <a:endParaRPr kumimoji="0" lang="en-US" sz="27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90000"/>
              </a:lnSpc>
              <a:spcBef>
                <a:spcPct val="0"/>
              </a:spcBef>
              <a:spcAft>
                <a:spcPct val="0"/>
              </a:spcAft>
              <a:buClrTx/>
              <a:buSzTx/>
              <a:buFontTx/>
              <a:buChar char="•"/>
              <a:tabLst>
                <a:tab pos="457200" algn="l"/>
                <a:tab pos="2057400" algn="l"/>
              </a:tabLst>
            </a:pPr>
            <a:r>
              <a:rPr kumimoji="0" lang="en-US" sz="27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 configuration review or audit ensures that all elements of the software configuration have been properly developed</a:t>
            </a:r>
            <a:endParaRPr kumimoji="0" lang="en-US" sz="2700" b="1" i="0" u="none" strike="noStrike" cap="none" normalizeH="0" baseline="0" dirty="0" smtClean="0">
              <a:ln>
                <a:noFill/>
              </a:ln>
              <a:solidFill>
                <a:schemeClr val="tx1"/>
              </a:solidFill>
              <a:effectLst/>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IN" smtClean="0"/>
              <a:t>Prof. Anjana Verma</a:t>
            </a:r>
            <a:endParaRPr lang="en-IN"/>
          </a:p>
        </p:txBody>
      </p:sp>
      <p:sp>
        <p:nvSpPr>
          <p:cNvPr id="4" name="Slide Number Placeholder 3"/>
          <p:cNvSpPr>
            <a:spLocks noGrp="1"/>
          </p:cNvSpPr>
          <p:nvPr>
            <p:ph type="sldNum" sz="quarter" idx="12"/>
          </p:nvPr>
        </p:nvSpPr>
        <p:spPr/>
        <p:txBody>
          <a:bodyPr/>
          <a:lstStyle/>
          <a:p>
            <a:fld id="{49549E9F-9F6E-4CAF-8BBD-34C43FD5C9E9}" type="slidenum">
              <a:rPr lang="en-IN" smtClean="0"/>
              <a:pPr/>
              <a:t>42</a:t>
            </a:fld>
            <a:endParaRPr lang="en-IN"/>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ChangeArrowheads="1"/>
          </p:cNvSpPr>
          <p:nvPr/>
        </p:nvSpPr>
        <p:spPr bwMode="auto">
          <a:xfrm>
            <a:off x="0" y="-142900"/>
            <a:ext cx="9144000" cy="70173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457200" algn="l"/>
                <a:tab pos="2057400" algn="l"/>
              </a:tabLst>
            </a:pPr>
            <a:r>
              <a:rPr kumimoji="0" lang="en-US" sz="30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Alpha and Beta Testing</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30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Alpha testing</a:t>
            </a:r>
            <a:endParaRPr kumimoji="0" lang="en-US" sz="3000" b="1" i="0" u="sng"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Conducted at the developer’s site by end users</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Software is used in a natural setting with developers watching intently</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Testing is conducted in a controlled environment</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30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Beta testing</a:t>
            </a:r>
            <a:endParaRPr kumimoji="0" lang="en-US" sz="3000" b="1" i="0" u="sng"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Conducted at end-user sites</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Developer is generally not present</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The end-user records all problems that are encountered and reports these to the developers at regular intervals</a:t>
            </a:r>
            <a:endParaRPr kumimoji="0" lang="en-US" sz="3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2057400" algn="l"/>
              </a:tabLst>
            </a:pPr>
            <a:r>
              <a:rPr kumimoji="0" lang="en-US" sz="3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After beta testing is complete, software engineers make software modifications and prepare for release of the software product </a:t>
            </a:r>
            <a:r>
              <a:rPr kumimoji="0" lang="en-US" sz="30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t>
            </a:r>
            <a:endParaRPr kumimoji="0" lang="en-US" sz="3000" b="1" i="0" u="none" strike="noStrike" cap="none" normalizeH="0" baseline="0" dirty="0" smtClean="0">
              <a:ln>
                <a:noFill/>
              </a:ln>
              <a:solidFill>
                <a:schemeClr val="tx1"/>
              </a:solidFill>
              <a:effectLst/>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IN" smtClean="0"/>
              <a:t>Prof. Anjana Verma</a:t>
            </a:r>
            <a:endParaRPr lang="en-IN"/>
          </a:p>
        </p:txBody>
      </p:sp>
      <p:sp>
        <p:nvSpPr>
          <p:cNvPr id="4" name="Slide Number Placeholder 3"/>
          <p:cNvSpPr>
            <a:spLocks noGrp="1"/>
          </p:cNvSpPr>
          <p:nvPr>
            <p:ph type="sldNum" sz="quarter" idx="12"/>
          </p:nvPr>
        </p:nvSpPr>
        <p:spPr/>
        <p:txBody>
          <a:bodyPr/>
          <a:lstStyle/>
          <a:p>
            <a:fld id="{49549E9F-9F6E-4CAF-8BBD-34C43FD5C9E9}" type="slidenum">
              <a:rPr lang="en-IN" smtClean="0"/>
              <a:pPr/>
              <a:t>43</a:t>
            </a:fld>
            <a:endParaRPr lang="en-IN"/>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p:cNvSpPr>
            <a:spLocks noChangeArrowheads="1"/>
          </p:cNvSpPr>
          <p:nvPr/>
        </p:nvSpPr>
        <p:spPr bwMode="auto">
          <a:xfrm>
            <a:off x="0" y="-142900"/>
            <a:ext cx="9144000" cy="69557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914400" algn="l"/>
                <a:tab pos="2057400" algn="l"/>
              </a:tabLst>
            </a:pPr>
            <a:r>
              <a:rPr kumimoji="0" lang="en-US" sz="4000" b="1" i="0" u="sng"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4. System Testing </a:t>
            </a:r>
            <a:endParaRPr kumimoji="0" lang="en-US" sz="40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tab pos="914400" algn="l"/>
                <a:tab pos="2057400" algn="l"/>
              </a:tabLst>
            </a:pPr>
            <a:r>
              <a:rPr kumimoji="0" lang="en-US" sz="29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1.Recovery testing</a:t>
            </a:r>
            <a:endParaRPr kumimoji="0" lang="en-US" sz="2900" b="1" i="0" u="none"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914400" algn="l"/>
                <a:tab pos="2057400" algn="l"/>
              </a:tabLst>
            </a:pPr>
            <a:r>
              <a:rPr kumimoji="0" lang="en-US" sz="29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Tests for recovery from system faults</a:t>
            </a:r>
            <a:endParaRPr kumimoji="0" lang="en-US" sz="2900" b="1" i="0" u="none"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914400" algn="l"/>
                <a:tab pos="2057400" algn="l"/>
              </a:tabLst>
            </a:pPr>
            <a:r>
              <a:rPr kumimoji="0" lang="en-US" sz="29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Tests </a:t>
            </a:r>
            <a:r>
              <a:rPr kumimoji="0" lang="en-US" sz="2900" b="1" i="0" u="none" strike="noStrike" cap="none" normalizeH="0" baseline="0" dirty="0" err="1" smtClean="0">
                <a:ln>
                  <a:noFill/>
                </a:ln>
                <a:solidFill>
                  <a:schemeClr val="tx1"/>
                </a:solidFill>
                <a:effectLst/>
                <a:latin typeface="Times New Roman" pitchFamily="18" charset="0"/>
                <a:ea typeface="Calibri" pitchFamily="34" charset="0"/>
                <a:cs typeface="Times New Roman" pitchFamily="18" charset="0"/>
              </a:rPr>
              <a:t>reinitialization</a:t>
            </a:r>
            <a:r>
              <a:rPr kumimoji="0" lang="en-US" sz="29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check pointing mechanisms, data recovery, and restart for correctness</a:t>
            </a:r>
            <a:endParaRPr kumimoji="0" lang="en-US" sz="29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tab pos="914400" algn="l"/>
                <a:tab pos="2057400" algn="l"/>
              </a:tabLst>
            </a:pPr>
            <a:r>
              <a:rPr kumimoji="0" lang="en-US" sz="29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2 Security testing</a:t>
            </a:r>
            <a:endParaRPr kumimoji="0" lang="en-US" sz="2900" b="1" i="0" u="none"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914400" algn="l"/>
                <a:tab pos="2057400" algn="l"/>
              </a:tabLst>
            </a:pPr>
            <a:r>
              <a:rPr kumimoji="0" lang="en-US" sz="29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Verifies that protection mechanisms built into a system will, in fact, protect it from improper access</a:t>
            </a:r>
            <a:endParaRPr kumimoji="0" lang="en-US" sz="29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tab pos="914400" algn="l"/>
                <a:tab pos="2057400" algn="l"/>
              </a:tabLst>
            </a:pPr>
            <a:r>
              <a:rPr kumimoji="0" lang="en-US" sz="29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3.Stress testing</a:t>
            </a:r>
            <a:endParaRPr kumimoji="0" lang="en-US" sz="2900" b="1" i="0" u="none"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914400" algn="l"/>
                <a:tab pos="2057400" algn="l"/>
              </a:tabLst>
            </a:pPr>
            <a:r>
              <a:rPr kumimoji="0" lang="en-US" sz="29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Executes a system in a manner that demands resources in abnormal quantity, frequency, or volume</a:t>
            </a:r>
            <a:endParaRPr kumimoji="0" lang="en-US" sz="29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tab pos="914400" algn="l"/>
                <a:tab pos="2057400" algn="l"/>
              </a:tabLst>
            </a:pPr>
            <a:r>
              <a:rPr kumimoji="0" lang="en-US" sz="29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4.Performance testing</a:t>
            </a:r>
            <a:endParaRPr kumimoji="0" lang="en-US" sz="2900" b="1" i="0" u="none"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914400" algn="l"/>
                <a:tab pos="2057400" algn="l"/>
              </a:tabLst>
            </a:pPr>
            <a:r>
              <a:rPr kumimoji="0" lang="en-US" sz="29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Tests the run-time performance of software</a:t>
            </a:r>
            <a:endParaRPr kumimoji="0" lang="en-US" sz="2900" b="1" i="0" u="none" strike="noStrike" cap="none" normalizeH="0" baseline="0" dirty="0" smtClean="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tab pos="914400" algn="l"/>
                <a:tab pos="2057400" algn="l"/>
              </a:tabLst>
            </a:pPr>
            <a:r>
              <a:rPr kumimoji="0" lang="en-US" sz="29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Often coupled with stress testing and usually requires both hardware and software instrumentation</a:t>
            </a:r>
            <a:endParaRPr kumimoji="0" lang="en-US" sz="29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smtClean="0"/>
              <a:t>Prof. Anjana Verma</a:t>
            </a:r>
            <a:endParaRPr lang="en-IN"/>
          </a:p>
        </p:txBody>
      </p:sp>
      <p:sp>
        <p:nvSpPr>
          <p:cNvPr id="4" name="Slide Number Placeholder 3"/>
          <p:cNvSpPr>
            <a:spLocks noGrp="1"/>
          </p:cNvSpPr>
          <p:nvPr>
            <p:ph type="sldNum" sz="quarter" idx="12"/>
          </p:nvPr>
        </p:nvSpPr>
        <p:spPr/>
        <p:txBody>
          <a:bodyPr/>
          <a:lstStyle/>
          <a:p>
            <a:fld id="{49549E9F-9F6E-4CAF-8BBD-34C43FD5C9E9}" type="slidenum">
              <a:rPr lang="en-IN" smtClean="0"/>
              <a:pPr/>
              <a:t>44</a:t>
            </a:fld>
            <a:endParaRPr lang="en-IN"/>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7301"/>
            <a:ext cx="9144000" cy="6093976"/>
          </a:xfrm>
          <a:prstGeom prst="rect">
            <a:avLst/>
          </a:prstGeom>
        </p:spPr>
        <p:txBody>
          <a:bodyPr wrap="square">
            <a:spAutoFit/>
          </a:bodyPr>
          <a:lstStyle/>
          <a:p>
            <a:pPr lvl="0" fontAlgn="base">
              <a:spcBef>
                <a:spcPct val="0"/>
              </a:spcBef>
              <a:spcAft>
                <a:spcPct val="0"/>
              </a:spcAft>
              <a:tabLst>
                <a:tab pos="2057400" algn="l"/>
              </a:tabLst>
            </a:pPr>
            <a:r>
              <a:rPr lang="en-US" sz="3000" b="1" u="sng" dirty="0" smtClean="0">
                <a:latin typeface="Calibri" pitchFamily="34" charset="0"/>
                <a:ea typeface="Calibri" pitchFamily="34" charset="0"/>
                <a:cs typeface="Times New Roman" pitchFamily="18" charset="0"/>
              </a:rPr>
              <a:t>Test Strategies for Object-Oriented Software </a:t>
            </a:r>
            <a:endParaRPr lang="en-US" sz="3000" b="1" dirty="0" smtClean="0">
              <a:latin typeface="Arial" pitchFamily="34" charset="0"/>
              <a:cs typeface="Arial" pitchFamily="34" charset="0"/>
            </a:endParaRPr>
          </a:p>
          <a:p>
            <a:pPr lvl="0" algn="just" eaLnBrk="0" fontAlgn="base" hangingPunct="0">
              <a:spcBef>
                <a:spcPct val="0"/>
              </a:spcBef>
              <a:spcAft>
                <a:spcPct val="0"/>
              </a:spcAft>
              <a:buFontTx/>
              <a:buChar char="•"/>
              <a:tabLst>
                <a:tab pos="914400" algn="l"/>
                <a:tab pos="2057400" algn="l"/>
              </a:tabLst>
            </a:pPr>
            <a:r>
              <a:rPr lang="en-US" sz="3000" b="1" dirty="0" smtClean="0">
                <a:latin typeface="Times New Roman" pitchFamily="18" charset="0"/>
                <a:ea typeface="Calibri" pitchFamily="34" charset="0"/>
                <a:cs typeface="Times New Roman" pitchFamily="18" charset="0"/>
              </a:rPr>
              <a:t>Test "in the small" and then work out to testing "in the large"</a:t>
            </a:r>
            <a:endParaRPr lang="en-US" sz="3000" b="1" dirty="0" smtClean="0">
              <a:latin typeface="Times New Roman" pitchFamily="18" charset="0"/>
              <a:cs typeface="Times New Roman" pitchFamily="18" charset="0"/>
            </a:endParaRPr>
          </a:p>
          <a:p>
            <a:pPr lvl="1" algn="just" eaLnBrk="0" fontAlgn="base" hangingPunct="0">
              <a:spcBef>
                <a:spcPct val="0"/>
              </a:spcBef>
              <a:spcAft>
                <a:spcPct val="0"/>
              </a:spcAft>
              <a:buFontTx/>
              <a:buChar char="•"/>
              <a:tabLst>
                <a:tab pos="914400" algn="l"/>
                <a:tab pos="2057400" algn="l"/>
              </a:tabLst>
            </a:pPr>
            <a:r>
              <a:rPr lang="en-US" sz="3000" b="1" dirty="0" smtClean="0">
                <a:latin typeface="Times New Roman" pitchFamily="18" charset="0"/>
                <a:ea typeface="Calibri" pitchFamily="34" charset="0"/>
                <a:cs typeface="Times New Roman" pitchFamily="18" charset="0"/>
              </a:rPr>
              <a:t>Testing in the small involves class attributes and operations</a:t>
            </a:r>
            <a:endParaRPr lang="en-US" sz="3000" b="1" dirty="0" smtClean="0">
              <a:latin typeface="Times New Roman" pitchFamily="18" charset="0"/>
              <a:cs typeface="Times New Roman" pitchFamily="18" charset="0"/>
            </a:endParaRPr>
          </a:p>
          <a:p>
            <a:pPr lvl="1" algn="just" eaLnBrk="0" fontAlgn="base" hangingPunct="0">
              <a:spcBef>
                <a:spcPct val="0"/>
              </a:spcBef>
              <a:spcAft>
                <a:spcPct val="0"/>
              </a:spcAft>
              <a:buFontTx/>
              <a:buChar char="•"/>
              <a:tabLst>
                <a:tab pos="914400" algn="l"/>
                <a:tab pos="2057400" algn="l"/>
              </a:tabLst>
            </a:pPr>
            <a:r>
              <a:rPr lang="en-US" sz="3000" b="1" dirty="0" smtClean="0">
                <a:latin typeface="Times New Roman" pitchFamily="18" charset="0"/>
                <a:ea typeface="Calibri" pitchFamily="34" charset="0"/>
                <a:cs typeface="Times New Roman" pitchFamily="18" charset="0"/>
              </a:rPr>
              <a:t>Testing in the large involves a series of regression tests to uncover errors due to communication and collaboration among classes </a:t>
            </a:r>
          </a:p>
          <a:p>
            <a:pPr lvl="0" algn="just" eaLnBrk="0" fontAlgn="base" hangingPunct="0">
              <a:spcBef>
                <a:spcPct val="0"/>
              </a:spcBef>
              <a:spcAft>
                <a:spcPct val="0"/>
              </a:spcAft>
              <a:buFontTx/>
              <a:buChar char="•"/>
              <a:tabLst>
                <a:tab pos="2057400" algn="l"/>
              </a:tabLst>
            </a:pPr>
            <a:r>
              <a:rPr lang="en-US" sz="3000" b="1" dirty="0" smtClean="0">
                <a:latin typeface="Times New Roman" pitchFamily="18" charset="0"/>
                <a:ea typeface="Calibri" pitchFamily="34" charset="0"/>
                <a:cs typeface="Times New Roman" pitchFamily="18" charset="0"/>
              </a:rPr>
              <a:t>Class testing for object-oriented software is the equivalent of unit testing  focuses on operations encapsulated by the class and the state behavior of the class</a:t>
            </a:r>
            <a:endParaRPr lang="en-US" sz="3000" b="1" dirty="0" smtClean="0">
              <a:latin typeface="Times New Roman" pitchFamily="18" charset="0"/>
              <a:cs typeface="Times New Roman" pitchFamily="18" charset="0"/>
            </a:endParaRPr>
          </a:p>
          <a:p>
            <a:pPr lvl="0" eaLnBrk="0" fontAlgn="base" hangingPunct="0">
              <a:spcBef>
                <a:spcPct val="0"/>
              </a:spcBef>
              <a:spcAft>
                <a:spcPct val="0"/>
              </a:spcAft>
              <a:tabLst>
                <a:tab pos="2057400" algn="l"/>
              </a:tabLst>
            </a:pPr>
            <a:endParaRPr lang="en-US" sz="3000" b="1" dirty="0" smtClean="0">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IN" smtClean="0"/>
              <a:t>Prof. Anjana Verma</a:t>
            </a:r>
            <a:endParaRPr lang="en-IN"/>
          </a:p>
        </p:txBody>
      </p:sp>
      <p:sp>
        <p:nvSpPr>
          <p:cNvPr id="4" name="Slide Number Placeholder 3"/>
          <p:cNvSpPr>
            <a:spLocks noGrp="1"/>
          </p:cNvSpPr>
          <p:nvPr>
            <p:ph type="sldNum" sz="quarter" idx="12"/>
          </p:nvPr>
        </p:nvSpPr>
        <p:spPr/>
        <p:txBody>
          <a:bodyPr/>
          <a:lstStyle/>
          <a:p>
            <a:fld id="{49549E9F-9F6E-4CAF-8BBD-34C43FD5C9E9}" type="slidenum">
              <a:rPr lang="en-IN" smtClean="0"/>
              <a:pPr/>
              <a:t>45</a:t>
            </a:fld>
            <a:endParaRPr lang="en-IN"/>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mtClean="0"/>
              <a:t>Prof. Anjana Verma</a:t>
            </a:r>
            <a:endParaRPr lang="en-IN"/>
          </a:p>
        </p:txBody>
      </p:sp>
      <p:sp>
        <p:nvSpPr>
          <p:cNvPr id="3" name="Slide Number Placeholder 2"/>
          <p:cNvSpPr>
            <a:spLocks noGrp="1"/>
          </p:cNvSpPr>
          <p:nvPr>
            <p:ph type="sldNum" sz="quarter" idx="12"/>
          </p:nvPr>
        </p:nvSpPr>
        <p:spPr/>
        <p:txBody>
          <a:bodyPr/>
          <a:lstStyle/>
          <a:p>
            <a:fld id="{49549E9F-9F6E-4CAF-8BBD-34C43FD5C9E9}" type="slidenum">
              <a:rPr lang="en-IN" smtClean="0"/>
              <a:pPr/>
              <a:t>46</a:t>
            </a:fld>
            <a:endParaRPr lang="en-IN"/>
          </a:p>
        </p:txBody>
      </p:sp>
      <p:sp>
        <p:nvSpPr>
          <p:cNvPr id="4" name="Rectangle 3"/>
          <p:cNvSpPr/>
          <p:nvPr/>
        </p:nvSpPr>
        <p:spPr>
          <a:xfrm>
            <a:off x="0" y="368457"/>
            <a:ext cx="9144000" cy="6001643"/>
          </a:xfrm>
          <a:prstGeom prst="rect">
            <a:avLst/>
          </a:prstGeom>
        </p:spPr>
        <p:txBody>
          <a:bodyPr wrap="square">
            <a:spAutoFit/>
          </a:bodyPr>
          <a:lstStyle/>
          <a:p>
            <a:pPr lvl="0" algn="just" eaLnBrk="0" fontAlgn="base" hangingPunct="0">
              <a:spcBef>
                <a:spcPct val="0"/>
              </a:spcBef>
              <a:spcAft>
                <a:spcPct val="0"/>
              </a:spcAft>
              <a:tabLst>
                <a:tab pos="2057400" algn="l"/>
              </a:tabLst>
            </a:pPr>
            <a:r>
              <a:rPr lang="en-US" sz="3200" b="1" dirty="0" smtClean="0">
                <a:latin typeface="Times New Roman" pitchFamily="18" charset="0"/>
                <a:ea typeface="Calibri" pitchFamily="34" charset="0"/>
                <a:cs typeface="Times New Roman" pitchFamily="18" charset="0"/>
              </a:rPr>
              <a:t>Two different object-oriented testing strategies</a:t>
            </a:r>
            <a:endParaRPr lang="en-US" sz="3200" b="1" dirty="0" smtClean="0">
              <a:latin typeface="Times New Roman" pitchFamily="18" charset="0"/>
              <a:cs typeface="Times New Roman" pitchFamily="18" charset="0"/>
            </a:endParaRPr>
          </a:p>
          <a:p>
            <a:pPr lvl="0" algn="just" eaLnBrk="0" fontAlgn="base" hangingPunct="0">
              <a:spcBef>
                <a:spcPct val="0"/>
              </a:spcBef>
              <a:spcAft>
                <a:spcPct val="0"/>
              </a:spcAft>
              <a:tabLst>
                <a:tab pos="2057400" algn="l"/>
              </a:tabLst>
            </a:pPr>
            <a:r>
              <a:rPr lang="en-US" sz="3200" b="1" u="sng" dirty="0" smtClean="0">
                <a:latin typeface="Times New Roman" pitchFamily="18" charset="0"/>
                <a:ea typeface="Calibri" pitchFamily="34" charset="0"/>
                <a:cs typeface="Times New Roman" pitchFamily="18" charset="0"/>
              </a:rPr>
              <a:t>Thread-based testing</a:t>
            </a:r>
            <a:endParaRPr lang="en-US" sz="3200" b="1" dirty="0" smtClean="0">
              <a:latin typeface="Times New Roman" pitchFamily="18" charset="0"/>
              <a:cs typeface="Times New Roman" pitchFamily="18" charset="0"/>
            </a:endParaRPr>
          </a:p>
          <a:p>
            <a:pPr lvl="0" algn="just" eaLnBrk="0" fontAlgn="base" hangingPunct="0">
              <a:spcBef>
                <a:spcPct val="0"/>
              </a:spcBef>
              <a:spcAft>
                <a:spcPct val="0"/>
              </a:spcAft>
              <a:buFontTx/>
              <a:buChar char="•"/>
              <a:tabLst>
                <a:tab pos="2057400" algn="l"/>
              </a:tabLst>
            </a:pPr>
            <a:r>
              <a:rPr lang="en-US" sz="3200" b="1" dirty="0" smtClean="0">
                <a:latin typeface="Times New Roman" pitchFamily="18" charset="0"/>
                <a:ea typeface="Calibri" pitchFamily="34" charset="0"/>
                <a:cs typeface="Times New Roman" pitchFamily="18" charset="0"/>
              </a:rPr>
              <a:t>Integrates the set of classes required to respond to one input or event for the system</a:t>
            </a:r>
            <a:endParaRPr lang="en-US" sz="3200" b="1" dirty="0" smtClean="0">
              <a:latin typeface="Times New Roman" pitchFamily="18" charset="0"/>
              <a:cs typeface="Times New Roman" pitchFamily="18" charset="0"/>
            </a:endParaRPr>
          </a:p>
          <a:p>
            <a:pPr lvl="0" algn="just" eaLnBrk="0" fontAlgn="base" hangingPunct="0">
              <a:spcBef>
                <a:spcPct val="0"/>
              </a:spcBef>
              <a:spcAft>
                <a:spcPct val="0"/>
              </a:spcAft>
              <a:buFontTx/>
              <a:buChar char="•"/>
              <a:tabLst>
                <a:tab pos="2057400" algn="l"/>
              </a:tabLst>
            </a:pPr>
            <a:r>
              <a:rPr lang="en-US" sz="3200" b="1" dirty="0" smtClean="0">
                <a:latin typeface="Times New Roman" pitchFamily="18" charset="0"/>
                <a:ea typeface="Calibri" pitchFamily="34" charset="0"/>
                <a:cs typeface="Times New Roman" pitchFamily="18" charset="0"/>
              </a:rPr>
              <a:t>Each thread is integrated and tested individually</a:t>
            </a:r>
            <a:endParaRPr lang="en-US" sz="3200" b="1" dirty="0" smtClean="0">
              <a:latin typeface="Times New Roman" pitchFamily="18" charset="0"/>
              <a:cs typeface="Times New Roman" pitchFamily="18" charset="0"/>
            </a:endParaRPr>
          </a:p>
          <a:p>
            <a:pPr lvl="0" algn="just" eaLnBrk="0" fontAlgn="base" hangingPunct="0">
              <a:spcBef>
                <a:spcPct val="0"/>
              </a:spcBef>
              <a:spcAft>
                <a:spcPct val="0"/>
              </a:spcAft>
              <a:tabLst>
                <a:tab pos="2057400" algn="l"/>
              </a:tabLst>
            </a:pPr>
            <a:r>
              <a:rPr lang="en-US" sz="3200" b="1" u="sng" dirty="0" smtClean="0">
                <a:latin typeface="Times New Roman" pitchFamily="18" charset="0"/>
                <a:ea typeface="Calibri" pitchFamily="34" charset="0"/>
                <a:cs typeface="Times New Roman" pitchFamily="18" charset="0"/>
              </a:rPr>
              <a:t>Use-based testing- </a:t>
            </a:r>
            <a:r>
              <a:rPr lang="en-US" sz="3200" b="1" dirty="0" smtClean="0">
                <a:latin typeface="Times New Roman" pitchFamily="18" charset="0"/>
                <a:ea typeface="Calibri" pitchFamily="34" charset="0"/>
                <a:cs typeface="Times New Roman" pitchFamily="18" charset="0"/>
              </a:rPr>
              <a:t>First tests independent classes like server classes.</a:t>
            </a:r>
            <a:endParaRPr lang="en-US" sz="3200" b="1" dirty="0" smtClean="0">
              <a:latin typeface="Times New Roman" pitchFamily="18" charset="0"/>
              <a:cs typeface="Times New Roman" pitchFamily="18" charset="0"/>
            </a:endParaRPr>
          </a:p>
          <a:p>
            <a:pPr lvl="0" algn="just" eaLnBrk="0" fontAlgn="base" hangingPunct="0">
              <a:spcBef>
                <a:spcPct val="0"/>
              </a:spcBef>
              <a:spcAft>
                <a:spcPct val="0"/>
              </a:spcAft>
              <a:tabLst>
                <a:tab pos="2057400" algn="l"/>
              </a:tabLst>
            </a:pPr>
            <a:r>
              <a:rPr lang="en-US" sz="3200" b="1" dirty="0" smtClean="0">
                <a:latin typeface="Times New Roman" pitchFamily="18" charset="0"/>
                <a:ea typeface="Calibri" pitchFamily="34" charset="0"/>
                <a:cs typeface="Times New Roman" pitchFamily="18" charset="0"/>
              </a:rPr>
              <a:t>Then the next layer of classes, called dependent classes, are integrated</a:t>
            </a:r>
            <a:endParaRPr lang="en-US" sz="3200" b="1" dirty="0" smtClean="0">
              <a:latin typeface="Times New Roman" pitchFamily="18" charset="0"/>
              <a:cs typeface="Times New Roman" pitchFamily="18" charset="0"/>
            </a:endParaRPr>
          </a:p>
          <a:p>
            <a:pPr lvl="2" algn="just" eaLnBrk="0" fontAlgn="base" hangingPunct="0">
              <a:spcBef>
                <a:spcPct val="0"/>
              </a:spcBef>
              <a:spcAft>
                <a:spcPct val="0"/>
              </a:spcAft>
              <a:buFontTx/>
              <a:buChar char="–"/>
              <a:tabLst>
                <a:tab pos="2057400" algn="l"/>
              </a:tabLst>
            </a:pPr>
            <a:r>
              <a:rPr lang="en-US" sz="3200" b="1" dirty="0" smtClean="0">
                <a:latin typeface="Times New Roman" pitchFamily="18" charset="0"/>
                <a:ea typeface="Calibri" pitchFamily="34" charset="0"/>
                <a:cs typeface="Times New Roman" pitchFamily="18" charset="0"/>
              </a:rPr>
              <a:t>This sequence of testing layer of Independent classes continues until the entire system is constructed</a:t>
            </a:r>
            <a:endParaRPr lang="en-US" sz="3200"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96" y="515107"/>
            <a:ext cx="9001124" cy="5866221"/>
          </a:xfrm>
          <a:prstGeom prst="rect">
            <a:avLst/>
          </a:prstGeom>
        </p:spPr>
        <p:txBody>
          <a:bodyPr wrap="square">
            <a:spAutoFit/>
          </a:bodyPr>
          <a:lstStyle/>
          <a:p>
            <a:pPr algn="ctr"/>
            <a:r>
              <a:rPr lang="en-IN" sz="2800" b="1" dirty="0" smtClean="0">
                <a:latin typeface="Times New Roman" pitchFamily="18" charset="0"/>
                <a:cs typeface="Times New Roman" pitchFamily="18" charset="0"/>
              </a:rPr>
              <a:t>TEST  PLAN </a:t>
            </a:r>
            <a:r>
              <a:rPr lang="en-IN" sz="2800" b="1" dirty="0">
                <a:latin typeface="Times New Roman" pitchFamily="18" charset="0"/>
                <a:cs typeface="Times New Roman" pitchFamily="18" charset="0"/>
              </a:rPr>
              <a:t>Fundamentals</a:t>
            </a:r>
          </a:p>
          <a:p>
            <a:r>
              <a:rPr lang="en-IN" sz="2800" dirty="0" smtClean="0">
                <a:latin typeface="Times New Roman" pitchFamily="18" charset="0"/>
                <a:cs typeface="Times New Roman" pitchFamily="18" charset="0"/>
              </a:rPr>
              <a:t>A </a:t>
            </a:r>
            <a:r>
              <a:rPr lang="en-IN" sz="2800" dirty="0">
                <a:latin typeface="Times New Roman" pitchFamily="18" charset="0"/>
                <a:cs typeface="Times New Roman" pitchFamily="18" charset="0"/>
              </a:rPr>
              <a:t>Software Test Plan is a document describing the testing scope and activities. </a:t>
            </a:r>
          </a:p>
          <a:p>
            <a:r>
              <a:rPr lang="en-IN" sz="2800" dirty="0" smtClean="0">
                <a:latin typeface="Times New Roman" pitchFamily="18" charset="0"/>
                <a:cs typeface="Times New Roman" pitchFamily="18" charset="0"/>
              </a:rPr>
              <a:t>master </a:t>
            </a:r>
            <a:r>
              <a:rPr lang="en-IN" sz="2800" dirty="0">
                <a:latin typeface="Times New Roman" pitchFamily="18" charset="0"/>
                <a:cs typeface="Times New Roman" pitchFamily="18" charset="0"/>
              </a:rPr>
              <a:t>test </a:t>
            </a:r>
            <a:r>
              <a:rPr lang="en-IN" sz="2800" dirty="0" smtClean="0">
                <a:latin typeface="Times New Roman" pitchFamily="18" charset="0"/>
                <a:cs typeface="Times New Roman" pitchFamily="18" charset="0"/>
              </a:rPr>
              <a:t>plan : </a:t>
            </a:r>
            <a:r>
              <a:rPr lang="en-IN" sz="2800" dirty="0">
                <a:latin typeface="Times New Roman" pitchFamily="18" charset="0"/>
                <a:cs typeface="Times New Roman" pitchFamily="18" charset="0"/>
              </a:rPr>
              <a:t>A test plan that typically addresses multiple test levels.</a:t>
            </a:r>
          </a:p>
          <a:p>
            <a:r>
              <a:rPr lang="en-IN" sz="2800" dirty="0">
                <a:latin typeface="Times New Roman" pitchFamily="18" charset="0"/>
                <a:cs typeface="Times New Roman" pitchFamily="18" charset="0"/>
              </a:rPr>
              <a:t>phase test </a:t>
            </a:r>
            <a:r>
              <a:rPr lang="en-IN" sz="2800" dirty="0" smtClean="0">
                <a:latin typeface="Times New Roman" pitchFamily="18" charset="0"/>
                <a:cs typeface="Times New Roman" pitchFamily="18" charset="0"/>
              </a:rPr>
              <a:t>plan : </a:t>
            </a:r>
            <a:r>
              <a:rPr lang="en-IN" sz="2800" dirty="0">
                <a:latin typeface="Times New Roman" pitchFamily="18" charset="0"/>
                <a:cs typeface="Times New Roman" pitchFamily="18" charset="0"/>
              </a:rPr>
              <a:t>A test plan that typically addresses one test phase</a:t>
            </a:r>
            <a:r>
              <a:rPr lang="en-IN" sz="2800" dirty="0" smtClean="0">
                <a:latin typeface="Times New Roman" pitchFamily="18" charset="0"/>
                <a:cs typeface="Times New Roman" pitchFamily="18" charset="0"/>
              </a:rPr>
              <a:t>.</a:t>
            </a:r>
          </a:p>
          <a:p>
            <a:endParaRPr lang="en-US" sz="2800" dirty="0">
              <a:latin typeface="Times New Roman" pitchFamily="18" charset="0"/>
              <a:cs typeface="Times New Roman" pitchFamily="18" charset="0"/>
            </a:endParaRPr>
          </a:p>
          <a:p>
            <a:pPr algn="just">
              <a:lnSpc>
                <a:spcPct val="90000"/>
              </a:lnSpc>
            </a:pPr>
            <a:r>
              <a:rPr lang="en-IN" sz="2800" dirty="0" smtClean="0">
                <a:latin typeface="Times New Roman" pitchFamily="18" charset="0"/>
                <a:cs typeface="Times New Roman" pitchFamily="18" charset="0"/>
              </a:rPr>
              <a:t>Testing Level Specific Test </a:t>
            </a:r>
            <a:r>
              <a:rPr lang="en-IN" sz="2800" dirty="0" smtClean="0">
                <a:latin typeface="Times New Roman" pitchFamily="18" charset="0"/>
                <a:cs typeface="Times New Roman" pitchFamily="18" charset="0"/>
              </a:rPr>
              <a:t>Plans : Plans </a:t>
            </a:r>
            <a:r>
              <a:rPr lang="en-IN" sz="2800" dirty="0" smtClean="0">
                <a:latin typeface="Times New Roman" pitchFamily="18" charset="0"/>
                <a:cs typeface="Times New Roman" pitchFamily="18" charset="0"/>
              </a:rPr>
              <a:t>for each level of testing.</a:t>
            </a:r>
          </a:p>
          <a:p>
            <a:pPr lvl="1" algn="just">
              <a:lnSpc>
                <a:spcPct val="90000"/>
              </a:lnSpc>
            </a:pPr>
            <a:r>
              <a:rPr lang="en-IN" sz="2800" dirty="0" smtClean="0">
                <a:latin typeface="Times New Roman" pitchFamily="18" charset="0"/>
                <a:cs typeface="Times New Roman" pitchFamily="18" charset="0"/>
              </a:rPr>
              <a:t>Unit Test Plan</a:t>
            </a:r>
          </a:p>
          <a:p>
            <a:pPr lvl="1" algn="just">
              <a:lnSpc>
                <a:spcPct val="90000"/>
              </a:lnSpc>
            </a:pPr>
            <a:r>
              <a:rPr lang="en-IN" sz="2800" dirty="0" smtClean="0">
                <a:latin typeface="Times New Roman" pitchFamily="18" charset="0"/>
                <a:cs typeface="Times New Roman" pitchFamily="18" charset="0"/>
              </a:rPr>
              <a:t>Integration Test Plan</a:t>
            </a:r>
          </a:p>
          <a:p>
            <a:pPr lvl="1" algn="just">
              <a:lnSpc>
                <a:spcPct val="90000"/>
              </a:lnSpc>
            </a:pPr>
            <a:r>
              <a:rPr lang="en-IN" sz="2800" dirty="0" smtClean="0">
                <a:latin typeface="Times New Roman" pitchFamily="18" charset="0"/>
                <a:cs typeface="Times New Roman" pitchFamily="18" charset="0"/>
              </a:rPr>
              <a:t>System Test Plan</a:t>
            </a:r>
          </a:p>
          <a:p>
            <a:pPr lvl="1" algn="just">
              <a:lnSpc>
                <a:spcPct val="90000"/>
              </a:lnSpc>
            </a:pPr>
            <a:r>
              <a:rPr lang="en-IN" sz="2800" dirty="0" smtClean="0">
                <a:latin typeface="Times New Roman" pitchFamily="18" charset="0"/>
                <a:cs typeface="Times New Roman" pitchFamily="18" charset="0"/>
              </a:rPr>
              <a:t>Acceptance Test Plan</a:t>
            </a:r>
            <a:endParaRPr lang="en-IN" sz="2800" dirty="0">
              <a:latin typeface="Times New Roman" pitchFamily="18" charset="0"/>
              <a:cs typeface="Times New Roman" pitchFamily="18" charset="0"/>
            </a:endParaRPr>
          </a:p>
        </p:txBody>
      </p:sp>
      <p:sp>
        <p:nvSpPr>
          <p:cNvPr id="4" name="Rectangle 3"/>
          <p:cNvSpPr/>
          <p:nvPr/>
        </p:nvSpPr>
        <p:spPr>
          <a:xfrm>
            <a:off x="3214678" y="0"/>
            <a:ext cx="1896866" cy="461665"/>
          </a:xfrm>
          <a:prstGeom prst="rect">
            <a:avLst/>
          </a:prstGeom>
        </p:spPr>
        <p:txBody>
          <a:bodyPr wrap="none">
            <a:spAutoFit/>
          </a:bodyPr>
          <a:lstStyle/>
          <a:p>
            <a:r>
              <a:rPr lang="en-US" sz="2400" b="1" dirty="0" smtClean="0"/>
              <a:t>LECTURE   -  9</a:t>
            </a:r>
            <a:endParaRPr lang="en-IN" sz="2400" b="1" dirty="0"/>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47</a:t>
            </a:fld>
            <a:endParaRPr lang="en-IN"/>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4"/>
            <a:ext cx="9144000" cy="2246769"/>
          </a:xfrm>
          <a:prstGeom prst="rect">
            <a:avLst/>
          </a:prstGeom>
        </p:spPr>
        <p:txBody>
          <a:bodyPr wrap="square">
            <a:spAutoFit/>
          </a:bodyPr>
          <a:lstStyle/>
          <a:p>
            <a:pPr algn="ctr"/>
            <a:r>
              <a:rPr lang="en-IN" sz="2800" b="1" dirty="0" smtClean="0">
                <a:latin typeface="Times New Roman" pitchFamily="18" charset="0"/>
                <a:cs typeface="Times New Roman" pitchFamily="18" charset="0"/>
              </a:rPr>
              <a:t>Software </a:t>
            </a:r>
            <a:r>
              <a:rPr lang="en-IN" sz="2800" b="1" dirty="0">
                <a:latin typeface="Times New Roman" pitchFamily="18" charset="0"/>
                <a:cs typeface="Times New Roman" pitchFamily="18" charset="0"/>
              </a:rPr>
              <a:t>Testing </a:t>
            </a:r>
            <a:r>
              <a:rPr lang="en-IN" sz="2800" b="1" dirty="0" smtClean="0">
                <a:latin typeface="Times New Roman" pitchFamily="18" charset="0"/>
                <a:cs typeface="Times New Roman" pitchFamily="18" charset="0"/>
              </a:rPr>
              <a:t>Metric</a:t>
            </a:r>
            <a:endParaRPr lang="en-IN" sz="2800" b="1" dirty="0">
              <a:latin typeface="Times New Roman" pitchFamily="18" charset="0"/>
              <a:cs typeface="Times New Roman" pitchFamily="18" charset="0"/>
            </a:endParaRPr>
          </a:p>
          <a:p>
            <a:pPr algn="just"/>
            <a:r>
              <a:rPr lang="en-IN" sz="2800" dirty="0">
                <a:latin typeface="Times New Roman" pitchFamily="18" charset="0"/>
                <a:cs typeface="Times New Roman" pitchFamily="18" charset="0"/>
              </a:rPr>
              <a:t>In software testing, Metric is a quantitative measure of the degree to which a system, system component, or process possesses a given attribute.</a:t>
            </a:r>
          </a:p>
          <a:p>
            <a:pPr algn="just"/>
            <a:r>
              <a:rPr lang="en-IN" sz="2800" dirty="0" smtClean="0">
                <a:latin typeface="Times New Roman" pitchFamily="18" charset="0"/>
                <a:cs typeface="Times New Roman" pitchFamily="18" charset="0"/>
              </a:rPr>
              <a:t>.</a:t>
            </a:r>
            <a:endParaRPr lang="en-IN" sz="2800" dirty="0">
              <a:latin typeface="Times New Roman" pitchFamily="18" charset="0"/>
              <a:cs typeface="Times New Roman" pitchFamily="18" charset="0"/>
            </a:endParaRPr>
          </a:p>
        </p:txBody>
      </p:sp>
      <p:sp>
        <p:nvSpPr>
          <p:cNvPr id="2050" name="AutoShape 2" descr="https://cdn.guru99.com/images/6-2015/052615_0637_SoftwareTes1.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2052" name="Picture 4" descr="https://cdn.guru99.com/images/6-2015/052615_0637_SoftwareTes1.jpg"/>
          <p:cNvPicPr>
            <a:picLocks noChangeAspect="1" noChangeArrowheads="1"/>
          </p:cNvPicPr>
          <p:nvPr/>
        </p:nvPicPr>
        <p:blipFill>
          <a:blip r:embed="rId2"/>
          <a:srcRect/>
          <a:stretch>
            <a:fillRect/>
          </a:stretch>
        </p:blipFill>
        <p:spPr bwMode="auto">
          <a:xfrm>
            <a:off x="3131840" y="1772816"/>
            <a:ext cx="5838825" cy="4786322"/>
          </a:xfrm>
          <a:prstGeom prst="rect">
            <a:avLst/>
          </a:prstGeom>
          <a:noFill/>
        </p:spPr>
      </p:pic>
      <p:sp>
        <p:nvSpPr>
          <p:cNvPr id="5" name="Rectangle 4"/>
          <p:cNvSpPr/>
          <p:nvPr/>
        </p:nvSpPr>
        <p:spPr>
          <a:xfrm>
            <a:off x="-32" y="3077174"/>
            <a:ext cx="4572000" cy="1569660"/>
          </a:xfrm>
          <a:prstGeom prst="rect">
            <a:avLst/>
          </a:prstGeom>
        </p:spPr>
        <p:txBody>
          <a:bodyPr>
            <a:spAutoFit/>
          </a:bodyPr>
          <a:lstStyle/>
          <a:p>
            <a:r>
              <a:rPr lang="en-IN" sz="2400" b="1" dirty="0">
                <a:latin typeface="Times New Roman" pitchFamily="18" charset="0"/>
                <a:cs typeface="Times New Roman" pitchFamily="18" charset="0"/>
              </a:rPr>
              <a:t>"Software testing metrics - Improves the efficiency and effectiveness of a software testing process."</a:t>
            </a:r>
            <a:endParaRPr lang="en-IN" sz="2400" dirty="0">
              <a:latin typeface="Times New Roman" pitchFamily="18" charset="0"/>
              <a:cs typeface="Times New Roman" pitchFamily="18" charset="0"/>
            </a:endParaRPr>
          </a:p>
        </p:txBody>
      </p:sp>
      <p:sp>
        <p:nvSpPr>
          <p:cNvPr id="6" name="Footer Placeholder 5"/>
          <p:cNvSpPr>
            <a:spLocks noGrp="1"/>
          </p:cNvSpPr>
          <p:nvPr>
            <p:ph type="ftr" sz="quarter" idx="11"/>
          </p:nvPr>
        </p:nvSpPr>
        <p:spPr/>
        <p:txBody>
          <a:bodyPr/>
          <a:lstStyle/>
          <a:p>
            <a:r>
              <a:rPr lang="en-IN" smtClean="0"/>
              <a:t>Prof. Anjana Verma</a:t>
            </a:r>
            <a:endParaRPr lang="en-IN"/>
          </a:p>
        </p:txBody>
      </p:sp>
      <p:sp>
        <p:nvSpPr>
          <p:cNvPr id="7" name="Slide Number Placeholder 6"/>
          <p:cNvSpPr>
            <a:spLocks noGrp="1"/>
          </p:cNvSpPr>
          <p:nvPr>
            <p:ph type="sldNum" sz="quarter" idx="12"/>
          </p:nvPr>
        </p:nvSpPr>
        <p:spPr/>
        <p:txBody>
          <a:bodyPr/>
          <a:lstStyle/>
          <a:p>
            <a:fld id="{49549E9F-9F6E-4CAF-8BBD-34C43FD5C9E9}" type="slidenum">
              <a:rPr lang="en-IN" smtClean="0"/>
              <a:pPr/>
              <a:t>48</a:t>
            </a:fld>
            <a:endParaRPr lang="en-IN"/>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ChangeArrowheads="1"/>
          </p:cNvSpPr>
          <p:nvPr/>
        </p:nvSpPr>
        <p:spPr bwMode="auto">
          <a:xfrm>
            <a:off x="0" y="-215467"/>
            <a:ext cx="9144000" cy="4401205"/>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rgbClr val="343434"/>
                </a:solidFill>
                <a:effectLst/>
                <a:latin typeface="Times New Roman" pitchFamily="18" charset="0"/>
                <a:cs typeface="Times New Roman" pitchFamily="18" charset="0"/>
              </a:rPr>
              <a:t>Manual Test Metrics</a:t>
            </a:r>
            <a:r>
              <a:rPr kumimoji="0" lang="en-US" sz="2800" b="1" i="0" u="none" strike="noStrike" cap="none" normalizeH="0" dirty="0" smtClean="0">
                <a:ln>
                  <a:noFill/>
                </a:ln>
                <a:solidFill>
                  <a:srgbClr val="343434"/>
                </a:solidFill>
                <a:effectLst/>
                <a:latin typeface="Times New Roman" pitchFamily="18" charset="0"/>
                <a:cs typeface="Times New Roman" pitchFamily="18" charset="0"/>
              </a:rPr>
              <a:t>   </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 </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 into </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two classes</a:t>
            </a:r>
            <a:endParaRPr kumimoji="0" lang="en-US" sz="280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 Base </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 Calculated </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Metrics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i="0" u="none" strike="noStrike" cap="none" normalizeH="0" baseline="0" dirty="0" smtClean="0">
                <a:ln>
                  <a:noFill/>
                </a:ln>
                <a:solidFill>
                  <a:srgbClr val="04B8E6"/>
                </a:solidFill>
                <a:effectLst/>
                <a:latin typeface="Times New Roman" pitchFamily="18" charset="0"/>
                <a:cs typeface="Times New Roman" pitchFamily="18" charset="0"/>
                <a:hlinkClick r:id="rId2"/>
              </a:rPr>
              <a:t>  </a:t>
            </a:r>
            <a:endParaRPr kumimoji="0" lang="en-US" sz="280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  </a:t>
            </a:r>
            <a:r>
              <a:rPr kumimoji="0" lang="en-US" sz="2800" b="1" i="0" u="none" strike="noStrike" cap="none" normalizeH="0" baseline="0" dirty="0" smtClean="0">
                <a:ln>
                  <a:noFill/>
                </a:ln>
                <a:solidFill>
                  <a:srgbClr val="343434"/>
                </a:solidFill>
                <a:effectLst/>
                <a:latin typeface="Times New Roman" pitchFamily="18" charset="0"/>
                <a:cs typeface="Times New Roman" pitchFamily="18" charset="0"/>
              </a:rPr>
              <a:t>Base</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 </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metrics is the raw data collected by Test Analyst during </a:t>
            </a:r>
          </a:p>
          <a:p>
            <a:pPr marL="263525" marR="0" lvl="0" indent="-263525" algn="just" defTabSz="914400" rtl="0" eaLnBrk="0" fontAlgn="base" latinLnBrk="0" hangingPunct="0">
              <a:lnSpc>
                <a:spcPct val="100000"/>
              </a:lnSpc>
              <a:spcBef>
                <a:spcPct val="0"/>
              </a:spcBef>
              <a:spcAft>
                <a:spcPct val="0"/>
              </a:spcAft>
              <a:buClrTx/>
              <a:buSzTx/>
              <a:buFont typeface="Arial" pitchFamily="34" charset="0"/>
              <a:buChar char="•"/>
              <a:tabLst/>
            </a:pPr>
            <a:r>
              <a:rPr lang="en-US" sz="2800" b="1" dirty="0" smtClean="0">
                <a:solidFill>
                  <a:srgbClr val="343434"/>
                </a:solidFill>
                <a:latin typeface="Times New Roman" pitchFamily="18" charset="0"/>
                <a:cs typeface="Times New Roman" pitchFamily="18" charset="0"/>
              </a:rPr>
              <a:t>C</a:t>
            </a:r>
            <a:r>
              <a:rPr kumimoji="0" lang="en-US" sz="2800" b="1" i="0" strike="noStrike" cap="none" normalizeH="0" baseline="0" dirty="0" smtClean="0">
                <a:ln>
                  <a:noFill/>
                </a:ln>
                <a:solidFill>
                  <a:srgbClr val="343434"/>
                </a:solidFill>
                <a:effectLst/>
                <a:latin typeface="Times New Roman" pitchFamily="18" charset="0"/>
                <a:cs typeface="Times New Roman" pitchFamily="18" charset="0"/>
              </a:rPr>
              <a:t>alculated</a:t>
            </a:r>
            <a:r>
              <a:rPr kumimoji="0" lang="en-US" sz="2800" i="0" strike="noStrike" cap="none" normalizeH="0" baseline="0" dirty="0" smtClean="0">
                <a:ln>
                  <a:noFill/>
                </a:ln>
                <a:solidFill>
                  <a:srgbClr val="343434"/>
                </a:solidFill>
                <a:effectLst/>
                <a:latin typeface="Times New Roman" pitchFamily="18" charset="0"/>
                <a:cs typeface="Times New Roman" pitchFamily="18" charset="0"/>
              </a:rPr>
              <a:t>  metrics </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is derived from the data collected in base metrics. Calculated metrics is usually followed by the test manager for test reporting purpose </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 %</a:t>
            </a:r>
            <a:r>
              <a:rPr kumimoji="0" lang="en-US" sz="2800" i="0" u="none" strike="noStrike" cap="none" normalizeH="0" dirty="0" smtClean="0">
                <a:ln>
                  <a:noFill/>
                </a:ln>
                <a:solidFill>
                  <a:srgbClr val="343434"/>
                </a:solidFill>
                <a:effectLst/>
                <a:latin typeface="Times New Roman" pitchFamily="18" charset="0"/>
                <a:cs typeface="Times New Roman" pitchFamily="18" charset="0"/>
              </a:rPr>
              <a:t> </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Complete</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 </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 Test Cover  age ).</a:t>
            </a:r>
            <a:r>
              <a:rPr kumimoji="0" lang="en-US" sz="2800" i="0" u="none" strike="noStrike" cap="none" normalizeH="0" dirty="0" smtClean="0">
                <a:ln>
                  <a:noFill/>
                </a:ln>
                <a:solidFill>
                  <a:srgbClr val="343434"/>
                </a:solidFill>
                <a:effectLst/>
                <a:latin typeface="Times New Roman" pitchFamily="18" charset="0"/>
                <a:cs typeface="Times New Roman" pitchFamily="18" charset="0"/>
              </a:rPr>
              <a:t>   </a:t>
            </a:r>
            <a:r>
              <a:rPr kumimoji="0" lang="en-US" sz="2800" i="0" u="none" strike="noStrike" cap="none" normalizeH="0" baseline="0" dirty="0" smtClean="0">
                <a:ln>
                  <a:noFill/>
                </a:ln>
                <a:solidFill>
                  <a:srgbClr val="343434"/>
                </a:solidFill>
                <a:effectLst/>
                <a:latin typeface="Times New Roman" pitchFamily="18" charset="0"/>
                <a:cs typeface="Times New Roman" pitchFamily="18" charset="0"/>
              </a:rPr>
              <a:t>.</a:t>
            </a:r>
            <a:endParaRPr kumimoji="0" lang="en-US" sz="2800" i="0" u="none" strike="noStrike" cap="none" normalizeH="0" baseline="0" dirty="0" smtClean="0">
              <a:ln>
                <a:noFill/>
              </a:ln>
              <a:solidFill>
                <a:srgbClr val="04B8E6"/>
              </a:solidFill>
              <a:effectLst/>
              <a:latin typeface="Times New Roman" pitchFamily="18" charset="0"/>
              <a:cs typeface="Times New Roman" pitchFamily="18" charset="0"/>
            </a:endParaRPr>
          </a:p>
        </p:txBody>
      </p:sp>
      <p:pic>
        <p:nvPicPr>
          <p:cNvPr id="6146" name="Picture 2" descr="Software Testing Metrics: Complete Tutorial">
            <a:hlinkClick r:id="rId2"/>
          </p:cNvPr>
          <p:cNvPicPr>
            <a:picLocks noChangeAspect="1" noChangeArrowheads="1"/>
          </p:cNvPicPr>
          <p:nvPr/>
        </p:nvPicPr>
        <p:blipFill>
          <a:blip r:embed="rId3"/>
          <a:srcRect/>
          <a:stretch>
            <a:fillRect/>
          </a:stretch>
        </p:blipFill>
        <p:spPr bwMode="auto">
          <a:xfrm>
            <a:off x="1945598" y="3789040"/>
            <a:ext cx="6514834" cy="2952328"/>
          </a:xfrm>
          <a:prstGeom prst="rect">
            <a:avLst/>
          </a:prstGeom>
          <a:noFill/>
        </p:spPr>
      </p:pic>
      <p:sp>
        <p:nvSpPr>
          <p:cNvPr id="4" name="Footer Placeholder 3"/>
          <p:cNvSpPr>
            <a:spLocks noGrp="1"/>
          </p:cNvSpPr>
          <p:nvPr>
            <p:ph type="ftr" sz="quarter" idx="11"/>
          </p:nvPr>
        </p:nvSpPr>
        <p:spPr/>
        <p:txBody>
          <a:bodyPr/>
          <a:lstStyle/>
          <a:p>
            <a:r>
              <a:rPr lang="en-IN" smtClean="0"/>
              <a:t>Prof. Anjana Verma</a:t>
            </a:r>
            <a:endParaRPr lang="en-IN"/>
          </a:p>
        </p:txBody>
      </p:sp>
      <p:sp>
        <p:nvSpPr>
          <p:cNvPr id="5" name="Slide Number Placeholder 4"/>
          <p:cNvSpPr>
            <a:spLocks noGrp="1"/>
          </p:cNvSpPr>
          <p:nvPr>
            <p:ph type="sldNum" sz="quarter" idx="12"/>
          </p:nvPr>
        </p:nvSpPr>
        <p:spPr/>
        <p:txBody>
          <a:bodyPr/>
          <a:lstStyle/>
          <a:p>
            <a:fld id="{49549E9F-9F6E-4CAF-8BBD-34C43FD5C9E9}" type="slidenum">
              <a:rPr lang="en-IN" smtClean="0"/>
              <a:pPr/>
              <a:t>49</a:t>
            </a:fld>
            <a:endParaRPr lang="en-IN"/>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571604" y="18645294"/>
          <a:ext cx="3690471" cy="23520996"/>
        </p:xfrm>
        <a:graphic>
          <a:graphicData uri="http://schemas.openxmlformats.org/drawingml/2006/table">
            <a:tbl>
              <a:tblPr/>
              <a:tblGrid>
                <a:gridCol w="1230157"/>
                <a:gridCol w="1230157"/>
                <a:gridCol w="1230157"/>
              </a:tblGrid>
              <a:tr h="879372">
                <a:tc>
                  <a:txBody>
                    <a:bodyPr/>
                    <a:lstStyle/>
                    <a:p>
                      <a:pPr algn="l" fontAlgn="t"/>
                      <a:r>
                        <a:rPr lang="en-IN" sz="2400" b="1" dirty="0" err="1"/>
                        <a:t>Sr</a:t>
                      </a:r>
                      <a:r>
                        <a:rPr lang="en-IN" sz="2400" b="1" dirty="0"/>
                        <a:t>#</a:t>
                      </a:r>
                      <a:endParaRPr lang="en-IN" sz="2400" dirty="0"/>
                    </a:p>
                  </a:txBody>
                  <a:tcPr marL="39843" marR="39843" marT="39843" marB="39843">
                    <a:lnL w="12700" cap="flat" cmpd="sng" algn="ctr">
                      <a:solidFill>
                        <a:srgbClr val="C00D3D"/>
                      </a:solidFill>
                      <a:prstDash val="solid"/>
                      <a:round/>
                      <a:headEnd type="none" w="med" len="med"/>
                      <a:tailEnd type="none" w="med" len="med"/>
                    </a:lnL>
                    <a:lnR w="12700" cap="flat" cmpd="sng" algn="ctr">
                      <a:solidFill>
                        <a:srgbClr val="800E3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IN" sz="2400" b="1" dirty="0"/>
                        <a:t>Steps to test metrics</a:t>
                      </a:r>
                      <a:endParaRPr lang="en-IN" sz="2400" dirty="0"/>
                    </a:p>
                  </a:txBody>
                  <a:tcPr marL="39843" marR="39843" marT="39843" marB="39843">
                    <a:lnL w="12700" cap="flat" cmpd="sng" algn="ctr">
                      <a:solidFill>
                        <a:srgbClr val="800E3D"/>
                      </a:solidFill>
                      <a:prstDash val="solid"/>
                      <a:round/>
                      <a:headEnd type="none" w="med" len="med"/>
                      <a:tailEnd type="none" w="med" len="med"/>
                    </a:lnL>
                    <a:lnR w="12700" cap="flat" cmpd="sng" algn="ctr">
                      <a:solidFill>
                        <a:srgbClr val="B00F3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IN" sz="2400" b="1"/>
                        <a:t>Example</a:t>
                      </a:r>
                      <a:endParaRPr lang="en-IN" sz="2400"/>
                    </a:p>
                  </a:txBody>
                  <a:tcPr marL="39843" marR="39843" marT="39843" marB="39843">
                    <a:lnL w="12700" cap="flat" cmpd="sng" algn="ctr">
                      <a:solidFill>
                        <a:srgbClr val="B00F3D"/>
                      </a:solidFill>
                      <a:prstDash val="solid"/>
                      <a:round/>
                      <a:headEnd type="none" w="med" len="med"/>
                      <a:tailEnd type="none" w="med" len="med"/>
                    </a:lnL>
                    <a:lnR w="12700" cap="flat" cmpd="sng" algn="ctr">
                      <a:solidFill>
                        <a:srgbClr val="F00D3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2245763">
                <a:tc>
                  <a:txBody>
                    <a:bodyPr/>
                    <a:lstStyle/>
                    <a:p>
                      <a:pPr algn="l" fontAlgn="t"/>
                      <a:r>
                        <a:rPr lang="en-IN" sz="2400" dirty="0"/>
                        <a:t>1</a:t>
                      </a:r>
                    </a:p>
                  </a:txBody>
                  <a:tcPr marL="39843" marR="39843" marT="39843" marB="39843">
                    <a:lnL w="12700" cap="flat" cmpd="sng" algn="ctr">
                      <a:solidFill>
                        <a:srgbClr val="00A0F8"/>
                      </a:solidFill>
                      <a:prstDash val="solid"/>
                      <a:round/>
                      <a:headEnd type="none" w="med" len="med"/>
                      <a:tailEnd type="none" w="med" len="med"/>
                    </a:lnL>
                    <a:lnR w="12700" cap="flat" cmpd="sng" algn="ctr">
                      <a:solidFill>
                        <a:srgbClr val="800C3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2400" dirty="0"/>
                        <a:t>Identify the key software testing processes to be measured</a:t>
                      </a:r>
                    </a:p>
                  </a:txBody>
                  <a:tcPr marL="39843" marR="39843" marT="39843" marB="39843">
                    <a:lnL w="12700" cap="flat" cmpd="sng" algn="ctr">
                      <a:solidFill>
                        <a:srgbClr val="800C3D"/>
                      </a:solidFill>
                      <a:prstDash val="solid"/>
                      <a:round/>
                      <a:headEnd type="none" w="med" len="med"/>
                      <a:tailEnd type="none" w="med" len="med"/>
                    </a:lnL>
                    <a:lnR w="12700" cap="flat" cmpd="sng" algn="ctr">
                      <a:solidFill>
                        <a:srgbClr val="20A0F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buFont typeface="Arial"/>
                        <a:buChar char="•"/>
                      </a:pPr>
                      <a:r>
                        <a:rPr lang="en-IN" sz="2400"/>
                        <a:t>Testing progress tracking process</a:t>
                      </a:r>
                    </a:p>
                  </a:txBody>
                  <a:tcPr marL="39843" marR="39843" marT="39843" marB="39843">
                    <a:lnL w="12700" cap="flat" cmpd="sng" algn="ctr">
                      <a:solidFill>
                        <a:srgbClr val="20A0F8"/>
                      </a:solidFill>
                      <a:prstDash val="solid"/>
                      <a:round/>
                      <a:headEnd type="none" w="med" len="med"/>
                      <a:tailEnd type="none" w="med" len="med"/>
                    </a:lnL>
                    <a:lnR w="12700" cap="flat" cmpd="sng" algn="ctr">
                      <a:solidFill>
                        <a:srgbClr val="A00F3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2519041">
                <a:tc>
                  <a:txBody>
                    <a:bodyPr/>
                    <a:lstStyle/>
                    <a:p>
                      <a:pPr algn="l" fontAlgn="t"/>
                      <a:r>
                        <a:rPr lang="en-IN" sz="2400" dirty="0"/>
                        <a:t>2</a:t>
                      </a:r>
                    </a:p>
                  </a:txBody>
                  <a:tcPr marL="39843" marR="39843" marT="39843" marB="39843">
                    <a:lnL w="12700" cap="flat" cmpd="sng" algn="ctr">
                      <a:solidFill>
                        <a:srgbClr val="20A1F8"/>
                      </a:solidFill>
                      <a:prstDash val="solid"/>
                      <a:round/>
                      <a:headEnd type="none" w="med" len="med"/>
                      <a:tailEnd type="none" w="med" len="med"/>
                    </a:lnL>
                    <a:lnR w="12700" cap="flat" cmpd="sng" algn="ctr">
                      <a:solidFill>
                        <a:srgbClr val="D0A1F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IN" sz="2400" dirty="0"/>
                        <a:t>In this Step, the tester uses the data as baseline to define the metrics</a:t>
                      </a:r>
                    </a:p>
                  </a:txBody>
                  <a:tcPr marL="39843" marR="39843" marT="39843" marB="39843">
                    <a:lnL w="12700" cap="flat" cmpd="sng" algn="ctr">
                      <a:solidFill>
                        <a:srgbClr val="D0A1F8"/>
                      </a:solidFill>
                      <a:prstDash val="solid"/>
                      <a:round/>
                      <a:headEnd type="none" w="med" len="med"/>
                      <a:tailEnd type="none" w="med" len="med"/>
                    </a:lnL>
                    <a:lnR w="12700" cap="flat" cmpd="sng" algn="ctr">
                      <a:solidFill>
                        <a:srgbClr val="E0A2F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buFont typeface="Arial"/>
                        <a:buChar char="•"/>
                      </a:pPr>
                      <a:r>
                        <a:rPr lang="en-IN" sz="2400"/>
                        <a:t>The number of test cases planned to be executed per day</a:t>
                      </a:r>
                    </a:p>
                  </a:txBody>
                  <a:tcPr marL="39843" marR="39843" marT="39843" marB="39843">
                    <a:lnL w="12700" cap="flat" cmpd="sng" algn="ctr">
                      <a:solidFill>
                        <a:srgbClr val="E0A2F8"/>
                      </a:solidFill>
                      <a:prstDash val="solid"/>
                      <a:round/>
                      <a:headEnd type="none" w="med" len="med"/>
                      <a:tailEnd type="none" w="med" len="med"/>
                    </a:lnL>
                    <a:lnR w="12700" cap="flat" cmpd="sng" algn="ctr">
                      <a:solidFill>
                        <a:srgbClr val="A0A2F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3885431">
                <a:tc>
                  <a:txBody>
                    <a:bodyPr/>
                    <a:lstStyle/>
                    <a:p>
                      <a:pPr algn="l" fontAlgn="t"/>
                      <a:r>
                        <a:rPr lang="en-IN" sz="2400" dirty="0"/>
                        <a:t>3</a:t>
                      </a:r>
                    </a:p>
                  </a:txBody>
                  <a:tcPr marL="39843" marR="39843" marT="39843" marB="39843">
                    <a:lnL w="12700" cap="flat" cmpd="sng" algn="ctr">
                      <a:solidFill>
                        <a:srgbClr val="10A5F8"/>
                      </a:solidFill>
                      <a:prstDash val="solid"/>
                      <a:round/>
                      <a:headEnd type="none" w="med" len="med"/>
                      <a:tailEnd type="none" w="med" len="med"/>
                    </a:lnL>
                    <a:lnR w="12700" cap="flat" cmpd="sng" algn="ctr">
                      <a:solidFill>
                        <a:srgbClr val="30A5F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2400" dirty="0"/>
                        <a:t>Determination of the information to be followed, frequency of tracking and the person responsible</a:t>
                      </a:r>
                    </a:p>
                  </a:txBody>
                  <a:tcPr marL="39843" marR="39843" marT="39843" marB="39843">
                    <a:lnL w="12700" cap="flat" cmpd="sng" algn="ctr">
                      <a:solidFill>
                        <a:srgbClr val="30A5F8"/>
                      </a:solidFill>
                      <a:prstDash val="solid"/>
                      <a:round/>
                      <a:headEnd type="none" w="med" len="med"/>
                      <a:tailEnd type="none" w="med" len="med"/>
                    </a:lnL>
                    <a:lnR w="12700" cap="flat" cmpd="sng" algn="ctr">
                      <a:solidFill>
                        <a:srgbClr val="10A7F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buFont typeface="Arial"/>
                        <a:buChar char="•"/>
                      </a:pPr>
                      <a:r>
                        <a:rPr lang="en-IN" sz="2400"/>
                        <a:t>The actual test execution per day will be captured by the test manager at the end of the day</a:t>
                      </a:r>
                    </a:p>
                  </a:txBody>
                  <a:tcPr marL="39843" marR="39843" marT="39843" marB="39843">
                    <a:lnL w="12700" cap="flat" cmpd="sng" algn="ctr">
                      <a:solidFill>
                        <a:srgbClr val="10A7F8"/>
                      </a:solidFill>
                      <a:prstDash val="solid"/>
                      <a:round/>
                      <a:headEnd type="none" w="med" len="med"/>
                      <a:tailEnd type="none" w="med" len="med"/>
                    </a:lnL>
                    <a:lnR w="12700" cap="flat" cmpd="sng" algn="ctr">
                      <a:solidFill>
                        <a:srgbClr val="F0A6F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3065597">
                <a:tc>
                  <a:txBody>
                    <a:bodyPr/>
                    <a:lstStyle/>
                    <a:p>
                      <a:pPr algn="l" fontAlgn="t"/>
                      <a:r>
                        <a:rPr lang="en-IN" sz="2400" dirty="0"/>
                        <a:t>4</a:t>
                      </a:r>
                    </a:p>
                  </a:txBody>
                  <a:tcPr marL="39843" marR="39843" marT="39843" marB="39843">
                    <a:lnL w="12700" cap="flat" cmpd="sng" algn="ctr">
                      <a:solidFill>
                        <a:srgbClr val="90ADF8"/>
                      </a:solidFill>
                      <a:prstDash val="solid"/>
                      <a:round/>
                      <a:headEnd type="none" w="med" len="med"/>
                      <a:tailEnd type="none" w="med" len="med"/>
                    </a:lnL>
                    <a:lnR w="12700" cap="flat" cmpd="sng" algn="ctr">
                      <a:solidFill>
                        <a:srgbClr val="E0AEF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IN" sz="2400" dirty="0"/>
                        <a:t>Effective calculation, management and interpretation of the defined metrics</a:t>
                      </a:r>
                    </a:p>
                  </a:txBody>
                  <a:tcPr marL="39843" marR="39843" marT="39843" marB="39843">
                    <a:lnL w="12700" cap="flat" cmpd="sng" algn="ctr">
                      <a:solidFill>
                        <a:srgbClr val="E0AEF8"/>
                      </a:solidFill>
                      <a:prstDash val="solid"/>
                      <a:round/>
                      <a:headEnd type="none" w="med" len="med"/>
                      <a:tailEnd type="none" w="med" len="med"/>
                    </a:lnL>
                    <a:lnR w="12700" cap="flat" cmpd="sng" algn="ctr">
                      <a:solidFill>
                        <a:srgbClr val="60AFF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buFont typeface="Arial"/>
                        <a:buChar char="•"/>
                      </a:pPr>
                      <a:r>
                        <a:rPr lang="en-IN" sz="2400"/>
                        <a:t>The actual test cases executed per day</a:t>
                      </a:r>
                    </a:p>
                  </a:txBody>
                  <a:tcPr marL="39843" marR="39843" marT="39843" marB="39843">
                    <a:lnL w="12700" cap="flat" cmpd="sng" algn="ctr">
                      <a:solidFill>
                        <a:srgbClr val="60AFF8"/>
                      </a:solidFill>
                      <a:prstDash val="solid"/>
                      <a:round/>
                      <a:headEnd type="none" w="med" len="med"/>
                      <a:tailEnd type="none" w="med" len="med"/>
                    </a:lnL>
                    <a:lnR w="12700" cap="flat" cmpd="sng" algn="ctr">
                      <a:solidFill>
                        <a:srgbClr val="20AFF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4978544">
                <a:tc>
                  <a:txBody>
                    <a:bodyPr/>
                    <a:lstStyle/>
                    <a:p>
                      <a:pPr algn="l" fontAlgn="t"/>
                      <a:r>
                        <a:rPr lang="en-IN" sz="2400" dirty="0"/>
                        <a:t>5</a:t>
                      </a:r>
                    </a:p>
                  </a:txBody>
                  <a:tcPr marL="39843" marR="39843" marT="39843" marB="39843">
                    <a:lnL w="12700" cap="flat" cmpd="sng" algn="ctr">
                      <a:solidFill>
                        <a:srgbClr val="B0D0FB"/>
                      </a:solidFill>
                      <a:prstDash val="solid"/>
                      <a:round/>
                      <a:headEnd type="none" w="med" len="med"/>
                      <a:tailEnd type="none" w="med" len="med"/>
                    </a:lnL>
                    <a:lnR w="12700" cap="flat" cmpd="sng" algn="ctr">
                      <a:solidFill>
                        <a:srgbClr val="30D5FB"/>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A0D0FB"/>
                      </a:solidFill>
                      <a:prstDash val="solid"/>
                      <a:round/>
                      <a:headEnd type="none" w="med" len="med"/>
                      <a:tailEnd type="none" w="med" len="med"/>
                    </a:lnB>
                    <a:solidFill>
                      <a:srgbClr val="FFFFFF"/>
                    </a:solidFill>
                  </a:tcPr>
                </a:tc>
                <a:tc>
                  <a:txBody>
                    <a:bodyPr/>
                    <a:lstStyle/>
                    <a:p>
                      <a:pPr algn="l" fontAlgn="t"/>
                      <a:r>
                        <a:rPr lang="en-IN" sz="2400" dirty="0"/>
                        <a:t>Identify the areas of improvement depending on the interpretation of defined metrics</a:t>
                      </a:r>
                    </a:p>
                  </a:txBody>
                  <a:tcPr marL="39843" marR="39843" marT="39843" marB="39843">
                    <a:lnL w="12700" cap="flat" cmpd="sng" algn="ctr">
                      <a:solidFill>
                        <a:srgbClr val="30D5FB"/>
                      </a:solidFill>
                      <a:prstDash val="solid"/>
                      <a:round/>
                      <a:headEnd type="none" w="med" len="med"/>
                      <a:tailEnd type="none" w="med" len="med"/>
                    </a:lnL>
                    <a:lnR w="12700" cap="flat" cmpd="sng" algn="ctr">
                      <a:solidFill>
                        <a:srgbClr val="70D6FB"/>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10D5FB"/>
                      </a:solidFill>
                      <a:prstDash val="solid"/>
                      <a:round/>
                      <a:headEnd type="none" w="med" len="med"/>
                      <a:tailEnd type="none" w="med" len="med"/>
                    </a:lnB>
                    <a:solidFill>
                      <a:srgbClr val="FFFFFF"/>
                    </a:solidFill>
                  </a:tcPr>
                </a:tc>
                <a:tc>
                  <a:txBody>
                    <a:bodyPr/>
                    <a:lstStyle/>
                    <a:p>
                      <a:pPr algn="l" fontAlgn="t">
                        <a:buFont typeface="Arial"/>
                        <a:buChar char="•"/>
                      </a:pPr>
                      <a:r>
                        <a:rPr lang="en-IN" sz="2400" dirty="0"/>
                        <a:t>The</a:t>
                      </a:r>
                      <a:r>
                        <a:rPr lang="en-IN" sz="2400" u="none" strike="noStrike" dirty="0">
                          <a:solidFill>
                            <a:srgbClr val="04B8E6"/>
                          </a:solidFill>
                          <a:hlinkClick r:id="rId2"/>
                        </a:rPr>
                        <a:t> Test Case </a:t>
                      </a:r>
                      <a:r>
                        <a:rPr lang="en-IN" sz="2400" dirty="0"/>
                        <a:t>execution falls below the goal set, we need to investigate the reason and suggest the improvement measures</a:t>
                      </a:r>
                    </a:p>
                  </a:txBody>
                  <a:tcPr marL="39843" marR="39843" marT="39843" marB="39843">
                    <a:lnL w="12700" cap="flat" cmpd="sng" algn="ctr">
                      <a:solidFill>
                        <a:srgbClr val="70D6FB"/>
                      </a:solidFill>
                      <a:prstDash val="solid"/>
                      <a:round/>
                      <a:headEnd type="none" w="med" len="med"/>
                      <a:tailEnd type="none" w="med" len="med"/>
                    </a:lnL>
                    <a:lnR w="12700" cap="flat" cmpd="sng" algn="ctr">
                      <a:solidFill>
                        <a:srgbClr val="40D6FB"/>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60D6FB"/>
                      </a:solidFill>
                      <a:prstDash val="solid"/>
                      <a:round/>
                      <a:headEnd type="none" w="med" len="med"/>
                      <a:tailEnd type="none" w="med" len="med"/>
                    </a:lnB>
                    <a:solidFill>
                      <a:srgbClr val="FFFFFF"/>
                    </a:solidFill>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699643520"/>
              </p:ext>
            </p:extLst>
          </p:nvPr>
        </p:nvGraphicFramePr>
        <p:xfrm>
          <a:off x="0" y="692696"/>
          <a:ext cx="9144000" cy="5577272"/>
        </p:xfrm>
        <a:graphic>
          <a:graphicData uri="http://schemas.openxmlformats.org/drawingml/2006/table">
            <a:tbl>
              <a:tblPr/>
              <a:tblGrid>
                <a:gridCol w="2857488"/>
                <a:gridCol w="6286512"/>
              </a:tblGrid>
              <a:tr h="319640">
                <a:tc>
                  <a:txBody>
                    <a:bodyPr/>
                    <a:lstStyle/>
                    <a:p>
                      <a:pPr algn="ctr" fontAlgn="t"/>
                      <a:r>
                        <a:rPr lang="en-IN" sz="2800" b="0" dirty="0">
                          <a:latin typeface="Times New Roman" pitchFamily="18" charset="0"/>
                          <a:cs typeface="Times New Roman" pitchFamily="18" charset="0"/>
                        </a:rPr>
                        <a:t>Different stages of Metrics life cycle</a:t>
                      </a:r>
                    </a:p>
                  </a:txBody>
                  <a:tcPr marL="57079" marR="57079" marT="57079" marB="57079">
                    <a:lnL w="9525" cap="flat" cmpd="sng" algn="ctr">
                      <a:solidFill>
                        <a:srgbClr val="D06B8A"/>
                      </a:solidFill>
                      <a:prstDash val="solid"/>
                      <a:round/>
                      <a:headEnd type="none" w="med" len="med"/>
                      <a:tailEnd type="none" w="med" len="med"/>
                    </a:lnL>
                    <a:lnR w="9525" cap="flat" cmpd="sng" algn="ctr">
                      <a:solidFill>
                        <a:srgbClr val="D06B8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ctr" fontAlgn="t"/>
                      <a:r>
                        <a:rPr lang="en-IN" sz="2800" b="0" dirty="0">
                          <a:latin typeface="Times New Roman" pitchFamily="18" charset="0"/>
                          <a:cs typeface="Times New Roman" pitchFamily="18" charset="0"/>
                        </a:rPr>
                        <a:t>Steps during each stage</a:t>
                      </a:r>
                    </a:p>
                  </a:txBody>
                  <a:tcPr marL="57079" marR="57079" marT="57079" marB="57079">
                    <a:lnL w="9525" cap="flat" cmpd="sng" algn="ctr">
                      <a:solidFill>
                        <a:srgbClr val="D06B8A"/>
                      </a:solidFill>
                      <a:prstDash val="solid"/>
                      <a:round/>
                      <a:headEnd type="none" w="med" len="med"/>
                      <a:tailEnd type="none" w="med" len="med"/>
                    </a:lnL>
                    <a:lnR w="12700" cap="flat" cmpd="sng" algn="ctr">
                      <a:solidFill>
                        <a:srgbClr val="E00292"/>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r>
              <a:tr h="525124">
                <a:tc>
                  <a:txBody>
                    <a:bodyPr/>
                    <a:lstStyle/>
                    <a:p>
                      <a:pPr algn="l" fontAlgn="t">
                        <a:buFont typeface="Arial"/>
                        <a:buChar char="•"/>
                      </a:pPr>
                      <a:r>
                        <a:rPr lang="en-IN" sz="2800" b="0" dirty="0">
                          <a:latin typeface="Times New Roman" pitchFamily="18" charset="0"/>
                          <a:cs typeface="Times New Roman" pitchFamily="18" charset="0"/>
                        </a:rPr>
                        <a:t>Analysis</a:t>
                      </a:r>
                    </a:p>
                  </a:txBody>
                  <a:tcPr marL="57079" marR="57079" marT="57079" marB="57079">
                    <a:lnL w="12700" cap="flat" cmpd="sng" algn="ctr">
                      <a:solidFill>
                        <a:srgbClr val="F00892"/>
                      </a:solidFill>
                      <a:prstDash val="solid"/>
                      <a:round/>
                      <a:headEnd type="none" w="med" len="med"/>
                      <a:tailEnd type="none" w="med" len="med"/>
                    </a:lnL>
                    <a:lnR w="12700" cap="flat" cmpd="sng" algn="ctr">
                      <a:solidFill>
                        <a:srgbClr val="300C92"/>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buFont typeface="Arial"/>
                        <a:buChar char="•"/>
                      </a:pPr>
                      <a:r>
                        <a:rPr lang="en-IN" sz="2800" b="0" dirty="0">
                          <a:latin typeface="Times New Roman" pitchFamily="18" charset="0"/>
                          <a:cs typeface="Times New Roman" pitchFamily="18" charset="0"/>
                        </a:rPr>
                        <a:t>Identification of the Metrics</a:t>
                      </a:r>
                    </a:p>
                    <a:p>
                      <a:pPr algn="l" fontAlgn="t">
                        <a:buFont typeface="Arial"/>
                        <a:buChar char="•"/>
                      </a:pPr>
                      <a:r>
                        <a:rPr lang="en-IN" sz="2800" b="0" dirty="0">
                          <a:latin typeface="Times New Roman" pitchFamily="18" charset="0"/>
                          <a:cs typeface="Times New Roman" pitchFamily="18" charset="0"/>
                        </a:rPr>
                        <a:t>Define the identified Metrics</a:t>
                      </a:r>
                    </a:p>
                  </a:txBody>
                  <a:tcPr marL="57079" marR="57079" marT="57079" marB="57079">
                    <a:lnL w="12700" cap="flat" cmpd="sng" algn="ctr">
                      <a:solidFill>
                        <a:srgbClr val="300C92"/>
                      </a:solidFill>
                      <a:prstDash val="solid"/>
                      <a:round/>
                      <a:headEnd type="none" w="med" len="med"/>
                      <a:tailEnd type="none" w="med" len="med"/>
                    </a:lnL>
                    <a:lnR w="12700" cap="flat" cmpd="sng" algn="ctr">
                      <a:solidFill>
                        <a:srgbClr val="B00C92"/>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1141573">
                <a:tc>
                  <a:txBody>
                    <a:bodyPr/>
                    <a:lstStyle/>
                    <a:p>
                      <a:pPr algn="l" fontAlgn="t">
                        <a:buFont typeface="Arial"/>
                        <a:buChar char="•"/>
                      </a:pPr>
                      <a:r>
                        <a:rPr lang="en-IN" sz="2800" b="0" dirty="0">
                          <a:latin typeface="Times New Roman" pitchFamily="18" charset="0"/>
                          <a:cs typeface="Times New Roman" pitchFamily="18" charset="0"/>
                        </a:rPr>
                        <a:t>Communicate</a:t>
                      </a:r>
                    </a:p>
                  </a:txBody>
                  <a:tcPr marL="57079" marR="57079" marT="57079" marB="57079">
                    <a:lnL w="12700" cap="flat" cmpd="sng" algn="ctr">
                      <a:solidFill>
                        <a:srgbClr val="D04292"/>
                      </a:solidFill>
                      <a:prstDash val="solid"/>
                      <a:round/>
                      <a:headEnd type="none" w="med" len="med"/>
                      <a:tailEnd type="none" w="med" len="med"/>
                    </a:lnL>
                    <a:lnR w="12700" cap="flat" cmpd="sng" algn="ctr">
                      <a:solidFill>
                        <a:srgbClr val="700292"/>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buFont typeface="Arial"/>
                        <a:buChar char="•"/>
                      </a:pPr>
                      <a:r>
                        <a:rPr lang="en-IN" sz="2800" b="0" dirty="0">
                          <a:latin typeface="Times New Roman" pitchFamily="18" charset="0"/>
                          <a:cs typeface="Times New Roman" pitchFamily="18" charset="0"/>
                        </a:rPr>
                        <a:t>Explain the need for metric to stakeholder and testing team</a:t>
                      </a:r>
                    </a:p>
                    <a:p>
                      <a:pPr algn="l" fontAlgn="t">
                        <a:buFont typeface="Arial"/>
                        <a:buChar char="•"/>
                      </a:pPr>
                      <a:r>
                        <a:rPr lang="en-IN" sz="2800" b="0" dirty="0">
                          <a:latin typeface="Times New Roman" pitchFamily="18" charset="0"/>
                          <a:cs typeface="Times New Roman" pitchFamily="18" charset="0"/>
                        </a:rPr>
                        <a:t>Educate the testing team about the data points need to be captured for processing the metric</a:t>
                      </a:r>
                    </a:p>
                  </a:txBody>
                  <a:tcPr marL="57079" marR="57079" marT="57079" marB="57079">
                    <a:lnL w="12700" cap="flat" cmpd="sng" algn="ctr">
                      <a:solidFill>
                        <a:srgbClr val="700292"/>
                      </a:solidFill>
                      <a:prstDash val="solid"/>
                      <a:round/>
                      <a:headEnd type="none" w="med" len="med"/>
                      <a:tailEnd type="none" w="med" len="med"/>
                    </a:lnL>
                    <a:lnR w="12700" cap="flat" cmpd="sng" algn="ctr">
                      <a:solidFill>
                        <a:srgbClr val="904392"/>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730607">
                <a:tc>
                  <a:txBody>
                    <a:bodyPr/>
                    <a:lstStyle/>
                    <a:p>
                      <a:pPr algn="l" fontAlgn="t">
                        <a:buFont typeface="Arial"/>
                        <a:buChar char="•"/>
                      </a:pPr>
                      <a:r>
                        <a:rPr lang="en-IN" sz="2800" b="0">
                          <a:latin typeface="Times New Roman" pitchFamily="18" charset="0"/>
                          <a:cs typeface="Times New Roman" pitchFamily="18" charset="0"/>
                        </a:rPr>
                        <a:t>Evaluation</a:t>
                      </a:r>
                    </a:p>
                  </a:txBody>
                  <a:tcPr marL="57079" marR="57079" marT="57079" marB="57079">
                    <a:lnL w="12700" cap="flat" cmpd="sng" algn="ctr">
                      <a:solidFill>
                        <a:srgbClr val="B00592"/>
                      </a:solidFill>
                      <a:prstDash val="solid"/>
                      <a:round/>
                      <a:headEnd type="none" w="med" len="med"/>
                      <a:tailEnd type="none" w="med" len="med"/>
                    </a:lnL>
                    <a:lnR w="12700" cap="flat" cmpd="sng" algn="ctr">
                      <a:solidFill>
                        <a:srgbClr val="900792"/>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buFont typeface="Arial"/>
                        <a:buChar char="•"/>
                      </a:pPr>
                      <a:r>
                        <a:rPr lang="en-IN" sz="2800" b="0" dirty="0">
                          <a:latin typeface="Times New Roman" pitchFamily="18" charset="0"/>
                          <a:cs typeface="Times New Roman" pitchFamily="18" charset="0"/>
                        </a:rPr>
                        <a:t>Capture and verify the data</a:t>
                      </a:r>
                    </a:p>
                    <a:p>
                      <a:pPr algn="l" fontAlgn="t">
                        <a:buFont typeface="Arial"/>
                        <a:buChar char="•"/>
                      </a:pPr>
                      <a:r>
                        <a:rPr lang="en-IN" sz="2800" b="0" dirty="0">
                          <a:latin typeface="Times New Roman" pitchFamily="18" charset="0"/>
                          <a:cs typeface="Times New Roman" pitchFamily="18" charset="0"/>
                        </a:rPr>
                        <a:t>Calculating the metrics value using the data captured</a:t>
                      </a:r>
                    </a:p>
                  </a:txBody>
                  <a:tcPr marL="57079" marR="57079" marT="57079" marB="57079">
                    <a:lnL w="12700" cap="flat" cmpd="sng" algn="ctr">
                      <a:solidFill>
                        <a:srgbClr val="900792"/>
                      </a:solidFill>
                      <a:prstDash val="solid"/>
                      <a:round/>
                      <a:headEnd type="none" w="med" len="med"/>
                      <a:tailEnd type="none" w="med" len="med"/>
                    </a:lnL>
                    <a:lnR w="12700" cap="flat" cmpd="sng" algn="ctr">
                      <a:solidFill>
                        <a:srgbClr val="400692"/>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
        <p:nvSpPr>
          <p:cNvPr id="4097" name="Rectangle 1"/>
          <p:cNvSpPr>
            <a:spLocks noChangeArrowheads="1"/>
          </p:cNvSpPr>
          <p:nvPr/>
        </p:nvSpPr>
        <p:spPr bwMode="auto">
          <a:xfrm>
            <a:off x="2000232" y="44624"/>
            <a:ext cx="5000628" cy="52322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rgbClr val="343434"/>
                </a:solidFill>
                <a:effectLst/>
                <a:latin typeface="Times New Roman" pitchFamily="18" charset="0"/>
                <a:cs typeface="Times New Roman" pitchFamily="18" charset="0"/>
              </a:rPr>
              <a:t>Test Metrics Life Cycle</a:t>
            </a:r>
            <a:endParaRPr kumimoji="0" lang="en-US" sz="32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IN" smtClean="0"/>
              <a:t>Prof. Anjana Verma</a:t>
            </a:r>
            <a:endParaRPr lang="en-IN"/>
          </a:p>
        </p:txBody>
      </p:sp>
      <p:sp>
        <p:nvSpPr>
          <p:cNvPr id="6" name="Slide Number Placeholder 5"/>
          <p:cNvSpPr>
            <a:spLocks noGrp="1"/>
          </p:cNvSpPr>
          <p:nvPr>
            <p:ph type="sldNum" sz="quarter" idx="12"/>
          </p:nvPr>
        </p:nvSpPr>
        <p:spPr/>
        <p:txBody>
          <a:bodyPr/>
          <a:lstStyle/>
          <a:p>
            <a:fld id="{49549E9F-9F6E-4CAF-8BBD-34C43FD5C9E9}" type="slidenum">
              <a:rPr lang="en-IN" smtClean="0"/>
              <a:pPr/>
              <a:t>50</a:t>
            </a:fld>
            <a:endParaRPr lang="en-IN"/>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smtClean="0"/>
              <a:t>Prof. Anjana Verma</a:t>
            </a:r>
            <a:endParaRPr lang="en-IN"/>
          </a:p>
        </p:txBody>
      </p:sp>
      <p:sp>
        <p:nvSpPr>
          <p:cNvPr id="3" name="Slide Number Placeholder 2"/>
          <p:cNvSpPr>
            <a:spLocks noGrp="1"/>
          </p:cNvSpPr>
          <p:nvPr>
            <p:ph type="sldNum" sz="quarter" idx="12"/>
          </p:nvPr>
        </p:nvSpPr>
        <p:spPr/>
        <p:txBody>
          <a:bodyPr/>
          <a:lstStyle/>
          <a:p>
            <a:fld id="{49549E9F-9F6E-4CAF-8BBD-34C43FD5C9E9}" type="slidenum">
              <a:rPr lang="en-IN" smtClean="0"/>
              <a:pPr/>
              <a:t>51</a:t>
            </a:fld>
            <a:endParaRPr lang="en-IN"/>
          </a:p>
        </p:txBody>
      </p:sp>
      <p:graphicFrame>
        <p:nvGraphicFramePr>
          <p:cNvPr id="4" name="Table 3"/>
          <p:cNvGraphicFramePr>
            <a:graphicFrameLocks noGrp="1"/>
          </p:cNvGraphicFramePr>
          <p:nvPr>
            <p:extLst>
              <p:ext uri="{D42A27DB-BD31-4B8C-83A1-F6EECF244321}">
                <p14:modId xmlns:p14="http://schemas.microsoft.com/office/powerpoint/2010/main" val="696145118"/>
              </p:ext>
            </p:extLst>
          </p:nvPr>
        </p:nvGraphicFramePr>
        <p:xfrm>
          <a:off x="72008" y="692696"/>
          <a:ext cx="8964488" cy="2247758"/>
        </p:xfrm>
        <a:graphic>
          <a:graphicData uri="http://schemas.openxmlformats.org/drawingml/2006/table">
            <a:tbl>
              <a:tblPr/>
              <a:tblGrid>
                <a:gridCol w="2801391"/>
                <a:gridCol w="6163097"/>
              </a:tblGrid>
              <a:tr h="1347056">
                <a:tc>
                  <a:txBody>
                    <a:bodyPr/>
                    <a:lstStyle/>
                    <a:p>
                      <a:pPr algn="l" fontAlgn="t">
                        <a:buFont typeface="Arial"/>
                        <a:buChar char="•"/>
                      </a:pPr>
                      <a:r>
                        <a:rPr lang="en-IN" sz="2800" b="0" dirty="0">
                          <a:latin typeface="Times New Roman" pitchFamily="18" charset="0"/>
                          <a:cs typeface="Times New Roman" pitchFamily="18" charset="0"/>
                        </a:rPr>
                        <a:t>Report</a:t>
                      </a:r>
                    </a:p>
                  </a:txBody>
                  <a:tcPr marL="57079" marR="57079" marT="57079" marB="57079">
                    <a:lnL w="12700" cap="flat" cmpd="sng" algn="ctr">
                      <a:solidFill>
                        <a:srgbClr val="904492"/>
                      </a:solidFill>
                      <a:prstDash val="solid"/>
                      <a:round/>
                      <a:headEnd type="none" w="med" len="med"/>
                      <a:tailEnd type="none" w="med" len="med"/>
                    </a:lnL>
                    <a:lnR w="12700" cap="flat" cmpd="sng" algn="ctr">
                      <a:solidFill>
                        <a:srgbClr val="E00192"/>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704492"/>
                      </a:solidFill>
                      <a:prstDash val="solid"/>
                      <a:round/>
                      <a:headEnd type="none" w="med" len="med"/>
                      <a:tailEnd type="none" w="med" len="med"/>
                    </a:lnB>
                    <a:solidFill>
                      <a:srgbClr val="F9F9F9"/>
                    </a:solidFill>
                  </a:tcPr>
                </a:tc>
                <a:tc>
                  <a:txBody>
                    <a:bodyPr/>
                    <a:lstStyle/>
                    <a:p>
                      <a:pPr algn="l" fontAlgn="t">
                        <a:buFont typeface="Arial"/>
                        <a:buChar char="•"/>
                      </a:pPr>
                      <a:r>
                        <a:rPr lang="en-IN" sz="2800" b="0" dirty="0">
                          <a:latin typeface="Times New Roman" pitchFamily="18" charset="0"/>
                          <a:cs typeface="Times New Roman" pitchFamily="18" charset="0"/>
                        </a:rPr>
                        <a:t>Develop the report with effective conclusion</a:t>
                      </a:r>
                    </a:p>
                    <a:p>
                      <a:pPr algn="l" fontAlgn="t">
                        <a:buFont typeface="Arial"/>
                        <a:buChar char="•"/>
                      </a:pPr>
                      <a:r>
                        <a:rPr lang="en-IN" sz="2800" b="0" dirty="0">
                          <a:latin typeface="Times New Roman" pitchFamily="18" charset="0"/>
                          <a:cs typeface="Times New Roman" pitchFamily="18" charset="0"/>
                        </a:rPr>
                        <a:t>Distribute report to the stakeholder and respective representative</a:t>
                      </a:r>
                    </a:p>
                    <a:p>
                      <a:pPr algn="l" fontAlgn="t">
                        <a:buFont typeface="Arial"/>
                        <a:buChar char="•"/>
                      </a:pPr>
                      <a:r>
                        <a:rPr lang="en-IN" sz="2800" b="0" dirty="0">
                          <a:latin typeface="Times New Roman" pitchFamily="18" charset="0"/>
                          <a:cs typeface="Times New Roman" pitchFamily="18" charset="0"/>
                        </a:rPr>
                        <a:t>Take feedback </a:t>
                      </a:r>
                      <a:r>
                        <a:rPr lang="en-IN" sz="2800" b="0">
                          <a:latin typeface="Times New Roman" pitchFamily="18" charset="0"/>
                          <a:cs typeface="Times New Roman" pitchFamily="18" charset="0"/>
                        </a:rPr>
                        <a:t>from </a:t>
                      </a:r>
                      <a:r>
                        <a:rPr lang="en-IN" sz="2800" b="0" smtClean="0">
                          <a:latin typeface="Times New Roman" pitchFamily="18" charset="0"/>
                          <a:cs typeface="Times New Roman" pitchFamily="18" charset="0"/>
                        </a:rPr>
                        <a:t>stakeholder   </a:t>
                      </a:r>
                      <a:endParaRPr lang="en-IN" sz="2800" b="0" dirty="0">
                        <a:latin typeface="Times New Roman" pitchFamily="18" charset="0"/>
                        <a:cs typeface="Times New Roman" pitchFamily="18" charset="0"/>
                      </a:endParaRPr>
                    </a:p>
                  </a:txBody>
                  <a:tcPr marL="57079" marR="57079" marT="57079" marB="57079">
                    <a:lnL w="12700" cap="flat" cmpd="sng" algn="ctr">
                      <a:solidFill>
                        <a:srgbClr val="E00192"/>
                      </a:solidFill>
                      <a:prstDash val="solid"/>
                      <a:round/>
                      <a:headEnd type="none" w="med" len="med"/>
                      <a:tailEnd type="none" w="med" len="med"/>
                    </a:lnL>
                    <a:lnR w="12700" cap="flat" cmpd="sng" algn="ctr">
                      <a:solidFill>
                        <a:srgbClr val="300292"/>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C00192"/>
                      </a:solidFill>
                      <a:prstDash val="solid"/>
                      <a:round/>
                      <a:headEnd type="none" w="med" len="med"/>
                      <a:tailEnd type="none" w="med" len="med"/>
                    </a:lnB>
                    <a:solidFill>
                      <a:srgbClr val="F9F9F9"/>
                    </a:solidFill>
                  </a:tcPr>
                </a:tc>
              </a:tr>
            </a:tbl>
          </a:graphicData>
        </a:graphic>
      </p:graphicFrame>
    </p:spTree>
    <p:extLst>
      <p:ext uri="{BB962C8B-B14F-4D97-AF65-F5344CB8AC3E}">
        <p14:creationId xmlns:p14="http://schemas.microsoft.com/office/powerpoint/2010/main" val="277027266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571480"/>
            <a:ext cx="8640960" cy="4154984"/>
          </a:xfrm>
          <a:prstGeom prst="rect">
            <a:avLst/>
          </a:prstGeom>
        </p:spPr>
        <p:txBody>
          <a:bodyPr wrap="square">
            <a:spAutoFit/>
          </a:bodyPr>
          <a:lstStyle/>
          <a:p>
            <a:pPr algn="ctr"/>
            <a:r>
              <a:rPr lang="en-IN" sz="2800" b="1" dirty="0">
                <a:latin typeface="Times New Roman" pitchFamily="18" charset="0"/>
                <a:cs typeface="Times New Roman" pitchFamily="18" charset="0"/>
              </a:rPr>
              <a:t>How to calculate test metric</a:t>
            </a:r>
          </a:p>
          <a:p>
            <a:pPr algn="just"/>
            <a:endParaRPr lang="en-IN" sz="2800" dirty="0">
              <a:latin typeface="Times New Roman" pitchFamily="18" charset="0"/>
              <a:cs typeface="Times New Roman" pitchFamily="18" charset="0"/>
            </a:endParaRPr>
          </a:p>
          <a:p>
            <a:pPr algn="just"/>
            <a:r>
              <a:rPr lang="en-IN" sz="2800" dirty="0">
                <a:latin typeface="Times New Roman" pitchFamily="18" charset="0"/>
                <a:cs typeface="Times New Roman" pitchFamily="18" charset="0"/>
              </a:rPr>
              <a:t>To obtain the execution status of the test cases in percentage, we use the formula.</a:t>
            </a:r>
          </a:p>
          <a:p>
            <a:pPr algn="just"/>
            <a:endParaRPr lang="en-IN" sz="2800" dirty="0" smtClean="0">
              <a:latin typeface="Times New Roman" pitchFamily="18" charset="0"/>
              <a:cs typeface="Times New Roman" pitchFamily="18" charset="0"/>
            </a:endParaRPr>
          </a:p>
          <a:p>
            <a:pPr algn="just"/>
            <a:r>
              <a:rPr lang="en-IN" sz="3200" dirty="0" smtClean="0">
                <a:latin typeface="Times New Roman" pitchFamily="18" charset="0"/>
                <a:cs typeface="Times New Roman" pitchFamily="18" charset="0"/>
              </a:rPr>
              <a:t>Percentage </a:t>
            </a:r>
            <a:r>
              <a:rPr lang="en-IN" sz="3200" dirty="0">
                <a:latin typeface="Times New Roman" pitchFamily="18" charset="0"/>
                <a:cs typeface="Times New Roman" pitchFamily="18" charset="0"/>
              </a:rPr>
              <a:t>test cases </a:t>
            </a:r>
            <a:r>
              <a:rPr lang="en-IN" sz="3200" dirty="0" smtClean="0">
                <a:latin typeface="Times New Roman" pitchFamily="18" charset="0"/>
                <a:cs typeface="Times New Roman" pitchFamily="18" charset="0"/>
              </a:rPr>
              <a:t>executed </a:t>
            </a:r>
          </a:p>
          <a:p>
            <a:pPr algn="just"/>
            <a:endParaRPr lang="en-IN" sz="3200" dirty="0" smtClean="0">
              <a:latin typeface="Times New Roman" pitchFamily="18" charset="0"/>
              <a:cs typeface="Times New Roman" pitchFamily="18" charset="0"/>
            </a:endParaRPr>
          </a:p>
          <a:p>
            <a:pPr algn="just"/>
            <a:r>
              <a:rPr lang="en-IN" sz="3200" dirty="0" smtClean="0">
                <a:latin typeface="Times New Roman" pitchFamily="18" charset="0"/>
                <a:cs typeface="Times New Roman" pitchFamily="18" charset="0"/>
              </a:rPr>
              <a:t>= </a:t>
            </a:r>
            <a:r>
              <a:rPr lang="en-IN" sz="2800" dirty="0">
                <a:latin typeface="Times New Roman" pitchFamily="18" charset="0"/>
                <a:cs typeface="Times New Roman" pitchFamily="18" charset="0"/>
              </a:rPr>
              <a:t>(No of test cases </a:t>
            </a:r>
            <a:r>
              <a:rPr lang="en-IN" sz="2800" dirty="0" smtClean="0">
                <a:latin typeface="Times New Roman" pitchFamily="18" charset="0"/>
                <a:cs typeface="Times New Roman" pitchFamily="18" charset="0"/>
              </a:rPr>
              <a:t>executed / </a:t>
            </a:r>
            <a:r>
              <a:rPr lang="en-IN" sz="2800" dirty="0">
                <a:latin typeface="Times New Roman" pitchFamily="18" charset="0"/>
                <a:cs typeface="Times New Roman" pitchFamily="18" charset="0"/>
              </a:rPr>
              <a:t>Total no </a:t>
            </a:r>
            <a:r>
              <a:rPr lang="en-IN" sz="2800" dirty="0" smtClean="0">
                <a:latin typeface="Times New Roman" pitchFamily="18" charset="0"/>
                <a:cs typeface="Times New Roman" pitchFamily="18" charset="0"/>
              </a:rPr>
              <a:t>of </a:t>
            </a:r>
            <a:r>
              <a:rPr lang="en-IN" sz="2800" dirty="0">
                <a:latin typeface="Times New Roman" pitchFamily="18" charset="0"/>
                <a:cs typeface="Times New Roman" pitchFamily="18" charset="0"/>
              </a:rPr>
              <a:t>test cases written) </a:t>
            </a:r>
            <a:r>
              <a:rPr lang="en-IN" sz="2800" dirty="0" smtClean="0">
                <a:latin typeface="Times New Roman" pitchFamily="18" charset="0"/>
                <a:cs typeface="Times New Roman" pitchFamily="18" charset="0"/>
              </a:rPr>
              <a:t>x 100 </a:t>
            </a:r>
            <a:endParaRPr lang="en-IN" sz="2800"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smtClean="0"/>
              <a:t>Prof. Anjana Verma</a:t>
            </a:r>
            <a:endParaRPr lang="en-IN"/>
          </a:p>
        </p:txBody>
      </p:sp>
      <p:sp>
        <p:nvSpPr>
          <p:cNvPr id="4" name="Slide Number Placeholder 3"/>
          <p:cNvSpPr>
            <a:spLocks noGrp="1"/>
          </p:cNvSpPr>
          <p:nvPr>
            <p:ph type="sldNum" sz="quarter" idx="12"/>
          </p:nvPr>
        </p:nvSpPr>
        <p:spPr/>
        <p:txBody>
          <a:bodyPr/>
          <a:lstStyle/>
          <a:p>
            <a:fld id="{49549E9F-9F6E-4CAF-8BBD-34C43FD5C9E9}" type="slidenum">
              <a:rPr lang="en-IN" smtClean="0"/>
              <a:pPr/>
              <a:t>52</a:t>
            </a:fld>
            <a:endParaRPr lang="en-IN"/>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23464</TotalTime>
  <Words>3292</Words>
  <Application>Microsoft Office PowerPoint</Application>
  <PresentationFormat>On-screen Show (4:3)</PresentationFormat>
  <Paragraphs>579</Paragraphs>
  <Slides>52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Courier New</vt:lpstr>
      <vt:lpstr>Times New Roman</vt:lpstr>
      <vt:lpstr>Office Theme</vt:lpstr>
      <vt:lpstr>SAGAR INSTITUTE OF RESEARCH &amp; TECHNOLOGY-EXCELLENCE  Department of Computer Science &amp; Engineering</vt:lpstr>
      <vt:lpstr>UNIT IV  Software Analysis and Testing </vt:lpstr>
      <vt:lpstr>Software Testing</vt:lpstr>
      <vt:lpstr>PowerPoint Presentation</vt:lpstr>
      <vt:lpstr>PowerPoint Presentation</vt:lpstr>
      <vt:lpstr>PowerPoint Presentation</vt:lpstr>
      <vt:lpstr>PowerPoint Presentation</vt:lpstr>
      <vt:lpstr>PowerPoint Presentation</vt:lpstr>
      <vt:lpstr>PowerPoint Presentation</vt:lpstr>
      <vt:lpstr>Formal Technical Review (FTR)</vt:lpstr>
      <vt:lpstr>The FTR Meeting</vt:lpstr>
      <vt:lpstr>FTR Guidelines</vt:lpstr>
      <vt:lpstr>Software Testing Fundamentals , Software Test Process,  </vt:lpstr>
      <vt:lpstr>PowerPoint Presentation</vt:lpstr>
      <vt:lpstr>PowerPoint Presentation</vt:lpstr>
      <vt:lpstr>Fundamental Test Process</vt:lpstr>
      <vt:lpstr>PowerPoint Presentation</vt:lpstr>
      <vt:lpstr>PowerPoint Presentation</vt:lpstr>
      <vt:lpstr>PowerPoint Presentation</vt:lpstr>
      <vt:lpstr>PowerPoint Presentation</vt:lpstr>
      <vt:lpstr>1.Testing Techniques(for Unit Testing)</vt:lpstr>
      <vt:lpstr>White-box Testing </vt:lpstr>
      <vt:lpstr>2. Deriving the Basis Set and Test Cases</vt:lpstr>
      <vt:lpstr>Flow Graph Notation</vt:lpstr>
      <vt:lpstr>Flow Graph Example</vt:lpstr>
      <vt:lpstr>Independent Program Paths</vt:lpstr>
      <vt:lpstr>Cyclomatic Complexity</vt:lpstr>
      <vt:lpstr>A Second Flow Graph Example</vt:lpstr>
      <vt:lpstr>3. TESTING OF LOOP a)Testing of Simple Loops</vt:lpstr>
      <vt:lpstr>PowerPoint Presentation</vt:lpstr>
      <vt:lpstr>Black-box Testing</vt:lpstr>
      <vt:lpstr>Equivalence Partitioning</vt:lpstr>
      <vt:lpstr>Guidelines for Defining Equivalence Classes</vt:lpstr>
      <vt:lpstr>Boundary Value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Anjana;tatic</dc:creator>
  <cp:lastModifiedBy>HP</cp:lastModifiedBy>
  <cp:revision>23</cp:revision>
  <dcterms:created xsi:type="dcterms:W3CDTF">2018-03-11T15:47:50Z</dcterms:created>
  <dcterms:modified xsi:type="dcterms:W3CDTF">2022-05-05T15:34:53Z</dcterms:modified>
</cp:coreProperties>
</file>